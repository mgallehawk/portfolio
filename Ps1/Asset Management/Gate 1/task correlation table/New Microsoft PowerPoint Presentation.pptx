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88" r:id="rId3"/>
    <p:sldId id="314" r:id="rId4"/>
    <p:sldId id="307" r:id="rId5"/>
    <p:sldId id="313" r:id="rId6"/>
    <p:sldId id="308" r:id="rId7"/>
    <p:sldId id="306" r:id="rId8"/>
    <p:sldId id="310" r:id="rId9"/>
    <p:sldId id="309" r:id="rId10"/>
    <p:sldId id="311" r:id="rId11"/>
    <p:sldId id="312" r:id="rId12"/>
    <p:sldId id="29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FE6E80-5816-4C09-89E1-911E3CCCB27D}" v="35" dt="2023-05-17T01:57:55.1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 Id="rId22"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 Gallehawk" userId="93dd6677-ad92-4f4d-8ebe-555150310a93" providerId="ADAL" clId="{DEFE6E80-5816-4C09-89E1-911E3CCCB27D}"/>
    <pc:docChg chg="undo custSel addSld delSld modSld">
      <pc:chgData name="Mat Gallehawk" userId="93dd6677-ad92-4f4d-8ebe-555150310a93" providerId="ADAL" clId="{DEFE6E80-5816-4C09-89E1-911E3CCCB27D}" dt="2023-05-17T03:11:24.934" v="2347" actId="14100"/>
      <pc:docMkLst>
        <pc:docMk/>
      </pc:docMkLst>
      <pc:sldChg chg="add del">
        <pc:chgData name="Mat Gallehawk" userId="93dd6677-ad92-4f4d-8ebe-555150310a93" providerId="ADAL" clId="{DEFE6E80-5816-4C09-89E1-911E3CCCB27D}" dt="2023-05-17T02:01:56.868" v="2274" actId="47"/>
        <pc:sldMkLst>
          <pc:docMk/>
          <pc:sldMk cId="0" sldId="287"/>
        </pc:sldMkLst>
      </pc:sldChg>
      <pc:sldChg chg="modSp add mod">
        <pc:chgData name="Mat Gallehawk" userId="93dd6677-ad92-4f4d-8ebe-555150310a93" providerId="ADAL" clId="{DEFE6E80-5816-4C09-89E1-911E3CCCB27D}" dt="2023-05-17T00:43:24.202" v="75" actId="20577"/>
        <pc:sldMkLst>
          <pc:docMk/>
          <pc:sldMk cId="0" sldId="288"/>
        </pc:sldMkLst>
        <pc:spChg chg="mod">
          <ac:chgData name="Mat Gallehawk" userId="93dd6677-ad92-4f4d-8ebe-555150310a93" providerId="ADAL" clId="{DEFE6E80-5816-4C09-89E1-911E3CCCB27D}" dt="2023-05-17T00:43:24.202" v="75" actId="20577"/>
          <ac:spMkLst>
            <pc:docMk/>
            <pc:sldMk cId="0" sldId="288"/>
            <ac:spMk id="2" creationId="{00000000-0000-0000-0000-000000000000}"/>
          </ac:spMkLst>
        </pc:spChg>
      </pc:sldChg>
      <pc:sldChg chg="add del">
        <pc:chgData name="Mat Gallehawk" userId="93dd6677-ad92-4f4d-8ebe-555150310a93" providerId="ADAL" clId="{DEFE6E80-5816-4C09-89E1-911E3CCCB27D}" dt="2023-05-17T02:01:57.049" v="2275" actId="47"/>
        <pc:sldMkLst>
          <pc:docMk/>
          <pc:sldMk cId="0" sldId="296"/>
        </pc:sldMkLst>
      </pc:sldChg>
      <pc:sldChg chg="add del">
        <pc:chgData name="Mat Gallehawk" userId="93dd6677-ad92-4f4d-8ebe-555150310a93" providerId="ADAL" clId="{DEFE6E80-5816-4C09-89E1-911E3CCCB27D}" dt="2023-05-17T01:52:22.461" v="2239" actId="47"/>
        <pc:sldMkLst>
          <pc:docMk/>
          <pc:sldMk cId="3065177915" sldId="298"/>
        </pc:sldMkLst>
      </pc:sldChg>
      <pc:sldChg chg="add del">
        <pc:chgData name="Mat Gallehawk" userId="93dd6677-ad92-4f4d-8ebe-555150310a93" providerId="ADAL" clId="{DEFE6E80-5816-4C09-89E1-911E3CCCB27D}" dt="2023-05-17T01:52:21.166" v="2238" actId="47"/>
        <pc:sldMkLst>
          <pc:docMk/>
          <pc:sldMk cId="1127433969" sldId="299"/>
        </pc:sldMkLst>
      </pc:sldChg>
      <pc:sldChg chg="add del">
        <pc:chgData name="Mat Gallehawk" userId="93dd6677-ad92-4f4d-8ebe-555150310a93" providerId="ADAL" clId="{DEFE6E80-5816-4C09-89E1-911E3CCCB27D}" dt="2023-05-17T00:44:20.222" v="79" actId="47"/>
        <pc:sldMkLst>
          <pc:docMk/>
          <pc:sldMk cId="1547886378" sldId="300"/>
        </pc:sldMkLst>
      </pc:sldChg>
      <pc:sldChg chg="add del">
        <pc:chgData name="Mat Gallehawk" userId="93dd6677-ad92-4f4d-8ebe-555150310a93" providerId="ADAL" clId="{DEFE6E80-5816-4C09-89E1-911E3CCCB27D}" dt="2023-05-17T00:43:43.252" v="76" actId="47"/>
        <pc:sldMkLst>
          <pc:docMk/>
          <pc:sldMk cId="1168340954" sldId="301"/>
        </pc:sldMkLst>
      </pc:sldChg>
      <pc:sldChg chg="add del">
        <pc:chgData name="Mat Gallehawk" userId="93dd6677-ad92-4f4d-8ebe-555150310a93" providerId="ADAL" clId="{DEFE6E80-5816-4C09-89E1-911E3CCCB27D}" dt="2023-05-17T00:43:49.105" v="77" actId="47"/>
        <pc:sldMkLst>
          <pc:docMk/>
          <pc:sldMk cId="3959686649" sldId="302"/>
        </pc:sldMkLst>
      </pc:sldChg>
      <pc:sldChg chg="add del">
        <pc:chgData name="Mat Gallehawk" userId="93dd6677-ad92-4f4d-8ebe-555150310a93" providerId="ADAL" clId="{DEFE6E80-5816-4C09-89E1-911E3CCCB27D}" dt="2023-05-17T00:43:55.502" v="78" actId="47"/>
        <pc:sldMkLst>
          <pc:docMk/>
          <pc:sldMk cId="3923152245" sldId="303"/>
        </pc:sldMkLst>
      </pc:sldChg>
      <pc:sldChg chg="add del">
        <pc:chgData name="Mat Gallehawk" userId="93dd6677-ad92-4f4d-8ebe-555150310a93" providerId="ADAL" clId="{DEFE6E80-5816-4C09-89E1-911E3CCCB27D}" dt="2023-05-17T00:43:49.105" v="77" actId="47"/>
        <pc:sldMkLst>
          <pc:docMk/>
          <pc:sldMk cId="2717423847" sldId="305"/>
        </pc:sldMkLst>
      </pc:sldChg>
      <pc:sldChg chg="addSp delSp modSp add mod">
        <pc:chgData name="Mat Gallehawk" userId="93dd6677-ad92-4f4d-8ebe-555150310a93" providerId="ADAL" clId="{DEFE6E80-5816-4C09-89E1-911E3CCCB27D}" dt="2023-05-17T03:11:24.934" v="2347" actId="14100"/>
        <pc:sldMkLst>
          <pc:docMk/>
          <pc:sldMk cId="1848934207" sldId="306"/>
        </pc:sldMkLst>
        <pc:spChg chg="del mod">
          <ac:chgData name="Mat Gallehawk" userId="93dd6677-ad92-4f4d-8ebe-555150310a93" providerId="ADAL" clId="{DEFE6E80-5816-4C09-89E1-911E3CCCB27D}" dt="2023-05-17T00:45:40.204" v="103" actId="478"/>
          <ac:spMkLst>
            <pc:docMk/>
            <pc:sldMk cId="1848934207" sldId="306"/>
            <ac:spMk id="2" creationId="{C4A9B6BB-8D1C-FADB-3CE1-13049044FECD}"/>
          </ac:spMkLst>
        </pc:spChg>
        <pc:spChg chg="add del mod">
          <ac:chgData name="Mat Gallehawk" userId="93dd6677-ad92-4f4d-8ebe-555150310a93" providerId="ADAL" clId="{DEFE6E80-5816-4C09-89E1-911E3CCCB27D}" dt="2023-05-17T00:45:46.711" v="105" actId="478"/>
          <ac:spMkLst>
            <pc:docMk/>
            <pc:sldMk cId="1848934207" sldId="306"/>
            <ac:spMk id="4" creationId="{28D98329-3525-31F1-32D0-253EAF754AB6}"/>
          </ac:spMkLst>
        </pc:spChg>
        <pc:spChg chg="mod">
          <ac:chgData name="Mat Gallehawk" userId="93dd6677-ad92-4f4d-8ebe-555150310a93" providerId="ADAL" clId="{DEFE6E80-5816-4C09-89E1-911E3CCCB27D}" dt="2023-05-17T03:02:17.685" v="2335" actId="14100"/>
          <ac:spMkLst>
            <pc:docMk/>
            <pc:sldMk cId="1848934207" sldId="306"/>
            <ac:spMk id="17" creationId="{5E4BC54A-3411-16C6-6E73-49AACA3537BF}"/>
          </ac:spMkLst>
        </pc:spChg>
        <pc:spChg chg="mod">
          <ac:chgData name="Mat Gallehawk" userId="93dd6677-ad92-4f4d-8ebe-555150310a93" providerId="ADAL" clId="{DEFE6E80-5816-4C09-89E1-911E3CCCB27D}" dt="2023-05-17T03:02:15.164" v="2334" actId="14100"/>
          <ac:spMkLst>
            <pc:docMk/>
            <pc:sldMk cId="1848934207" sldId="306"/>
            <ac:spMk id="18" creationId="{D9593D28-E73D-1025-797A-E23104191876}"/>
          </ac:spMkLst>
        </pc:spChg>
        <pc:spChg chg="mod">
          <ac:chgData name="Mat Gallehawk" userId="93dd6677-ad92-4f4d-8ebe-555150310a93" providerId="ADAL" clId="{DEFE6E80-5816-4C09-89E1-911E3CCCB27D}" dt="2023-05-17T03:11:24.934" v="2347" actId="14100"/>
          <ac:spMkLst>
            <pc:docMk/>
            <pc:sldMk cId="1848934207" sldId="306"/>
            <ac:spMk id="19" creationId="{04037CCD-C843-A0DE-288D-95067385FA82}"/>
          </ac:spMkLst>
        </pc:spChg>
        <pc:spChg chg="mod">
          <ac:chgData name="Mat Gallehawk" userId="93dd6677-ad92-4f4d-8ebe-555150310a93" providerId="ADAL" clId="{DEFE6E80-5816-4C09-89E1-911E3CCCB27D}" dt="2023-05-17T03:02:59.501" v="2342" actId="14100"/>
          <ac:spMkLst>
            <pc:docMk/>
            <pc:sldMk cId="1848934207" sldId="306"/>
            <ac:spMk id="20" creationId="{BBF6417A-B193-9E67-37B8-A56C98A08F88}"/>
          </ac:spMkLst>
        </pc:spChg>
        <pc:graphicFrameChg chg="mod">
          <ac:chgData name="Mat Gallehawk" userId="93dd6677-ad92-4f4d-8ebe-555150310a93" providerId="ADAL" clId="{DEFE6E80-5816-4C09-89E1-911E3CCCB27D}" dt="2023-05-17T02:51:39.295" v="2284" actId="1076"/>
          <ac:graphicFrameMkLst>
            <pc:docMk/>
            <pc:sldMk cId="1848934207" sldId="306"/>
            <ac:graphicFrameMk id="5" creationId="{1E4AF28A-175E-1E08-E442-4459C3591FE7}"/>
          </ac:graphicFrameMkLst>
        </pc:graphicFrameChg>
        <pc:graphicFrameChg chg="mod">
          <ac:chgData name="Mat Gallehawk" userId="93dd6677-ad92-4f4d-8ebe-555150310a93" providerId="ADAL" clId="{DEFE6E80-5816-4C09-89E1-911E3CCCB27D}" dt="2023-05-17T02:51:43.580" v="2285" actId="1076"/>
          <ac:graphicFrameMkLst>
            <pc:docMk/>
            <pc:sldMk cId="1848934207" sldId="306"/>
            <ac:graphicFrameMk id="11" creationId="{254AF10D-AFFE-A541-2C14-2D7A7185ED57}"/>
          </ac:graphicFrameMkLst>
        </pc:graphicFrameChg>
        <pc:graphicFrameChg chg="mod">
          <ac:chgData name="Mat Gallehawk" userId="93dd6677-ad92-4f4d-8ebe-555150310a93" providerId="ADAL" clId="{DEFE6E80-5816-4C09-89E1-911E3CCCB27D}" dt="2023-05-17T03:02:26.417" v="2336" actId="1076"/>
          <ac:graphicFrameMkLst>
            <pc:docMk/>
            <pc:sldMk cId="1848934207" sldId="306"/>
            <ac:graphicFrameMk id="13" creationId="{7180A945-44A9-9BE4-1F1A-D0E4E4487B73}"/>
          </ac:graphicFrameMkLst>
        </pc:graphicFrameChg>
        <pc:graphicFrameChg chg="mod">
          <ac:chgData name="Mat Gallehawk" userId="93dd6677-ad92-4f4d-8ebe-555150310a93" providerId="ADAL" clId="{DEFE6E80-5816-4C09-89E1-911E3CCCB27D}" dt="2023-05-17T03:02:53.522" v="2340" actId="1076"/>
          <ac:graphicFrameMkLst>
            <pc:docMk/>
            <pc:sldMk cId="1848934207" sldId="306"/>
            <ac:graphicFrameMk id="15" creationId="{6E039EB7-2774-1AC2-7A5D-379389ABA848}"/>
          </ac:graphicFrameMkLst>
        </pc:graphicFrameChg>
        <pc:graphicFrameChg chg="mod modGraphic">
          <ac:chgData name="Mat Gallehawk" userId="93dd6677-ad92-4f4d-8ebe-555150310a93" providerId="ADAL" clId="{DEFE6E80-5816-4C09-89E1-911E3CCCB27D}" dt="2023-05-17T03:02:48.269" v="2339" actId="14100"/>
          <ac:graphicFrameMkLst>
            <pc:docMk/>
            <pc:sldMk cId="1848934207" sldId="306"/>
            <ac:graphicFrameMk id="16" creationId="{77F26825-4F0C-BBCE-60FA-A033540D0A6B}"/>
          </ac:graphicFrameMkLst>
        </pc:graphicFrameChg>
      </pc:sldChg>
      <pc:sldChg chg="addSp delSp modSp add mod">
        <pc:chgData name="Mat Gallehawk" userId="93dd6677-ad92-4f4d-8ebe-555150310a93" providerId="ADAL" clId="{DEFE6E80-5816-4C09-89E1-911E3CCCB27D}" dt="2023-05-17T00:50:48.461" v="174" actId="20577"/>
        <pc:sldMkLst>
          <pc:docMk/>
          <pc:sldMk cId="1864291358" sldId="307"/>
        </pc:sldMkLst>
        <pc:spChg chg="del">
          <ac:chgData name="Mat Gallehawk" userId="93dd6677-ad92-4f4d-8ebe-555150310a93" providerId="ADAL" clId="{DEFE6E80-5816-4C09-89E1-911E3CCCB27D}" dt="2023-05-17T00:44:27.152" v="80" actId="478"/>
          <ac:spMkLst>
            <pc:docMk/>
            <pc:sldMk cId="1864291358" sldId="307"/>
            <ac:spMk id="2" creationId="{3F3656BC-D39B-5EA6-5B9F-BBA3A5B9BC40}"/>
          </ac:spMkLst>
        </pc:spChg>
        <pc:spChg chg="del mod">
          <ac:chgData name="Mat Gallehawk" userId="93dd6677-ad92-4f4d-8ebe-555150310a93" providerId="ADAL" clId="{DEFE6E80-5816-4C09-89E1-911E3CCCB27D}" dt="2023-05-17T00:48:05.662" v="129" actId="478"/>
          <ac:spMkLst>
            <pc:docMk/>
            <pc:sldMk cId="1864291358" sldId="307"/>
            <ac:spMk id="4" creationId="{0F0BA36A-BA33-8942-0DE3-92FFEC601D9B}"/>
          </ac:spMkLst>
        </pc:spChg>
        <pc:spChg chg="add mod">
          <ac:chgData name="Mat Gallehawk" userId="93dd6677-ad92-4f4d-8ebe-555150310a93" providerId="ADAL" clId="{DEFE6E80-5816-4C09-89E1-911E3CCCB27D}" dt="2023-05-17T00:47:44.983" v="127" actId="20577"/>
          <ac:spMkLst>
            <pc:docMk/>
            <pc:sldMk cId="1864291358" sldId="307"/>
            <ac:spMk id="5" creationId="{D772D659-59C3-5C3C-B9DB-9105C3708E9E}"/>
          </ac:spMkLst>
        </pc:spChg>
        <pc:graphicFrameChg chg="mod modGraphic">
          <ac:chgData name="Mat Gallehawk" userId="93dd6677-ad92-4f4d-8ebe-555150310a93" providerId="ADAL" clId="{DEFE6E80-5816-4C09-89E1-911E3CCCB27D}" dt="2023-05-17T00:50:48.461" v="174" actId="20577"/>
          <ac:graphicFrameMkLst>
            <pc:docMk/>
            <pc:sldMk cId="1864291358" sldId="307"/>
            <ac:graphicFrameMk id="6" creationId="{4FE08517-C0A5-0F2E-3C31-45311EA025BD}"/>
          </ac:graphicFrameMkLst>
        </pc:graphicFrameChg>
      </pc:sldChg>
      <pc:sldChg chg="modSp add mod">
        <pc:chgData name="Mat Gallehawk" userId="93dd6677-ad92-4f4d-8ebe-555150310a93" providerId="ADAL" clId="{DEFE6E80-5816-4C09-89E1-911E3CCCB27D}" dt="2023-05-17T00:44:41.219" v="89" actId="20577"/>
        <pc:sldMkLst>
          <pc:docMk/>
          <pc:sldMk cId="3392318596" sldId="308"/>
        </pc:sldMkLst>
        <pc:spChg chg="mod">
          <ac:chgData name="Mat Gallehawk" userId="93dd6677-ad92-4f4d-8ebe-555150310a93" providerId="ADAL" clId="{DEFE6E80-5816-4C09-89E1-911E3CCCB27D}" dt="2023-05-17T00:44:41.219" v="89" actId="20577"/>
          <ac:spMkLst>
            <pc:docMk/>
            <pc:sldMk cId="3392318596" sldId="308"/>
            <ac:spMk id="2" creationId="{E8E4C27A-6732-40CA-A266-9CE2586D5CB2}"/>
          </ac:spMkLst>
        </pc:spChg>
      </pc:sldChg>
      <pc:sldChg chg="modSp add mod">
        <pc:chgData name="Mat Gallehawk" userId="93dd6677-ad92-4f4d-8ebe-555150310a93" providerId="ADAL" clId="{DEFE6E80-5816-4C09-89E1-911E3CCCB27D}" dt="2023-05-17T00:48:50.804" v="139" actId="14100"/>
        <pc:sldMkLst>
          <pc:docMk/>
          <pc:sldMk cId="4142188576" sldId="309"/>
        </pc:sldMkLst>
        <pc:spChg chg="mod">
          <ac:chgData name="Mat Gallehawk" userId="93dd6677-ad92-4f4d-8ebe-555150310a93" providerId="ADAL" clId="{DEFE6E80-5816-4C09-89E1-911E3CCCB27D}" dt="2023-05-17T00:48:43.409" v="137" actId="1076"/>
          <ac:spMkLst>
            <pc:docMk/>
            <pc:sldMk cId="4142188576" sldId="309"/>
            <ac:spMk id="3" creationId="{C4AB7070-1AB2-189D-9056-23A83CB6C1AD}"/>
          </ac:spMkLst>
        </pc:spChg>
        <pc:graphicFrameChg chg="mod modGraphic">
          <ac:chgData name="Mat Gallehawk" userId="93dd6677-ad92-4f4d-8ebe-555150310a93" providerId="ADAL" clId="{DEFE6E80-5816-4C09-89E1-911E3CCCB27D}" dt="2023-05-17T00:48:50.804" v="139" actId="14100"/>
          <ac:graphicFrameMkLst>
            <pc:docMk/>
            <pc:sldMk cId="4142188576" sldId="309"/>
            <ac:graphicFrameMk id="4" creationId="{29666C4F-9C00-D7B0-A007-CA414DB1D327}"/>
          </ac:graphicFrameMkLst>
        </pc:graphicFrameChg>
      </pc:sldChg>
      <pc:sldChg chg="modSp add mod">
        <pc:chgData name="Mat Gallehawk" userId="93dd6677-ad92-4f4d-8ebe-555150310a93" providerId="ADAL" clId="{DEFE6E80-5816-4C09-89E1-911E3CCCB27D}" dt="2023-05-17T01:55:39.074" v="2251" actId="20577"/>
        <pc:sldMkLst>
          <pc:docMk/>
          <pc:sldMk cId="1384024646" sldId="310"/>
        </pc:sldMkLst>
        <pc:spChg chg="mod">
          <ac:chgData name="Mat Gallehawk" userId="93dd6677-ad92-4f4d-8ebe-555150310a93" providerId="ADAL" clId="{DEFE6E80-5816-4C09-89E1-911E3CCCB27D}" dt="2023-05-17T01:55:39.074" v="2251" actId="20577"/>
          <ac:spMkLst>
            <pc:docMk/>
            <pc:sldMk cId="1384024646" sldId="310"/>
            <ac:spMk id="2" creationId="{128963CC-9BE5-5588-DC9B-EF06C170F8D2}"/>
          </ac:spMkLst>
        </pc:spChg>
        <pc:spChg chg="mod">
          <ac:chgData name="Mat Gallehawk" userId="93dd6677-ad92-4f4d-8ebe-555150310a93" providerId="ADAL" clId="{DEFE6E80-5816-4C09-89E1-911E3CCCB27D}" dt="2023-05-17T01:55:12.446" v="2245" actId="14100"/>
          <ac:spMkLst>
            <pc:docMk/>
            <pc:sldMk cId="1384024646" sldId="310"/>
            <ac:spMk id="3" creationId="{D9DEF05F-B563-912F-981E-5FE7127B601E}"/>
          </ac:spMkLst>
        </pc:spChg>
        <pc:spChg chg="mod">
          <ac:chgData name="Mat Gallehawk" userId="93dd6677-ad92-4f4d-8ebe-555150310a93" providerId="ADAL" clId="{DEFE6E80-5816-4C09-89E1-911E3CCCB27D}" dt="2023-05-17T01:55:15.707" v="2246" actId="14100"/>
          <ac:spMkLst>
            <pc:docMk/>
            <pc:sldMk cId="1384024646" sldId="310"/>
            <ac:spMk id="5" creationId="{9FAD8926-9A85-D9AE-4A7E-4DEDC22EE4F2}"/>
          </ac:spMkLst>
        </pc:spChg>
        <pc:spChg chg="mod">
          <ac:chgData name="Mat Gallehawk" userId="93dd6677-ad92-4f4d-8ebe-555150310a93" providerId="ADAL" clId="{DEFE6E80-5816-4C09-89E1-911E3CCCB27D}" dt="2023-05-17T01:55:32.603" v="2249" actId="1076"/>
          <ac:spMkLst>
            <pc:docMk/>
            <pc:sldMk cId="1384024646" sldId="310"/>
            <ac:spMk id="6" creationId="{F9F86251-57D1-D117-6BEA-03E38E9C0F0A}"/>
          </ac:spMkLst>
        </pc:spChg>
        <pc:spChg chg="mod">
          <ac:chgData name="Mat Gallehawk" userId="93dd6677-ad92-4f4d-8ebe-555150310a93" providerId="ADAL" clId="{DEFE6E80-5816-4C09-89E1-911E3CCCB27D}" dt="2023-05-17T01:55:24.036" v="2248" actId="14100"/>
          <ac:spMkLst>
            <pc:docMk/>
            <pc:sldMk cId="1384024646" sldId="310"/>
            <ac:spMk id="7" creationId="{3DAFFBA2-A75A-DCDF-0364-7D2D078BA1E4}"/>
          </ac:spMkLst>
        </pc:spChg>
      </pc:sldChg>
      <pc:sldChg chg="modSp add mod">
        <pc:chgData name="Mat Gallehawk" userId="93dd6677-ad92-4f4d-8ebe-555150310a93" providerId="ADAL" clId="{DEFE6E80-5816-4C09-89E1-911E3CCCB27D}" dt="2023-05-17T01:58:09.380" v="2263" actId="403"/>
        <pc:sldMkLst>
          <pc:docMk/>
          <pc:sldMk cId="1242019225" sldId="311"/>
        </pc:sldMkLst>
        <pc:spChg chg="mod">
          <ac:chgData name="Mat Gallehawk" userId="93dd6677-ad92-4f4d-8ebe-555150310a93" providerId="ADAL" clId="{DEFE6E80-5816-4C09-89E1-911E3CCCB27D}" dt="2023-05-17T01:57:27.362" v="2253" actId="14100"/>
          <ac:spMkLst>
            <pc:docMk/>
            <pc:sldMk cId="1242019225" sldId="311"/>
            <ac:spMk id="5" creationId="{BE6DA456-DAA5-432A-524E-8B8CE8AFCAC0}"/>
          </ac:spMkLst>
        </pc:spChg>
        <pc:spChg chg="mod">
          <ac:chgData name="Mat Gallehawk" userId="93dd6677-ad92-4f4d-8ebe-555150310a93" providerId="ADAL" clId="{DEFE6E80-5816-4C09-89E1-911E3CCCB27D}" dt="2023-05-17T01:57:55.147" v="2259" actId="14100"/>
          <ac:spMkLst>
            <pc:docMk/>
            <pc:sldMk cId="1242019225" sldId="311"/>
            <ac:spMk id="6" creationId="{7BB18AD0-0F6E-AA0B-E22C-84D74B024669}"/>
          </ac:spMkLst>
        </pc:spChg>
        <pc:spChg chg="mod">
          <ac:chgData name="Mat Gallehawk" userId="93dd6677-ad92-4f4d-8ebe-555150310a93" providerId="ADAL" clId="{DEFE6E80-5816-4C09-89E1-911E3CCCB27D}" dt="2023-05-17T01:58:09.380" v="2263" actId="403"/>
          <ac:spMkLst>
            <pc:docMk/>
            <pc:sldMk cId="1242019225" sldId="311"/>
            <ac:spMk id="7" creationId="{B21543B8-84DB-AE40-B346-D717B42FE3E9}"/>
          </ac:spMkLst>
        </pc:spChg>
        <pc:spChg chg="mod">
          <ac:chgData name="Mat Gallehawk" userId="93dd6677-ad92-4f4d-8ebe-555150310a93" providerId="ADAL" clId="{DEFE6E80-5816-4C09-89E1-911E3CCCB27D}" dt="2023-05-17T01:57:35.133" v="2255" actId="14100"/>
          <ac:spMkLst>
            <pc:docMk/>
            <pc:sldMk cId="1242019225" sldId="311"/>
            <ac:spMk id="8" creationId="{55D8D426-58FB-68B1-1763-78E20C4BE54A}"/>
          </ac:spMkLst>
        </pc:spChg>
      </pc:sldChg>
      <pc:sldChg chg="modSp add mod">
        <pc:chgData name="Mat Gallehawk" userId="93dd6677-ad92-4f4d-8ebe-555150310a93" providerId="ADAL" clId="{DEFE6E80-5816-4C09-89E1-911E3CCCB27D}" dt="2023-05-17T01:58:50.195" v="2267" actId="14100"/>
        <pc:sldMkLst>
          <pc:docMk/>
          <pc:sldMk cId="370698930" sldId="312"/>
        </pc:sldMkLst>
        <pc:spChg chg="mod">
          <ac:chgData name="Mat Gallehawk" userId="93dd6677-ad92-4f4d-8ebe-555150310a93" providerId="ADAL" clId="{DEFE6E80-5816-4C09-89E1-911E3CCCB27D}" dt="2023-05-17T01:58:50.195" v="2267" actId="14100"/>
          <ac:spMkLst>
            <pc:docMk/>
            <pc:sldMk cId="370698930" sldId="312"/>
            <ac:spMk id="3" creationId="{58457B51-0A58-E25C-A23C-00DE1A76594B}"/>
          </ac:spMkLst>
        </pc:spChg>
      </pc:sldChg>
      <pc:sldChg chg="modSp add mod">
        <pc:chgData name="Mat Gallehawk" userId="93dd6677-ad92-4f4d-8ebe-555150310a93" providerId="ADAL" clId="{DEFE6E80-5816-4C09-89E1-911E3CCCB27D}" dt="2023-05-17T02:02:49.649" v="2282" actId="20577"/>
        <pc:sldMkLst>
          <pc:docMk/>
          <pc:sldMk cId="4087234301" sldId="313"/>
        </pc:sldMkLst>
        <pc:spChg chg="mod">
          <ac:chgData name="Mat Gallehawk" userId="93dd6677-ad92-4f4d-8ebe-555150310a93" providerId="ADAL" clId="{DEFE6E80-5816-4C09-89E1-911E3CCCB27D}" dt="2023-05-17T00:52:13.473" v="253" actId="20577"/>
          <ac:spMkLst>
            <pc:docMk/>
            <pc:sldMk cId="4087234301" sldId="313"/>
            <ac:spMk id="5" creationId="{D772D659-59C3-5C3C-B9DB-9105C3708E9E}"/>
          </ac:spMkLst>
        </pc:spChg>
        <pc:graphicFrameChg chg="mod modGraphic">
          <ac:chgData name="Mat Gallehawk" userId="93dd6677-ad92-4f4d-8ebe-555150310a93" providerId="ADAL" clId="{DEFE6E80-5816-4C09-89E1-911E3CCCB27D}" dt="2023-05-17T02:02:49.649" v="2282" actId="20577"/>
          <ac:graphicFrameMkLst>
            <pc:docMk/>
            <pc:sldMk cId="4087234301" sldId="313"/>
            <ac:graphicFrameMk id="6" creationId="{4FE08517-C0A5-0F2E-3C31-45311EA025BD}"/>
          </ac:graphicFrameMkLst>
        </pc:graphicFrameChg>
      </pc:sldChg>
      <pc:sldChg chg="addSp delSp modSp new mod">
        <pc:chgData name="Mat Gallehawk" userId="93dd6677-ad92-4f4d-8ebe-555150310a93" providerId="ADAL" clId="{DEFE6E80-5816-4C09-89E1-911E3CCCB27D}" dt="2023-05-17T01:52:26.435" v="2240" actId="1076"/>
        <pc:sldMkLst>
          <pc:docMk/>
          <pc:sldMk cId="1801712762" sldId="314"/>
        </pc:sldMkLst>
        <pc:spChg chg="del">
          <ac:chgData name="Mat Gallehawk" userId="93dd6677-ad92-4f4d-8ebe-555150310a93" providerId="ADAL" clId="{DEFE6E80-5816-4C09-89E1-911E3CCCB27D}" dt="2023-05-17T01:49:19.569" v="2206" actId="478"/>
          <ac:spMkLst>
            <pc:docMk/>
            <pc:sldMk cId="1801712762" sldId="314"/>
            <ac:spMk id="2" creationId="{F9BB7B62-F05F-0D53-569D-FE1F9036D875}"/>
          </ac:spMkLst>
        </pc:spChg>
        <pc:spChg chg="del">
          <ac:chgData name="Mat Gallehawk" userId="93dd6677-ad92-4f4d-8ebe-555150310a93" providerId="ADAL" clId="{DEFE6E80-5816-4C09-89E1-911E3CCCB27D}" dt="2023-05-17T01:49:22.483" v="2207" actId="478"/>
          <ac:spMkLst>
            <pc:docMk/>
            <pc:sldMk cId="1801712762" sldId="314"/>
            <ac:spMk id="3" creationId="{79150966-72A1-95C1-29AE-9D6F9319393A}"/>
          </ac:spMkLst>
        </pc:spChg>
        <pc:spChg chg="add mod">
          <ac:chgData name="Mat Gallehawk" userId="93dd6677-ad92-4f4d-8ebe-555150310a93" providerId="ADAL" clId="{DEFE6E80-5816-4C09-89E1-911E3CCCB27D}" dt="2023-05-17T01:51:40.720" v="2234" actId="1076"/>
          <ac:spMkLst>
            <pc:docMk/>
            <pc:sldMk cId="1801712762" sldId="314"/>
            <ac:spMk id="4" creationId="{E0F7A84C-E280-4BA2-BE34-2422141B0297}"/>
          </ac:spMkLst>
        </pc:spChg>
        <pc:spChg chg="add mod">
          <ac:chgData name="Mat Gallehawk" userId="93dd6677-ad92-4f4d-8ebe-555150310a93" providerId="ADAL" clId="{DEFE6E80-5816-4C09-89E1-911E3CCCB27D}" dt="2023-05-17T01:51:44.407" v="2235" actId="14100"/>
          <ac:spMkLst>
            <pc:docMk/>
            <pc:sldMk cId="1801712762" sldId="314"/>
            <ac:spMk id="5" creationId="{1B733C02-5AC8-FB69-7D49-1BE17FCA59E0}"/>
          </ac:spMkLst>
        </pc:spChg>
        <pc:spChg chg="add mod">
          <ac:chgData name="Mat Gallehawk" userId="93dd6677-ad92-4f4d-8ebe-555150310a93" providerId="ADAL" clId="{DEFE6E80-5816-4C09-89E1-911E3CCCB27D}" dt="2023-05-17T01:51:08.894" v="2230" actId="14100"/>
          <ac:spMkLst>
            <pc:docMk/>
            <pc:sldMk cId="1801712762" sldId="314"/>
            <ac:spMk id="6" creationId="{D52AD268-228F-B723-E059-3E06AF123EFD}"/>
          </ac:spMkLst>
        </pc:spChg>
        <pc:spChg chg="add mod">
          <ac:chgData name="Mat Gallehawk" userId="93dd6677-ad92-4f4d-8ebe-555150310a93" providerId="ADAL" clId="{DEFE6E80-5816-4C09-89E1-911E3CCCB27D}" dt="2023-05-17T01:51:56.981" v="2236" actId="108"/>
          <ac:spMkLst>
            <pc:docMk/>
            <pc:sldMk cId="1801712762" sldId="314"/>
            <ac:spMk id="7" creationId="{000D1524-FB74-8483-5236-24AFFF7218E1}"/>
          </ac:spMkLst>
        </pc:spChg>
        <pc:spChg chg="add mod">
          <ac:chgData name="Mat Gallehawk" userId="93dd6677-ad92-4f4d-8ebe-555150310a93" providerId="ADAL" clId="{DEFE6E80-5816-4C09-89E1-911E3CCCB27D}" dt="2023-05-17T01:52:26.435" v="2240" actId="1076"/>
          <ac:spMkLst>
            <pc:docMk/>
            <pc:sldMk cId="1801712762" sldId="314"/>
            <ac:spMk id="8" creationId="{592F97AC-047A-2219-7FF2-A947C5F0C85D}"/>
          </ac:spMkLst>
        </pc:spChg>
        <pc:spChg chg="add mod">
          <ac:chgData name="Mat Gallehawk" userId="93dd6677-ad92-4f4d-8ebe-555150310a93" providerId="ADAL" clId="{DEFE6E80-5816-4C09-89E1-911E3CCCB27D}" dt="2023-05-17T01:52:03.914" v="2237" actId="108"/>
          <ac:spMkLst>
            <pc:docMk/>
            <pc:sldMk cId="1801712762" sldId="314"/>
            <ac:spMk id="9" creationId="{5395A017-E014-06E7-4127-67455B4C5F97}"/>
          </ac:spMkLst>
        </pc:spChg>
        <pc:spChg chg="add mod">
          <ac:chgData name="Mat Gallehawk" userId="93dd6677-ad92-4f4d-8ebe-555150310a93" providerId="ADAL" clId="{DEFE6E80-5816-4C09-89E1-911E3CCCB27D}" dt="2023-05-17T01:50:56.203" v="2227" actId="14100"/>
          <ac:spMkLst>
            <pc:docMk/>
            <pc:sldMk cId="1801712762" sldId="314"/>
            <ac:spMk id="10" creationId="{51DCD71B-04DB-B113-F1B1-DDE06A8BB439}"/>
          </ac:spMkLst>
        </pc:spChg>
        <pc:spChg chg="add mod">
          <ac:chgData name="Mat Gallehawk" userId="93dd6677-ad92-4f4d-8ebe-555150310a93" providerId="ADAL" clId="{DEFE6E80-5816-4C09-89E1-911E3CCCB27D}" dt="2023-05-17T01:51:13.951" v="2231" actId="14100"/>
          <ac:spMkLst>
            <pc:docMk/>
            <pc:sldMk cId="1801712762" sldId="314"/>
            <ac:spMk id="11" creationId="{78A8FA93-3362-73AC-89BE-3C1D10618678}"/>
          </ac:spMkLst>
        </pc:spChg>
      </pc:sldChg>
      <pc:sldMasterChg chg="addSldLayout delSldLayout">
        <pc:chgData name="Mat Gallehawk" userId="93dd6677-ad92-4f4d-8ebe-555150310a93" providerId="ADAL" clId="{DEFE6E80-5816-4C09-89E1-911E3CCCB27D}" dt="2023-05-17T02:01:56.868" v="2274" actId="47"/>
        <pc:sldMasterMkLst>
          <pc:docMk/>
          <pc:sldMasterMk cId="473984898" sldId="2147483648"/>
        </pc:sldMasterMkLst>
        <pc:sldLayoutChg chg="add del">
          <pc:chgData name="Mat Gallehawk" userId="93dd6677-ad92-4f4d-8ebe-555150310a93" providerId="ADAL" clId="{DEFE6E80-5816-4C09-89E1-911E3CCCB27D}" dt="2023-05-17T02:01:56.868" v="2274" actId="47"/>
          <pc:sldLayoutMkLst>
            <pc:docMk/>
            <pc:sldMasterMk cId="473984898" sldId="2147483648"/>
            <pc:sldLayoutMk cId="217849583" sldId="2147483649"/>
          </pc:sldLayoutMkLst>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Waiting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849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52800" y="3702378"/>
            <a:ext cx="9144000" cy="610422"/>
          </a:xfrm>
        </p:spPr>
        <p:txBody>
          <a:bodyPr anchor="b">
            <a:normAutofit/>
          </a:bodyPr>
          <a:lstStyle>
            <a:lvl1pPr algn="l">
              <a:defRPr sz="4000"/>
            </a:lvl1pPr>
          </a:lstStyle>
          <a:p>
            <a:r>
              <a:rPr lang="en-US"/>
              <a:t>Click to edit Master title style</a:t>
            </a:r>
            <a:endParaRPr lang="en-US" dirty="0"/>
          </a:p>
        </p:txBody>
      </p:sp>
      <p:sp>
        <p:nvSpPr>
          <p:cNvPr id="3" name="Subtitle 2"/>
          <p:cNvSpPr>
            <a:spLocks noGrp="1"/>
          </p:cNvSpPr>
          <p:nvPr>
            <p:ph type="subTitle" idx="1"/>
          </p:nvPr>
        </p:nvSpPr>
        <p:spPr>
          <a:xfrm>
            <a:off x="1552800" y="5424836"/>
            <a:ext cx="9144000" cy="39876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defTabSz="449263">
              <a:buClr>
                <a:srgbClr val="000000"/>
              </a:buClr>
              <a:buSzPct val="100000"/>
              <a:buFont typeface="Times New Roman" pitchFamily="16" charset="0"/>
              <a:buNone/>
              <a:defRPr/>
            </a:lvl1pPr>
          </a:lstStyle>
          <a:p>
            <a:pPr>
              <a:defRPr/>
            </a:pPr>
            <a:fld id="{90D6ED98-98A9-431F-A354-964E57644AAB}" type="datetimeFigureOut">
              <a:rPr lang="en-AU"/>
              <a:pPr>
                <a:defRPr/>
              </a:pPr>
              <a:t>17/05/2023</a:t>
            </a:fld>
            <a:endParaRPr lang="en-AU" dirty="0"/>
          </a:p>
        </p:txBody>
      </p:sp>
    </p:spTree>
    <p:extLst>
      <p:ext uri="{BB962C8B-B14F-4D97-AF65-F5344CB8AC3E}">
        <p14:creationId xmlns:p14="http://schemas.microsoft.com/office/powerpoint/2010/main" val="2445395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1587"/>
          </a:xfrm>
        </p:spPr>
        <p:txBody>
          <a:bodyPr/>
          <a:lstStyle>
            <a:lvl1pPr>
              <a:defRPr sz="2400" b="1">
                <a:latin typeface="+mj-lt"/>
                <a:cs typeface="DINOT-Bold" panose="020B0804020101020102"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838200" y="980729"/>
            <a:ext cx="10515600" cy="5196235"/>
          </a:xfrm>
        </p:spPr>
        <p:txBody>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699251" y="6542089"/>
            <a:ext cx="1932516" cy="160337"/>
          </a:xfrm>
        </p:spPr>
        <p:txBody>
          <a:bodyPr/>
          <a:lstStyle>
            <a:lvl1pPr defTabSz="449263">
              <a:buClr>
                <a:srgbClr val="000000"/>
              </a:buClr>
              <a:buSzPct val="100000"/>
              <a:buFont typeface="Times New Roman" pitchFamily="16" charset="0"/>
              <a:buNone/>
              <a:defRPr/>
            </a:lvl1pPr>
          </a:lstStyle>
          <a:p>
            <a:pPr>
              <a:defRPr/>
            </a:pPr>
            <a:fld id="{7D784D61-7083-48BD-845D-71EFBFC88A37}" type="datetimeFigureOut">
              <a:rPr lang="en-AU"/>
              <a:pPr>
                <a:defRPr/>
              </a:pPr>
              <a:t>17/05/2023</a:t>
            </a:fld>
            <a:endParaRPr lang="en-AU" dirty="0"/>
          </a:p>
        </p:txBody>
      </p:sp>
      <p:sp>
        <p:nvSpPr>
          <p:cNvPr id="5" name="Slide Number Placeholder 5"/>
          <p:cNvSpPr>
            <a:spLocks noGrp="1"/>
          </p:cNvSpPr>
          <p:nvPr>
            <p:ph type="sldNum" sz="quarter" idx="11"/>
          </p:nvPr>
        </p:nvSpPr>
        <p:spPr>
          <a:xfrm>
            <a:off x="8790518" y="6542089"/>
            <a:ext cx="1229783" cy="160337"/>
          </a:xfrm>
        </p:spPr>
        <p:txBody>
          <a:bodyPr/>
          <a:lstStyle>
            <a:lvl1pPr defTabSz="449263">
              <a:buClr>
                <a:srgbClr val="000000"/>
              </a:buClr>
              <a:buSzPct val="100000"/>
              <a:buFont typeface="Times New Roman" pitchFamily="16" charset="0"/>
              <a:buNone/>
              <a:defRPr/>
            </a:lvl1pPr>
          </a:lstStyle>
          <a:p>
            <a:pPr>
              <a:defRPr/>
            </a:pPr>
            <a:r>
              <a:rPr lang="en-AU" dirty="0"/>
              <a:t>Slide </a:t>
            </a:r>
            <a:fld id="{C855FA6A-73C9-40CD-8885-046E95F4DBEE}" type="slidenum">
              <a:rPr lang="en-AU"/>
              <a:pPr>
                <a:defRPr/>
              </a:pPr>
              <a:t>‹#›</a:t>
            </a:fld>
            <a:endParaRPr lang="en-AU" dirty="0"/>
          </a:p>
        </p:txBody>
      </p:sp>
    </p:spTree>
    <p:extLst>
      <p:ext uri="{BB962C8B-B14F-4D97-AF65-F5344CB8AC3E}">
        <p14:creationId xmlns:p14="http://schemas.microsoft.com/office/powerpoint/2010/main" val="5218382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984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eaLnBrk="1" hangingPunct="1">
              <a:defRPr/>
            </a:pPr>
            <a:r>
              <a:rPr lang="en-US" dirty="0"/>
              <a:t>Intune Snow asset Import </a:t>
            </a:r>
            <a:endParaRPr lang="en-AU" dirty="0"/>
          </a:p>
        </p:txBody>
      </p:sp>
      <p:sp>
        <p:nvSpPr>
          <p:cNvPr id="3" name="Title 1">
            <a:extLst>
              <a:ext uri="{FF2B5EF4-FFF2-40B4-BE49-F238E27FC236}">
                <a16:creationId xmlns:a16="http://schemas.microsoft.com/office/drawing/2014/main" id="{0831C0C8-2ADE-EA0E-B5A1-5ADF9370AA70}"/>
              </a:ext>
            </a:extLst>
          </p:cNvPr>
          <p:cNvSpPr txBox="1">
            <a:spLocks/>
          </p:cNvSpPr>
          <p:nvPr/>
        </p:nvSpPr>
        <p:spPr bwMode="auto">
          <a:xfrm>
            <a:off x="2688600" y="4343720"/>
            <a:ext cx="6858000" cy="610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rmAutofit fontScale="97500"/>
          </a:bodyPr>
          <a:lstStyle>
            <a:lvl1pPr algn="l" rtl="0" eaLnBrk="1" fontAlgn="base" hangingPunct="1">
              <a:lnSpc>
                <a:spcPct val="90000"/>
              </a:lnSpc>
              <a:spcBef>
                <a:spcPct val="0"/>
              </a:spcBef>
              <a:spcAft>
                <a:spcPct val="0"/>
              </a:spcAft>
              <a:defRPr sz="40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a:lstStyle>
          <a:p>
            <a:pPr>
              <a:defRPr/>
            </a:pPr>
            <a:r>
              <a:rPr lang="en-AU" sz="1800" dirty="0"/>
              <a:t>By Mathew Gallehawk</a:t>
            </a:r>
          </a:p>
          <a:p>
            <a:pPr>
              <a:defRPr/>
            </a:pPr>
            <a:r>
              <a:rPr lang="en-AU" sz="1800" dirty="0"/>
              <a:t>For: Darren Daly, Bruce Absolom, Joel Porgand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0F7A84C-E280-4BA2-BE34-2422141B0297}"/>
              </a:ext>
            </a:extLst>
          </p:cNvPr>
          <p:cNvSpPr>
            <a:spLocks noGrp="1"/>
          </p:cNvSpPr>
          <p:nvPr>
            <p:ph type="title"/>
          </p:nvPr>
        </p:nvSpPr>
        <p:spPr>
          <a:xfrm>
            <a:off x="838200" y="325166"/>
            <a:ext cx="4905375" cy="471587"/>
          </a:xfrm>
        </p:spPr>
        <p:txBody>
          <a:bodyPr/>
          <a:lstStyle/>
          <a:p>
            <a:r>
              <a:rPr lang="en-AU" sz="1800" dirty="0"/>
              <a:t>Business Problem</a:t>
            </a:r>
          </a:p>
        </p:txBody>
      </p:sp>
      <p:sp>
        <p:nvSpPr>
          <p:cNvPr id="5" name="Content Placeholder 2">
            <a:extLst>
              <a:ext uri="{FF2B5EF4-FFF2-40B4-BE49-F238E27FC236}">
                <a16:creationId xmlns:a16="http://schemas.microsoft.com/office/drawing/2014/main" id="{1B733C02-5AC8-FB69-7D49-1BE17FCA59E0}"/>
              </a:ext>
            </a:extLst>
          </p:cNvPr>
          <p:cNvSpPr>
            <a:spLocks noGrp="1"/>
          </p:cNvSpPr>
          <p:nvPr>
            <p:ph idx="1"/>
          </p:nvPr>
        </p:nvSpPr>
        <p:spPr>
          <a:xfrm>
            <a:off x="838200" y="1076048"/>
            <a:ext cx="4905374" cy="3981728"/>
          </a:xfrm>
        </p:spPr>
        <p:txBody>
          <a:bodyPr/>
          <a:lstStyle/>
          <a:p>
            <a:pPr marL="0" indent="0">
              <a:buNone/>
            </a:pPr>
            <a:r>
              <a:rPr lang="en-AU" sz="1400" dirty="0"/>
              <a:t>ServiceNow (SNOW) Hardware Asset Management (HAM) is our source of truth for asset management for G.James ICT department.</a:t>
            </a:r>
          </a:p>
          <a:p>
            <a:pPr marL="0" indent="0">
              <a:buNone/>
            </a:pPr>
            <a:r>
              <a:rPr lang="en-AU" sz="1400" dirty="0"/>
              <a:t>Asset Management and reporting is hindered by inconsistencies caused by:</a:t>
            </a:r>
          </a:p>
          <a:p>
            <a:r>
              <a:rPr lang="en-AU" sz="1200" dirty="0"/>
              <a:t>Multiple Asset Management systems used within G.James.</a:t>
            </a:r>
          </a:p>
          <a:p>
            <a:r>
              <a:rPr lang="en-AU" sz="1200" dirty="0"/>
              <a:t>Shipping devices straight to customers.</a:t>
            </a:r>
          </a:p>
          <a:p>
            <a:r>
              <a:rPr lang="en-AU" sz="1200" dirty="0"/>
              <a:t>Assets being moved between customers within the branch without Service Desk knowledge.</a:t>
            </a:r>
          </a:p>
          <a:p>
            <a:r>
              <a:rPr lang="en-AU" sz="1200" dirty="0"/>
              <a:t>Retired, missing, duplicate or obsolete assets being present within SNOW HAM.</a:t>
            </a:r>
          </a:p>
          <a:p>
            <a:r>
              <a:rPr lang="en-AU" sz="1200" dirty="0"/>
              <a:t>Duplicate devices present from the migration to Intune.</a:t>
            </a:r>
          </a:p>
          <a:p>
            <a:endParaRPr lang="en-AU" sz="1600" dirty="0"/>
          </a:p>
          <a:p>
            <a:endParaRPr lang="en-AU" sz="1600" dirty="0"/>
          </a:p>
        </p:txBody>
      </p:sp>
      <p:sp>
        <p:nvSpPr>
          <p:cNvPr id="6" name="Title 1">
            <a:extLst>
              <a:ext uri="{FF2B5EF4-FFF2-40B4-BE49-F238E27FC236}">
                <a16:creationId xmlns:a16="http://schemas.microsoft.com/office/drawing/2014/main" id="{D52AD268-228F-B723-E059-3E06AF123EFD}"/>
              </a:ext>
            </a:extLst>
          </p:cNvPr>
          <p:cNvSpPr txBox="1">
            <a:spLocks/>
          </p:cNvSpPr>
          <p:nvPr/>
        </p:nvSpPr>
        <p:spPr>
          <a:xfrm>
            <a:off x="6095999" y="325166"/>
            <a:ext cx="5873025" cy="471587"/>
          </a:xfrm>
        </p:spPr>
        <p:txBody>
          <a:bodyPr/>
          <a:lstStyle>
            <a:lvl1pPr algn="l" defTabSz="914400" rtl="0" eaLnBrk="1" latinLnBrk="0" hangingPunct="1">
              <a:lnSpc>
                <a:spcPct val="90000"/>
              </a:lnSpc>
              <a:spcBef>
                <a:spcPct val="0"/>
              </a:spcBef>
              <a:buNone/>
              <a:defRPr sz="2400" b="1" kern="1200">
                <a:solidFill>
                  <a:schemeClr val="tx1"/>
                </a:solidFill>
                <a:latin typeface="+mj-lt"/>
                <a:ea typeface="+mj-ea"/>
                <a:cs typeface="DINOT-Bold" panose="020B0804020101020102" pitchFamily="34" charset="0"/>
              </a:defRPr>
            </a:lvl1pPr>
          </a:lstStyle>
          <a:p>
            <a:r>
              <a:rPr lang="en-AU" sz="1800" dirty="0"/>
              <a:t>Proposed Solution</a:t>
            </a:r>
          </a:p>
        </p:txBody>
      </p:sp>
      <p:sp>
        <p:nvSpPr>
          <p:cNvPr id="7" name="Content Placeholder 2">
            <a:extLst>
              <a:ext uri="{FF2B5EF4-FFF2-40B4-BE49-F238E27FC236}">
                <a16:creationId xmlns:a16="http://schemas.microsoft.com/office/drawing/2014/main" id="{000D1524-FB74-8483-5236-24AFFF7218E1}"/>
              </a:ext>
            </a:extLst>
          </p:cNvPr>
          <p:cNvSpPr txBox="1">
            <a:spLocks/>
          </p:cNvSpPr>
          <p:nvPr/>
        </p:nvSpPr>
        <p:spPr>
          <a:xfrm>
            <a:off x="6096000" y="1076047"/>
            <a:ext cx="5873025" cy="543602"/>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dirty="0"/>
              <a:t>Create a system that exports a log of each of the asset management systems, resolves the fields, and uploads the amended asset list to SNOW HAM.</a:t>
            </a:r>
          </a:p>
        </p:txBody>
      </p:sp>
      <p:sp>
        <p:nvSpPr>
          <p:cNvPr id="8" name="Title 1">
            <a:extLst>
              <a:ext uri="{FF2B5EF4-FFF2-40B4-BE49-F238E27FC236}">
                <a16:creationId xmlns:a16="http://schemas.microsoft.com/office/drawing/2014/main" id="{592F97AC-047A-2219-7FF2-A947C5F0C85D}"/>
              </a:ext>
            </a:extLst>
          </p:cNvPr>
          <p:cNvSpPr txBox="1">
            <a:spLocks/>
          </p:cNvSpPr>
          <p:nvPr/>
        </p:nvSpPr>
        <p:spPr bwMode="auto">
          <a:xfrm>
            <a:off x="6095999" y="1619649"/>
            <a:ext cx="5873025" cy="4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lnSpc>
                <a:spcPct val="90000"/>
              </a:lnSpc>
              <a:spcBef>
                <a:spcPct val="0"/>
              </a:spcBef>
              <a:spcAft>
                <a:spcPct val="0"/>
              </a:spcAft>
              <a:defRPr sz="2400" b="1" kern="1200">
                <a:solidFill>
                  <a:schemeClr val="tx1"/>
                </a:solidFill>
                <a:latin typeface="+mj-lt"/>
                <a:ea typeface="+mj-ea"/>
                <a:cs typeface="DINOT-Bold" panose="020B0804020101020102" pitchFamily="34" charset="0"/>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a:lstStyle>
          <a:p>
            <a:r>
              <a:rPr lang="en-AU" sz="1800" dirty="0"/>
              <a:t>Desired Outcome of Project</a:t>
            </a:r>
          </a:p>
        </p:txBody>
      </p:sp>
      <p:sp>
        <p:nvSpPr>
          <p:cNvPr id="9" name="Content Placeholder 2">
            <a:extLst>
              <a:ext uri="{FF2B5EF4-FFF2-40B4-BE49-F238E27FC236}">
                <a16:creationId xmlns:a16="http://schemas.microsoft.com/office/drawing/2014/main" id="{5395A017-E014-06E7-4127-67455B4C5F97}"/>
              </a:ext>
            </a:extLst>
          </p:cNvPr>
          <p:cNvSpPr txBox="1">
            <a:spLocks/>
          </p:cNvSpPr>
          <p:nvPr/>
        </p:nvSpPr>
        <p:spPr bwMode="auto">
          <a:xfrm>
            <a:off x="6096001" y="2149087"/>
            <a:ext cx="5876924" cy="144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200" dirty="0"/>
              <a:t>SNOW HAM to accurately reflect the quantity, assignment, and state of hard assets owned and managed by G.James. </a:t>
            </a:r>
          </a:p>
          <a:p>
            <a:r>
              <a:rPr lang="en-AU" sz="1200" dirty="0"/>
              <a:t>ServiceNow (SNOW) Hardware Asset Management system, to be automatically updated from other Asset management Systems utilized by G.James ICT department.</a:t>
            </a:r>
          </a:p>
          <a:p>
            <a:r>
              <a:rPr lang="en-AU" sz="1200" dirty="0"/>
              <a:t>SNOW HAM to Deduplicate devices by serial number or unique key.</a:t>
            </a:r>
          </a:p>
        </p:txBody>
      </p:sp>
      <p:sp>
        <p:nvSpPr>
          <p:cNvPr id="10" name="Title 1">
            <a:extLst>
              <a:ext uri="{FF2B5EF4-FFF2-40B4-BE49-F238E27FC236}">
                <a16:creationId xmlns:a16="http://schemas.microsoft.com/office/drawing/2014/main" id="{51DCD71B-04DB-B113-F1B1-DDE06A8BB439}"/>
              </a:ext>
            </a:extLst>
          </p:cNvPr>
          <p:cNvSpPr txBox="1">
            <a:spLocks/>
          </p:cNvSpPr>
          <p:nvPr/>
        </p:nvSpPr>
        <p:spPr bwMode="auto">
          <a:xfrm>
            <a:off x="6099899" y="3664803"/>
            <a:ext cx="5873025" cy="4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lnSpc>
                <a:spcPct val="90000"/>
              </a:lnSpc>
              <a:spcBef>
                <a:spcPct val="0"/>
              </a:spcBef>
              <a:spcAft>
                <a:spcPct val="0"/>
              </a:spcAft>
              <a:defRPr sz="2400" b="1" kern="1200">
                <a:solidFill>
                  <a:schemeClr val="tx1"/>
                </a:solidFill>
                <a:latin typeface="+mj-lt"/>
                <a:ea typeface="+mj-ea"/>
                <a:cs typeface="DINOT-Bold" panose="020B0804020101020102" pitchFamily="34" charset="0"/>
              </a:defRPr>
            </a:lvl1pPr>
            <a:lvl2pPr algn="l" rtl="0" eaLnBrk="1" fontAlgn="base" hangingPunct="1">
              <a:lnSpc>
                <a:spcPct val="90000"/>
              </a:lnSpc>
              <a:spcBef>
                <a:spcPct val="0"/>
              </a:spcBef>
              <a:spcAft>
                <a:spcPct val="0"/>
              </a:spcAft>
              <a:defRPr sz="4400">
                <a:solidFill>
                  <a:schemeClr val="tx1"/>
                </a:solidFill>
                <a:latin typeface="DINOT" pitchFamily="34" charset="0"/>
              </a:defRPr>
            </a:lvl2pPr>
            <a:lvl3pPr algn="l" rtl="0" eaLnBrk="1" fontAlgn="base" hangingPunct="1">
              <a:lnSpc>
                <a:spcPct val="90000"/>
              </a:lnSpc>
              <a:spcBef>
                <a:spcPct val="0"/>
              </a:spcBef>
              <a:spcAft>
                <a:spcPct val="0"/>
              </a:spcAft>
              <a:defRPr sz="4400">
                <a:solidFill>
                  <a:schemeClr val="tx1"/>
                </a:solidFill>
                <a:latin typeface="DINOT" pitchFamily="34" charset="0"/>
              </a:defRPr>
            </a:lvl3pPr>
            <a:lvl4pPr algn="l" rtl="0" eaLnBrk="1" fontAlgn="base" hangingPunct="1">
              <a:lnSpc>
                <a:spcPct val="90000"/>
              </a:lnSpc>
              <a:spcBef>
                <a:spcPct val="0"/>
              </a:spcBef>
              <a:spcAft>
                <a:spcPct val="0"/>
              </a:spcAft>
              <a:defRPr sz="4400">
                <a:solidFill>
                  <a:schemeClr val="tx1"/>
                </a:solidFill>
                <a:latin typeface="DINOT" pitchFamily="34" charset="0"/>
              </a:defRPr>
            </a:lvl4pPr>
            <a:lvl5pPr algn="l" rtl="0" eaLnBrk="1" fontAlgn="base" hangingPunct="1">
              <a:lnSpc>
                <a:spcPct val="90000"/>
              </a:lnSpc>
              <a:spcBef>
                <a:spcPct val="0"/>
              </a:spcBef>
              <a:spcAft>
                <a:spcPct val="0"/>
              </a:spcAft>
              <a:defRPr sz="4400">
                <a:solidFill>
                  <a:schemeClr val="tx1"/>
                </a:solidFill>
                <a:latin typeface="DINOT" pitchFamily="34" charset="0"/>
              </a:defRPr>
            </a:lvl5pPr>
            <a:lvl6pPr marL="457200" algn="l" rtl="0" eaLnBrk="1" fontAlgn="base" hangingPunct="1">
              <a:lnSpc>
                <a:spcPct val="90000"/>
              </a:lnSpc>
              <a:spcBef>
                <a:spcPct val="0"/>
              </a:spcBef>
              <a:spcAft>
                <a:spcPct val="0"/>
              </a:spcAft>
              <a:defRPr sz="4400">
                <a:solidFill>
                  <a:schemeClr val="tx1"/>
                </a:solidFill>
                <a:latin typeface="DINOT" pitchFamily="34" charset="0"/>
              </a:defRPr>
            </a:lvl6pPr>
            <a:lvl7pPr marL="914400" algn="l" rtl="0" eaLnBrk="1" fontAlgn="base" hangingPunct="1">
              <a:lnSpc>
                <a:spcPct val="90000"/>
              </a:lnSpc>
              <a:spcBef>
                <a:spcPct val="0"/>
              </a:spcBef>
              <a:spcAft>
                <a:spcPct val="0"/>
              </a:spcAft>
              <a:defRPr sz="4400">
                <a:solidFill>
                  <a:schemeClr val="tx1"/>
                </a:solidFill>
                <a:latin typeface="DINOT" pitchFamily="34" charset="0"/>
              </a:defRPr>
            </a:lvl7pPr>
            <a:lvl8pPr marL="1371600" algn="l" rtl="0" eaLnBrk="1" fontAlgn="base" hangingPunct="1">
              <a:lnSpc>
                <a:spcPct val="90000"/>
              </a:lnSpc>
              <a:spcBef>
                <a:spcPct val="0"/>
              </a:spcBef>
              <a:spcAft>
                <a:spcPct val="0"/>
              </a:spcAft>
              <a:defRPr sz="4400">
                <a:solidFill>
                  <a:schemeClr val="tx1"/>
                </a:solidFill>
                <a:latin typeface="DINOT" pitchFamily="34" charset="0"/>
              </a:defRPr>
            </a:lvl8pPr>
            <a:lvl9pPr marL="1828800" algn="l" rtl="0" eaLnBrk="1" fontAlgn="base" hangingPunct="1">
              <a:lnSpc>
                <a:spcPct val="90000"/>
              </a:lnSpc>
              <a:spcBef>
                <a:spcPct val="0"/>
              </a:spcBef>
              <a:spcAft>
                <a:spcPct val="0"/>
              </a:spcAft>
              <a:defRPr sz="4400">
                <a:solidFill>
                  <a:schemeClr val="tx1"/>
                </a:solidFill>
                <a:latin typeface="DINOT" pitchFamily="34" charset="0"/>
              </a:defRPr>
            </a:lvl9pPr>
          </a:lstStyle>
          <a:p>
            <a:r>
              <a:rPr lang="en-AU" sz="1800" dirty="0"/>
              <a:t>Limitations and Considerations</a:t>
            </a:r>
          </a:p>
        </p:txBody>
      </p:sp>
      <p:sp>
        <p:nvSpPr>
          <p:cNvPr id="11" name="Content Placeholder 2">
            <a:extLst>
              <a:ext uri="{FF2B5EF4-FFF2-40B4-BE49-F238E27FC236}">
                <a16:creationId xmlns:a16="http://schemas.microsoft.com/office/drawing/2014/main" id="{78A8FA93-3362-73AC-89BE-3C1D10618678}"/>
              </a:ext>
            </a:extLst>
          </p:cNvPr>
          <p:cNvSpPr txBox="1">
            <a:spLocks/>
          </p:cNvSpPr>
          <p:nvPr/>
        </p:nvSpPr>
        <p:spPr bwMode="auto">
          <a:xfrm>
            <a:off x="6096000" y="4208405"/>
            <a:ext cx="5873024" cy="2055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200" dirty="0"/>
              <a:t>Fields between different asset management systems do not always directly correlate and may require transformation. </a:t>
            </a:r>
            <a:r>
              <a:rPr lang="en-AU" sz="1200" dirty="0" err="1"/>
              <a:t>i.e</a:t>
            </a:r>
            <a:r>
              <a:rPr lang="en-AU" sz="1200" dirty="0"/>
              <a:t> corporate device = G.James… </a:t>
            </a:r>
          </a:p>
          <a:p>
            <a:r>
              <a:rPr lang="en-AU" sz="1200" dirty="0"/>
              <a:t>Dirty Data, some data fields contain bad data. </a:t>
            </a:r>
            <a:r>
              <a:rPr lang="en-AU" sz="1200" dirty="0" err="1"/>
              <a:t>i.e</a:t>
            </a:r>
            <a:r>
              <a:rPr lang="en-AU" sz="1200" dirty="0"/>
              <a:t> Intune phone numbers (restricted by operating systems and ownership.), personal devices enrolled by Intune (phones), and almost all the data in MFM.</a:t>
            </a:r>
          </a:p>
          <a:p>
            <a:r>
              <a:rPr lang="en-AU" sz="1200" dirty="0"/>
              <a:t>G.James SNOW HAM has been customized to support the business, this coupled with financial constraints on the project makes available solutions potentially unfeasible. I.E Microsoft Graph.</a:t>
            </a:r>
          </a:p>
          <a:p>
            <a:endParaRPr lang="en-AU" sz="1200" dirty="0"/>
          </a:p>
        </p:txBody>
      </p:sp>
    </p:spTree>
    <p:extLst>
      <p:ext uri="{BB962C8B-B14F-4D97-AF65-F5344CB8AC3E}">
        <p14:creationId xmlns:p14="http://schemas.microsoft.com/office/powerpoint/2010/main" val="1801712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4FE08517-C0A5-0F2E-3C31-45311EA025BD}"/>
              </a:ext>
            </a:extLst>
          </p:cNvPr>
          <p:cNvGraphicFramePr>
            <a:graphicFrameLocks noGrp="1"/>
          </p:cNvGraphicFramePr>
          <p:nvPr>
            <p:extLst>
              <p:ext uri="{D42A27DB-BD31-4B8C-83A1-F6EECF244321}">
                <p14:modId xmlns:p14="http://schemas.microsoft.com/office/powerpoint/2010/main" val="3823147650"/>
              </p:ext>
            </p:extLst>
          </p:nvPr>
        </p:nvGraphicFramePr>
        <p:xfrm>
          <a:off x="838200" y="980728"/>
          <a:ext cx="10408920" cy="5031450"/>
        </p:xfrm>
        <a:graphic>
          <a:graphicData uri="http://schemas.openxmlformats.org/drawingml/2006/table">
            <a:tbl>
              <a:tblPr firstRow="1" bandRow="1">
                <a:tableStyleId>{5C22544A-7EE6-4342-B048-85BDC9FD1C3A}</a:tableStyleId>
              </a:tblPr>
              <a:tblGrid>
                <a:gridCol w="3469640">
                  <a:extLst>
                    <a:ext uri="{9D8B030D-6E8A-4147-A177-3AD203B41FA5}">
                      <a16:colId xmlns:a16="http://schemas.microsoft.com/office/drawing/2014/main" val="4042081804"/>
                    </a:ext>
                  </a:extLst>
                </a:gridCol>
                <a:gridCol w="3469640">
                  <a:extLst>
                    <a:ext uri="{9D8B030D-6E8A-4147-A177-3AD203B41FA5}">
                      <a16:colId xmlns:a16="http://schemas.microsoft.com/office/drawing/2014/main" val="765832814"/>
                    </a:ext>
                  </a:extLst>
                </a:gridCol>
                <a:gridCol w="3469640">
                  <a:extLst>
                    <a:ext uri="{9D8B030D-6E8A-4147-A177-3AD203B41FA5}">
                      <a16:colId xmlns:a16="http://schemas.microsoft.com/office/drawing/2014/main" val="2528399238"/>
                    </a:ext>
                  </a:extLst>
                </a:gridCol>
              </a:tblGrid>
              <a:tr h="501086">
                <a:tc>
                  <a:txBody>
                    <a:bodyPr/>
                    <a:lstStyle/>
                    <a:p>
                      <a:r>
                        <a:rPr lang="en-AU" sz="1400" dirty="0"/>
                        <a:t>Infrastructure Manager</a:t>
                      </a:r>
                    </a:p>
                  </a:txBody>
                  <a:tcPr/>
                </a:tc>
                <a:tc>
                  <a:txBody>
                    <a:bodyPr/>
                    <a:lstStyle/>
                    <a:p>
                      <a:r>
                        <a:rPr lang="en-AU" sz="1400" dirty="0"/>
                        <a:t>Service Desk Manager</a:t>
                      </a:r>
                    </a:p>
                  </a:txBody>
                  <a:tcPr/>
                </a:tc>
                <a:tc>
                  <a:txBody>
                    <a:bodyPr/>
                    <a:lstStyle/>
                    <a:p>
                      <a:r>
                        <a:rPr lang="en-AU" sz="1400" dirty="0"/>
                        <a:t>Service Desk Staff</a:t>
                      </a:r>
                    </a:p>
                  </a:txBody>
                  <a:tcPr/>
                </a:tc>
                <a:extLst>
                  <a:ext uri="{0D108BD9-81ED-4DB2-BD59-A6C34878D82A}">
                    <a16:rowId xmlns:a16="http://schemas.microsoft.com/office/drawing/2014/main" val="1676866258"/>
                  </a:ext>
                </a:extLst>
              </a:tr>
              <a:tr h="9884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400" dirty="0"/>
                        <a:t>Address “Close enough is good enough” concerning non existent models</a:t>
                      </a:r>
                    </a:p>
                  </a:txBody>
                  <a:tcPr/>
                </a:tc>
                <a:tc>
                  <a:txBody>
                    <a:bodyPr/>
                    <a:lstStyle/>
                    <a:p>
                      <a:r>
                        <a:rPr lang="en-AU" sz="1400" dirty="0"/>
                        <a:t>Address “Close enough is good enough” concerning non existent models</a:t>
                      </a:r>
                    </a:p>
                  </a:txBody>
                  <a:tcPr/>
                </a:tc>
                <a:tc>
                  <a:txBody>
                    <a:bodyPr/>
                    <a:lstStyle/>
                    <a:p>
                      <a:r>
                        <a:rPr lang="en-AU" sz="1400" dirty="0"/>
                        <a:t>Portable</a:t>
                      </a:r>
                    </a:p>
                  </a:txBody>
                  <a:tcPr/>
                </a:tc>
                <a:extLst>
                  <a:ext uri="{0D108BD9-81ED-4DB2-BD59-A6C34878D82A}">
                    <a16:rowId xmlns:a16="http://schemas.microsoft.com/office/drawing/2014/main" val="611270652"/>
                  </a:ext>
                </a:extLst>
              </a:tr>
              <a:tr h="1276739">
                <a:tc>
                  <a:txBody>
                    <a:bodyPr/>
                    <a:lstStyle/>
                    <a:p>
                      <a:r>
                        <a:rPr lang="en-AU" sz="1400" dirty="0"/>
                        <a:t>Update all mandatory fields currently manually entered, for accurate data for reporting.</a:t>
                      </a:r>
                    </a:p>
                  </a:txBody>
                  <a:tcPr/>
                </a:tc>
                <a:tc>
                  <a:txBody>
                    <a:bodyPr/>
                    <a:lstStyle/>
                    <a:p>
                      <a:r>
                        <a:rPr lang="en-AU" sz="1400" dirty="0"/>
                        <a:t>Import all devices including monitors and headsets </a:t>
                      </a:r>
                      <a:r>
                        <a:rPr lang="en-AU" sz="1400" dirty="0" err="1"/>
                        <a:t>ect</a:t>
                      </a:r>
                      <a:r>
                        <a:rPr lang="en-AU" sz="1400" dirty="0"/>
                        <a:t>..</a:t>
                      </a:r>
                    </a:p>
                  </a:txBody>
                  <a:tcPr/>
                </a:tc>
                <a:tc>
                  <a:txBody>
                    <a:bodyPr/>
                    <a:lstStyle/>
                    <a:p>
                      <a:r>
                        <a:rPr lang="en-AU" sz="1400" dirty="0"/>
                        <a:t>Simplistic use for Service Desk member</a:t>
                      </a:r>
                    </a:p>
                  </a:txBody>
                  <a:tcPr/>
                </a:tc>
                <a:extLst>
                  <a:ext uri="{0D108BD9-81ED-4DB2-BD59-A6C34878D82A}">
                    <a16:rowId xmlns:a16="http://schemas.microsoft.com/office/drawing/2014/main" val="3740670637"/>
                  </a:ext>
                </a:extLst>
              </a:tr>
              <a:tr h="988443">
                <a:tc>
                  <a:txBody>
                    <a:bodyPr/>
                    <a:lstStyle/>
                    <a:p>
                      <a:r>
                        <a:rPr lang="en-AU" sz="1400" dirty="0"/>
                        <a:t>Populate last signed-in and date of last sign. Feature previously supplied by SCCM</a:t>
                      </a:r>
                    </a:p>
                  </a:txBody>
                  <a:tcPr/>
                </a:tc>
                <a:tc>
                  <a:txBody>
                    <a:bodyPr/>
                    <a:lstStyle/>
                    <a:p>
                      <a:r>
                        <a:rPr lang="en-AU" sz="1400" dirty="0"/>
                        <a:t>Import purchase order numbers and costings</a:t>
                      </a:r>
                    </a:p>
                  </a:txBody>
                  <a:tcPr/>
                </a:tc>
                <a:tc>
                  <a:txBody>
                    <a:bodyPr/>
                    <a:lstStyle/>
                    <a:p>
                      <a:r>
                        <a:rPr lang="en-AU" sz="1400" dirty="0"/>
                        <a:t>Minimal additional permissions or set up required.</a:t>
                      </a:r>
                    </a:p>
                  </a:txBody>
                  <a:tcPr/>
                </a:tc>
                <a:extLst>
                  <a:ext uri="{0D108BD9-81ED-4DB2-BD59-A6C34878D82A}">
                    <a16:rowId xmlns:a16="http://schemas.microsoft.com/office/drawing/2014/main" val="467512637"/>
                  </a:ext>
                </a:extLst>
              </a:tr>
              <a:tr h="1276739">
                <a:tc>
                  <a:txBody>
                    <a:bodyPr/>
                    <a:lstStyle/>
                    <a:p>
                      <a:r>
                        <a:rPr lang="en-AU" sz="1400" dirty="0"/>
                        <a:t>Focus on Phones and computers with Intune as a source of truth for data to replicate from.</a:t>
                      </a:r>
                    </a:p>
                  </a:txBody>
                  <a:tcPr/>
                </a:tc>
                <a:tc>
                  <a:txBody>
                    <a:bodyPr/>
                    <a:lstStyle/>
                    <a:p>
                      <a:endParaRPr lang="en-AU" sz="1400" dirty="0"/>
                    </a:p>
                  </a:txBody>
                  <a:tcPr/>
                </a:tc>
                <a:tc>
                  <a:txBody>
                    <a:bodyPr/>
                    <a:lstStyle/>
                    <a:p>
                      <a:r>
                        <a:rPr lang="en-AU" sz="1400" dirty="0"/>
                        <a:t>Minimal upkeep or support</a:t>
                      </a:r>
                    </a:p>
                  </a:txBody>
                  <a:tcPr/>
                </a:tc>
                <a:extLst>
                  <a:ext uri="{0D108BD9-81ED-4DB2-BD59-A6C34878D82A}">
                    <a16:rowId xmlns:a16="http://schemas.microsoft.com/office/drawing/2014/main" val="405351259"/>
                  </a:ext>
                </a:extLst>
              </a:tr>
            </a:tbl>
          </a:graphicData>
        </a:graphic>
      </p:graphicFrame>
      <p:sp>
        <p:nvSpPr>
          <p:cNvPr id="5" name="Title 4">
            <a:extLst>
              <a:ext uri="{FF2B5EF4-FFF2-40B4-BE49-F238E27FC236}">
                <a16:creationId xmlns:a16="http://schemas.microsoft.com/office/drawing/2014/main" id="{D772D659-59C3-5C3C-B9DB-9105C3708E9E}"/>
              </a:ext>
            </a:extLst>
          </p:cNvPr>
          <p:cNvSpPr>
            <a:spLocks noGrp="1"/>
          </p:cNvSpPr>
          <p:nvPr>
            <p:ph type="title"/>
          </p:nvPr>
        </p:nvSpPr>
        <p:spPr/>
        <p:txBody>
          <a:bodyPr/>
          <a:lstStyle/>
          <a:p>
            <a:r>
              <a:rPr lang="en-AU" dirty="0"/>
              <a:t>Stake Holders</a:t>
            </a:r>
          </a:p>
        </p:txBody>
      </p:sp>
    </p:spTree>
    <p:extLst>
      <p:ext uri="{BB962C8B-B14F-4D97-AF65-F5344CB8AC3E}">
        <p14:creationId xmlns:p14="http://schemas.microsoft.com/office/powerpoint/2010/main" val="1864291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4FE08517-C0A5-0F2E-3C31-45311EA025BD}"/>
              </a:ext>
            </a:extLst>
          </p:cNvPr>
          <p:cNvGraphicFramePr>
            <a:graphicFrameLocks noGrp="1"/>
          </p:cNvGraphicFramePr>
          <p:nvPr>
            <p:extLst>
              <p:ext uri="{D42A27DB-BD31-4B8C-83A1-F6EECF244321}">
                <p14:modId xmlns:p14="http://schemas.microsoft.com/office/powerpoint/2010/main" val="3246602970"/>
              </p:ext>
            </p:extLst>
          </p:nvPr>
        </p:nvGraphicFramePr>
        <p:xfrm>
          <a:off x="609600" y="836714"/>
          <a:ext cx="10744201" cy="5271901"/>
        </p:xfrm>
        <a:graphic>
          <a:graphicData uri="http://schemas.openxmlformats.org/drawingml/2006/table">
            <a:tbl>
              <a:tblPr firstRow="1" bandRow="1">
                <a:tableStyleId>{5C22544A-7EE6-4342-B048-85BDC9FD1C3A}</a:tableStyleId>
              </a:tblPr>
              <a:tblGrid>
                <a:gridCol w="3207995">
                  <a:extLst>
                    <a:ext uri="{9D8B030D-6E8A-4147-A177-3AD203B41FA5}">
                      <a16:colId xmlns:a16="http://schemas.microsoft.com/office/drawing/2014/main" val="4042081804"/>
                    </a:ext>
                  </a:extLst>
                </a:gridCol>
                <a:gridCol w="873627">
                  <a:extLst>
                    <a:ext uri="{9D8B030D-6E8A-4147-A177-3AD203B41FA5}">
                      <a16:colId xmlns:a16="http://schemas.microsoft.com/office/drawing/2014/main" val="765832814"/>
                    </a:ext>
                  </a:extLst>
                </a:gridCol>
                <a:gridCol w="6662579">
                  <a:extLst>
                    <a:ext uri="{9D8B030D-6E8A-4147-A177-3AD203B41FA5}">
                      <a16:colId xmlns:a16="http://schemas.microsoft.com/office/drawing/2014/main" val="2528399238"/>
                    </a:ext>
                  </a:extLst>
                </a:gridCol>
              </a:tblGrid>
              <a:tr h="387604">
                <a:tc>
                  <a:txBody>
                    <a:bodyPr/>
                    <a:lstStyle/>
                    <a:p>
                      <a:r>
                        <a:rPr lang="en-AU" sz="1000" dirty="0"/>
                        <a:t>Requirement</a:t>
                      </a:r>
                    </a:p>
                  </a:txBody>
                  <a:tcPr/>
                </a:tc>
                <a:tc>
                  <a:txBody>
                    <a:bodyPr/>
                    <a:lstStyle/>
                    <a:p>
                      <a:r>
                        <a:rPr lang="en-AU" sz="1000" dirty="0"/>
                        <a:t>Meets or Misses</a:t>
                      </a:r>
                    </a:p>
                  </a:txBody>
                  <a:tcPr/>
                </a:tc>
                <a:tc>
                  <a:txBody>
                    <a:bodyPr/>
                    <a:lstStyle/>
                    <a:p>
                      <a:r>
                        <a:rPr lang="en-AU" sz="1000" dirty="0"/>
                        <a:t>Actions to address</a:t>
                      </a:r>
                    </a:p>
                  </a:txBody>
                  <a:tcPr/>
                </a:tc>
                <a:extLst>
                  <a:ext uri="{0D108BD9-81ED-4DB2-BD59-A6C34878D82A}">
                    <a16:rowId xmlns:a16="http://schemas.microsoft.com/office/drawing/2014/main" val="1676866258"/>
                  </a:ext>
                </a:extLst>
              </a:tr>
              <a:tr h="3876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Address “Close enough is good enough” concerning non existent models</a:t>
                      </a:r>
                    </a:p>
                  </a:txBody>
                  <a:tcPr/>
                </a:tc>
                <a:tc>
                  <a:txBody>
                    <a:bodyPr/>
                    <a:lstStyle/>
                    <a:p>
                      <a:r>
                        <a:rPr lang="en-AU" sz="1000" dirty="0"/>
                        <a:t>Meets</a:t>
                      </a:r>
                    </a:p>
                  </a:txBody>
                  <a:tcPr/>
                </a:tc>
                <a:tc>
                  <a:txBody>
                    <a:bodyPr/>
                    <a:lstStyle/>
                    <a:p>
                      <a:r>
                        <a:rPr lang="en-AU" sz="1000" dirty="0"/>
                        <a:t>Testing showed that snow accurately displayed the models for the iPhones 14 and the HP firefly, these where devices that are known to be assigned to iPhone 13 and fury book respectively. </a:t>
                      </a:r>
                    </a:p>
                  </a:txBody>
                  <a:tcPr/>
                </a:tc>
                <a:extLst>
                  <a:ext uri="{0D108BD9-81ED-4DB2-BD59-A6C34878D82A}">
                    <a16:rowId xmlns:a16="http://schemas.microsoft.com/office/drawing/2014/main" val="611270652"/>
                  </a:ext>
                </a:extLst>
              </a:tr>
              <a:tr h="483163">
                <a:tc>
                  <a:txBody>
                    <a:bodyPr/>
                    <a:lstStyle/>
                    <a:p>
                      <a:r>
                        <a:rPr lang="en-AU" sz="1000" dirty="0"/>
                        <a:t>Update all mandatory fields currently manually entered, for accurate data for reporting.</a:t>
                      </a:r>
                    </a:p>
                  </a:txBody>
                  <a:tcPr/>
                </a:tc>
                <a:tc>
                  <a:txBody>
                    <a:bodyPr/>
                    <a:lstStyle/>
                    <a:p>
                      <a:r>
                        <a:rPr lang="en-AU" sz="1000" dirty="0"/>
                        <a:t>meets</a:t>
                      </a:r>
                    </a:p>
                  </a:txBody>
                  <a:tcPr/>
                </a:tc>
                <a:tc>
                  <a:txBody>
                    <a:bodyPr/>
                    <a:lstStyle/>
                    <a:p>
                      <a:r>
                        <a:rPr lang="en-AU" sz="1000" dirty="0"/>
                        <a:t>Testing shows that all fields that are currently manually populated and fields that currently auto populate from SNOW do so correctly </a:t>
                      </a:r>
                    </a:p>
                  </a:txBody>
                  <a:tcPr/>
                </a:tc>
                <a:extLst>
                  <a:ext uri="{0D108BD9-81ED-4DB2-BD59-A6C34878D82A}">
                    <a16:rowId xmlns:a16="http://schemas.microsoft.com/office/drawing/2014/main" val="3740670637"/>
                  </a:ext>
                </a:extLst>
              </a:tr>
              <a:tr h="536682">
                <a:tc>
                  <a:txBody>
                    <a:bodyPr/>
                    <a:lstStyle/>
                    <a:p>
                      <a:r>
                        <a:rPr lang="en-AU" sz="1000" dirty="0"/>
                        <a:t>Populate last signed-in and date of last sign. Feature previously supplied by SCCM</a:t>
                      </a:r>
                    </a:p>
                  </a:txBody>
                  <a:tcPr/>
                </a:tc>
                <a:tc>
                  <a:txBody>
                    <a:bodyPr/>
                    <a:lstStyle/>
                    <a:p>
                      <a:r>
                        <a:rPr lang="en-AU" sz="1000" dirty="0"/>
                        <a:t>Meets/Misses</a:t>
                      </a:r>
                    </a:p>
                  </a:txBody>
                  <a:tcPr/>
                </a:tc>
                <a:tc>
                  <a:txBody>
                    <a:bodyPr/>
                    <a:lstStyle/>
                    <a:p>
                      <a:r>
                        <a:rPr lang="en-AU" sz="1000" dirty="0"/>
                        <a:t>Currently this is functional using Sophos export however, Infrastructure want this data to come from Azure and I have not found a way forward with this so far that dose not involve graph. Further research is required. Have requested Garry Poon to contact Microsoft for official response.</a:t>
                      </a:r>
                    </a:p>
                  </a:txBody>
                  <a:tcPr/>
                </a:tc>
                <a:extLst>
                  <a:ext uri="{0D108BD9-81ED-4DB2-BD59-A6C34878D82A}">
                    <a16:rowId xmlns:a16="http://schemas.microsoft.com/office/drawing/2014/main" val="467512637"/>
                  </a:ext>
                </a:extLst>
              </a:tr>
              <a:tr h="483163">
                <a:tc>
                  <a:txBody>
                    <a:bodyPr/>
                    <a:lstStyle/>
                    <a:p>
                      <a:r>
                        <a:rPr lang="en-AU" sz="1000" dirty="0"/>
                        <a:t>Focus on Phones and computers with Intune as a source of truth for data to replicate from.</a:t>
                      </a:r>
                    </a:p>
                  </a:txBody>
                  <a:tcPr/>
                </a:tc>
                <a:tc>
                  <a:txBody>
                    <a:bodyPr/>
                    <a:lstStyle/>
                    <a:p>
                      <a:r>
                        <a:rPr lang="en-AU" sz="1000" dirty="0"/>
                        <a:t>Meets</a:t>
                      </a:r>
                    </a:p>
                  </a:txBody>
                  <a:tcPr/>
                </a:tc>
                <a:tc>
                  <a:txBody>
                    <a:bodyPr/>
                    <a:lstStyle/>
                    <a:p>
                      <a:endParaRPr lang="en-AU" sz="1000" dirty="0"/>
                    </a:p>
                  </a:txBody>
                  <a:tcPr/>
                </a:tc>
                <a:extLst>
                  <a:ext uri="{0D108BD9-81ED-4DB2-BD59-A6C34878D82A}">
                    <a16:rowId xmlns:a16="http://schemas.microsoft.com/office/drawing/2014/main" val="405351259"/>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Import all devices including monitors and headsets </a:t>
                      </a:r>
                      <a:r>
                        <a:rPr lang="en-AU" sz="1000" dirty="0" err="1"/>
                        <a:t>ect</a:t>
                      </a:r>
                      <a:r>
                        <a:rPr lang="en-AU" sz="1000" dirty="0"/>
                        <a:t>..</a:t>
                      </a:r>
                    </a:p>
                    <a:p>
                      <a:endParaRPr lang="en-AU" sz="1000" dirty="0"/>
                    </a:p>
                  </a:txBody>
                  <a:tcPr/>
                </a:tc>
                <a:tc>
                  <a:txBody>
                    <a:bodyPr/>
                    <a:lstStyle/>
                    <a:p>
                      <a:r>
                        <a:rPr lang="en-AU" sz="1000" dirty="0"/>
                        <a:t>Misses</a:t>
                      </a:r>
                    </a:p>
                  </a:txBody>
                  <a:tcPr/>
                </a:tc>
                <a:tc>
                  <a:txBody>
                    <a:bodyPr/>
                    <a:lstStyle/>
                    <a:p>
                      <a:r>
                        <a:rPr lang="en-AU" sz="1000" dirty="0"/>
                        <a:t>Currently the focus is on phones and computers, monitors will be incorporated upon completion of project and evaluation of provide data.</a:t>
                      </a:r>
                    </a:p>
                  </a:txBody>
                  <a:tcPr/>
                </a:tc>
                <a:extLst>
                  <a:ext uri="{0D108BD9-81ED-4DB2-BD59-A6C34878D82A}">
                    <a16:rowId xmlns:a16="http://schemas.microsoft.com/office/drawing/2014/main" val="2197275367"/>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Import purchase order numbers and costings</a:t>
                      </a:r>
                    </a:p>
                    <a:p>
                      <a:endParaRPr lang="en-AU" sz="1000" dirty="0"/>
                    </a:p>
                  </a:txBody>
                  <a:tcPr/>
                </a:tc>
                <a:tc>
                  <a:txBody>
                    <a:bodyPr/>
                    <a:lstStyle/>
                    <a:p>
                      <a:r>
                        <a:rPr lang="en-AU" sz="1000" dirty="0"/>
                        <a:t>Misses</a:t>
                      </a:r>
                    </a:p>
                  </a:txBody>
                  <a:tcPr/>
                </a:tc>
                <a:tc>
                  <a:txBody>
                    <a:bodyPr/>
                    <a:lstStyle/>
                    <a:p>
                      <a:r>
                        <a:rPr lang="en-AU" sz="1000" dirty="0"/>
                        <a:t>Looking at using Intune autopilot for this,  PO numbers are added against serial number, further work to look at incorporating costings</a:t>
                      </a:r>
                    </a:p>
                  </a:txBody>
                  <a:tcPr/>
                </a:tc>
                <a:extLst>
                  <a:ext uri="{0D108BD9-81ED-4DB2-BD59-A6C34878D82A}">
                    <a16:rowId xmlns:a16="http://schemas.microsoft.com/office/drawing/2014/main" val="1184687439"/>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Portable</a:t>
                      </a:r>
                    </a:p>
                    <a:p>
                      <a:endParaRPr lang="en-AU" sz="1000" dirty="0"/>
                    </a:p>
                  </a:txBody>
                  <a:tcPr/>
                </a:tc>
                <a:tc>
                  <a:txBody>
                    <a:bodyPr/>
                    <a:lstStyle/>
                    <a:p>
                      <a:r>
                        <a:rPr lang="en-AU" sz="1000" dirty="0"/>
                        <a:t>Meets</a:t>
                      </a:r>
                    </a:p>
                  </a:txBody>
                  <a:tcPr/>
                </a:tc>
                <a:tc>
                  <a:txBody>
                    <a:bodyPr/>
                    <a:lstStyle/>
                    <a:p>
                      <a:r>
                        <a:rPr lang="en-AU" sz="1000" dirty="0"/>
                        <a:t>System can be un packed an run, no need for server or changing code of filenames.</a:t>
                      </a:r>
                    </a:p>
                  </a:txBody>
                  <a:tcPr/>
                </a:tc>
                <a:extLst>
                  <a:ext uri="{0D108BD9-81ED-4DB2-BD59-A6C34878D82A}">
                    <a16:rowId xmlns:a16="http://schemas.microsoft.com/office/drawing/2014/main" val="536849053"/>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Simplistic use for Service Desk member</a:t>
                      </a:r>
                    </a:p>
                    <a:p>
                      <a:endParaRPr lang="en-AU" sz="1000" dirty="0"/>
                    </a:p>
                  </a:txBody>
                  <a:tcPr/>
                </a:tc>
                <a:tc>
                  <a:txBody>
                    <a:bodyPr/>
                    <a:lstStyle/>
                    <a:p>
                      <a:r>
                        <a:rPr lang="en-AU" sz="1000" dirty="0"/>
                        <a:t>Meets</a:t>
                      </a:r>
                    </a:p>
                  </a:txBody>
                  <a:tcPr/>
                </a:tc>
                <a:tc>
                  <a:txBody>
                    <a:bodyPr/>
                    <a:lstStyle/>
                    <a:p>
                      <a:r>
                        <a:rPr lang="en-AU" sz="1000" dirty="0"/>
                        <a:t>Relatively simple process.</a:t>
                      </a:r>
                    </a:p>
                  </a:txBody>
                  <a:tcPr/>
                </a:tc>
                <a:extLst>
                  <a:ext uri="{0D108BD9-81ED-4DB2-BD59-A6C34878D82A}">
                    <a16:rowId xmlns:a16="http://schemas.microsoft.com/office/drawing/2014/main" val="1037812409"/>
                  </a:ext>
                </a:extLst>
              </a:tr>
              <a:tr h="5366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Minimal additional permissions or set up required.</a:t>
                      </a:r>
                    </a:p>
                    <a:p>
                      <a:endParaRPr lang="en-AU" sz="1000" dirty="0"/>
                    </a:p>
                  </a:txBody>
                  <a:tcPr/>
                </a:tc>
                <a:tc>
                  <a:txBody>
                    <a:bodyPr/>
                    <a:lstStyle/>
                    <a:p>
                      <a:r>
                        <a:rPr lang="en-AU" sz="1000" dirty="0"/>
                        <a:t>meets</a:t>
                      </a:r>
                    </a:p>
                  </a:txBody>
                  <a:tcPr/>
                </a:tc>
                <a:tc>
                  <a:txBody>
                    <a:bodyPr/>
                    <a:lstStyle/>
                    <a:p>
                      <a:r>
                        <a:rPr lang="en-US" sz="1000" dirty="0"/>
                        <a:t>Few Permissions and modules required, these are required for other Service Desk tasks, therefore are standard and not additional.</a:t>
                      </a:r>
                    </a:p>
                    <a:p>
                      <a:endParaRPr lang="en-AU" sz="1000" dirty="0"/>
                    </a:p>
                  </a:txBody>
                  <a:tcPr/>
                </a:tc>
                <a:extLst>
                  <a:ext uri="{0D108BD9-81ED-4DB2-BD59-A6C34878D82A}">
                    <a16:rowId xmlns:a16="http://schemas.microsoft.com/office/drawing/2014/main" val="264990301"/>
                  </a:ext>
                </a:extLst>
              </a:tr>
              <a:tr h="483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00" dirty="0"/>
                        <a:t>Minimal upkeep or support</a:t>
                      </a:r>
                    </a:p>
                    <a:p>
                      <a:endParaRPr lang="en-AU" sz="1000" dirty="0"/>
                    </a:p>
                  </a:txBody>
                  <a:tcPr/>
                </a:tc>
                <a:tc>
                  <a:txBody>
                    <a:bodyPr/>
                    <a:lstStyle/>
                    <a:p>
                      <a:r>
                        <a:rPr lang="en-AU" sz="1000" dirty="0"/>
                        <a:t>Misses</a:t>
                      </a:r>
                    </a:p>
                  </a:txBody>
                  <a:tcPr/>
                </a:tc>
                <a:tc>
                  <a:txBody>
                    <a:bodyPr/>
                    <a:lstStyle/>
                    <a:p>
                      <a:r>
                        <a:rPr lang="en-AU" sz="1000" dirty="0"/>
                        <a:t>Currently hard coded variables will require maintenance or acceptance. </a:t>
                      </a:r>
                    </a:p>
                  </a:txBody>
                  <a:tcPr/>
                </a:tc>
                <a:extLst>
                  <a:ext uri="{0D108BD9-81ED-4DB2-BD59-A6C34878D82A}">
                    <a16:rowId xmlns:a16="http://schemas.microsoft.com/office/drawing/2014/main" val="3346654205"/>
                  </a:ext>
                </a:extLst>
              </a:tr>
            </a:tbl>
          </a:graphicData>
        </a:graphic>
      </p:graphicFrame>
      <p:sp>
        <p:nvSpPr>
          <p:cNvPr id="5" name="Title 4">
            <a:extLst>
              <a:ext uri="{FF2B5EF4-FFF2-40B4-BE49-F238E27FC236}">
                <a16:creationId xmlns:a16="http://schemas.microsoft.com/office/drawing/2014/main" id="{D772D659-59C3-5C3C-B9DB-9105C3708E9E}"/>
              </a:ext>
            </a:extLst>
          </p:cNvPr>
          <p:cNvSpPr>
            <a:spLocks noGrp="1"/>
          </p:cNvSpPr>
          <p:nvPr>
            <p:ph type="title"/>
          </p:nvPr>
        </p:nvSpPr>
        <p:spPr/>
        <p:txBody>
          <a:bodyPr/>
          <a:lstStyle/>
          <a:p>
            <a:r>
              <a:rPr lang="en-AU" dirty="0"/>
              <a:t>Project at Current State vs Stake Holders Requirements</a:t>
            </a:r>
          </a:p>
        </p:txBody>
      </p:sp>
    </p:spTree>
    <p:extLst>
      <p:ext uri="{BB962C8B-B14F-4D97-AF65-F5344CB8AC3E}">
        <p14:creationId xmlns:p14="http://schemas.microsoft.com/office/powerpoint/2010/main" val="4087234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4C27A-6732-40CA-A266-9CE2586D5CB2}"/>
              </a:ext>
            </a:extLst>
          </p:cNvPr>
          <p:cNvSpPr>
            <a:spLocks noGrp="1"/>
          </p:cNvSpPr>
          <p:nvPr>
            <p:ph type="title"/>
          </p:nvPr>
        </p:nvSpPr>
        <p:spPr/>
        <p:txBody>
          <a:bodyPr/>
          <a:lstStyle/>
          <a:p>
            <a:r>
              <a:rPr lang="en-AU" dirty="0"/>
              <a:t>End user Process for Current Stage</a:t>
            </a:r>
          </a:p>
        </p:txBody>
      </p:sp>
      <p:sp>
        <p:nvSpPr>
          <p:cNvPr id="3" name="Content Placeholder 2">
            <a:extLst>
              <a:ext uri="{FF2B5EF4-FFF2-40B4-BE49-F238E27FC236}">
                <a16:creationId xmlns:a16="http://schemas.microsoft.com/office/drawing/2014/main" id="{DD5680BF-550F-BCA3-F71C-B9453CA0D613}"/>
              </a:ext>
            </a:extLst>
          </p:cNvPr>
          <p:cNvSpPr>
            <a:spLocks noGrp="1"/>
          </p:cNvSpPr>
          <p:nvPr>
            <p:ph idx="1"/>
          </p:nvPr>
        </p:nvSpPr>
        <p:spPr/>
        <p:txBody>
          <a:bodyPr/>
          <a:lstStyle/>
          <a:p>
            <a:pPr marL="457200" indent="-457200">
              <a:buAutoNum type="arabicPeriod"/>
            </a:pPr>
            <a:r>
              <a:rPr lang="en-AU" sz="1400" dirty="0"/>
              <a:t>Export a device list from Sophos and add it to the folder specified.</a:t>
            </a:r>
            <a:br>
              <a:rPr lang="en-AU" sz="1400" dirty="0"/>
            </a:br>
            <a:r>
              <a:rPr lang="en-AU" sz="1400" dirty="0"/>
              <a:t>(Requires Sophos access, a standard for service desk analysts)</a:t>
            </a:r>
          </a:p>
          <a:p>
            <a:pPr marL="457200" indent="-457200">
              <a:buFont typeface="Arial" charset="0"/>
              <a:buAutoNum type="arabicPeriod"/>
            </a:pPr>
            <a:r>
              <a:rPr lang="en-AU" sz="1400" dirty="0"/>
              <a:t>Export a device list from Intune with all fields selected, and add it to the folder specified.</a:t>
            </a:r>
            <a:br>
              <a:rPr lang="en-AU" sz="1400" dirty="0"/>
            </a:br>
            <a:r>
              <a:rPr lang="en-AU" sz="1400" dirty="0"/>
              <a:t>(Requires Intune access, a standard for service desk analysts)</a:t>
            </a:r>
          </a:p>
          <a:p>
            <a:pPr marL="457200" indent="-457200">
              <a:buFont typeface="Arial" charset="0"/>
              <a:buAutoNum type="arabicPeriod"/>
            </a:pPr>
            <a:r>
              <a:rPr lang="en-AU" sz="1400" dirty="0"/>
              <a:t>Run script</a:t>
            </a:r>
          </a:p>
          <a:p>
            <a:pPr marL="457200" indent="-457200">
              <a:buFont typeface="Arial" charset="0"/>
              <a:buAutoNum type="arabicPeriod"/>
            </a:pPr>
            <a:r>
              <a:rPr lang="en-AU" sz="1400" dirty="0"/>
              <a:t>Navigate to: SNOW -&gt; System Import sets -&gt; Data sources -&gt;Models import data source.</a:t>
            </a:r>
          </a:p>
          <a:p>
            <a:pPr marL="457200" indent="-457200">
              <a:buFont typeface="Arial" charset="0"/>
              <a:buAutoNum type="arabicPeriod"/>
            </a:pPr>
            <a:r>
              <a:rPr lang="en-AU" sz="1400" dirty="0"/>
              <a:t>Append the current attachment with the output csv for the model update.</a:t>
            </a:r>
          </a:p>
          <a:p>
            <a:pPr marL="457200" indent="-457200">
              <a:buFont typeface="Arial" charset="0"/>
              <a:buAutoNum type="arabicPeriod"/>
            </a:pPr>
            <a:r>
              <a:rPr lang="en-AU" sz="1400" dirty="0"/>
              <a:t>Check Format is CSV.</a:t>
            </a:r>
          </a:p>
          <a:p>
            <a:pPr marL="457200" indent="-457200">
              <a:buFont typeface="Arial" charset="0"/>
              <a:buAutoNum type="arabicPeriod"/>
            </a:pPr>
            <a:r>
              <a:rPr lang="en-AU" sz="1400" dirty="0"/>
              <a:t>Select Load all records.</a:t>
            </a:r>
          </a:p>
          <a:p>
            <a:pPr marL="457200" indent="-457200">
              <a:buFont typeface="Arial" charset="0"/>
              <a:buAutoNum type="arabicPeriod"/>
            </a:pPr>
            <a:r>
              <a:rPr lang="en-AU" sz="1400" dirty="0"/>
              <a:t>Select Transform</a:t>
            </a:r>
          </a:p>
          <a:p>
            <a:pPr marL="457200" indent="-457200">
              <a:buFont typeface="Arial" charset="0"/>
              <a:buAutoNum type="arabicPeriod"/>
            </a:pPr>
            <a:r>
              <a:rPr lang="en-AU" sz="1400" dirty="0"/>
              <a:t>Navigate to: SNOW -&gt; System Import sets -&gt; Data sources -&gt;Assets import data source.</a:t>
            </a:r>
          </a:p>
          <a:p>
            <a:pPr marL="457200" indent="-457200">
              <a:buFont typeface="Arial" charset="0"/>
              <a:buAutoNum type="arabicPeriod"/>
            </a:pPr>
            <a:r>
              <a:rPr lang="en-AU" sz="1400" dirty="0"/>
              <a:t>Append the current attachment with the output csv for the Bulk Asset Update.</a:t>
            </a:r>
          </a:p>
          <a:p>
            <a:pPr marL="457200" indent="-457200">
              <a:buFont typeface="Arial" charset="0"/>
              <a:buAutoNum type="arabicPeriod"/>
            </a:pPr>
            <a:r>
              <a:rPr lang="en-AU" sz="1400" dirty="0"/>
              <a:t>Check Format is CSV.</a:t>
            </a:r>
          </a:p>
          <a:p>
            <a:pPr marL="457200" indent="-457200">
              <a:buFont typeface="Arial" charset="0"/>
              <a:buAutoNum type="arabicPeriod"/>
            </a:pPr>
            <a:r>
              <a:rPr lang="en-AU" sz="1400" dirty="0"/>
              <a:t>Select Load all records.</a:t>
            </a:r>
          </a:p>
          <a:p>
            <a:pPr marL="457200" indent="-457200">
              <a:buFont typeface="Arial" charset="0"/>
              <a:buAutoNum type="arabicPeriod"/>
            </a:pPr>
            <a:r>
              <a:rPr lang="en-AU" sz="1400" dirty="0"/>
              <a:t>Select Transform</a:t>
            </a:r>
          </a:p>
          <a:p>
            <a:pPr marL="0" indent="0">
              <a:buNone/>
            </a:pPr>
            <a:endParaRPr lang="en-AU" sz="1400" dirty="0"/>
          </a:p>
          <a:p>
            <a:pPr marL="457200" indent="-457200">
              <a:buFont typeface="Arial" charset="0"/>
              <a:buAutoNum type="arabicPeriod"/>
            </a:pPr>
            <a:endParaRPr lang="en-AU" sz="1400" dirty="0"/>
          </a:p>
          <a:p>
            <a:pPr marL="457200" indent="-457200">
              <a:buFont typeface="Arial" charset="0"/>
              <a:buAutoNum type="arabicPeriod"/>
            </a:pPr>
            <a:endParaRPr lang="en-AU" sz="1400" dirty="0"/>
          </a:p>
          <a:p>
            <a:pPr marL="457200" indent="-457200">
              <a:buAutoNum type="arabicPeriod"/>
            </a:pPr>
            <a:endParaRPr lang="en-AU" sz="1400" dirty="0"/>
          </a:p>
        </p:txBody>
      </p:sp>
    </p:spTree>
    <p:extLst>
      <p:ext uri="{BB962C8B-B14F-4D97-AF65-F5344CB8AC3E}">
        <p14:creationId xmlns:p14="http://schemas.microsoft.com/office/powerpoint/2010/main" val="3392318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1E4AF28A-175E-1E08-E442-4459C3591FE7}"/>
              </a:ext>
            </a:extLst>
          </p:cNvPr>
          <p:cNvGraphicFramePr>
            <a:graphicFrameLocks noGrp="1"/>
          </p:cNvGraphicFramePr>
          <p:nvPr>
            <p:extLst>
              <p:ext uri="{D42A27DB-BD31-4B8C-83A1-F6EECF244321}">
                <p14:modId xmlns:p14="http://schemas.microsoft.com/office/powerpoint/2010/main" val="3985018820"/>
              </p:ext>
            </p:extLst>
          </p:nvPr>
        </p:nvGraphicFramePr>
        <p:xfrm>
          <a:off x="584916" y="588220"/>
          <a:ext cx="1375043" cy="1522968"/>
        </p:xfrm>
        <a:graphic>
          <a:graphicData uri="http://schemas.openxmlformats.org/drawingml/2006/table">
            <a:tbl>
              <a:tblPr firstRow="1" bandRow="1">
                <a:tableStyleId>{5C22544A-7EE6-4342-B048-85BDC9FD1C3A}</a:tableStyleId>
              </a:tblPr>
              <a:tblGrid>
                <a:gridCol w="1375043">
                  <a:extLst>
                    <a:ext uri="{9D8B030D-6E8A-4147-A177-3AD203B41FA5}">
                      <a16:colId xmlns:a16="http://schemas.microsoft.com/office/drawing/2014/main" val="3851322346"/>
                    </a:ext>
                  </a:extLst>
                </a:gridCol>
              </a:tblGrid>
              <a:tr h="370840">
                <a:tc>
                  <a:txBody>
                    <a:bodyPr/>
                    <a:lstStyle/>
                    <a:p>
                      <a:r>
                        <a:rPr lang="en-AU" sz="800" b="0" i="0" u="none" strike="noStrike" kern="1200" baseline="0" dirty="0">
                          <a:solidFill>
                            <a:schemeClr val="lt1"/>
                          </a:solidFill>
                          <a:latin typeface="+mn-lt"/>
                          <a:ea typeface="+mn-ea"/>
                          <a:cs typeface="+mn-cs"/>
                        </a:rPr>
                        <a:t>Sophos Device Export</a:t>
                      </a:r>
                      <a:endParaRPr lang="en-AU" sz="800" dirty="0"/>
                    </a:p>
                  </a:txBody>
                  <a:tcPr/>
                </a:tc>
                <a:extLst>
                  <a:ext uri="{0D108BD9-81ED-4DB2-BD59-A6C34878D82A}">
                    <a16:rowId xmlns:a16="http://schemas.microsoft.com/office/drawing/2014/main" val="2250887042"/>
                  </a:ext>
                </a:extLst>
              </a:tr>
              <a:tr h="370840">
                <a:tc>
                  <a:txBody>
                    <a:bodyPr/>
                    <a:lstStyle/>
                    <a:p>
                      <a:r>
                        <a:rPr lang="en-AU" sz="800" b="0" i="0" u="none" strike="noStrike" kern="1200" baseline="0" dirty="0">
                          <a:solidFill>
                            <a:schemeClr val="dk1"/>
                          </a:solidFill>
                          <a:latin typeface="+mn-lt"/>
                          <a:ea typeface="+mn-ea"/>
                          <a:cs typeface="+mn-cs"/>
                        </a:rPr>
                        <a:t>Name (Device Name)</a:t>
                      </a:r>
                      <a:endParaRPr lang="en-AU" sz="800" dirty="0"/>
                    </a:p>
                  </a:txBody>
                  <a:tcPr/>
                </a:tc>
                <a:extLst>
                  <a:ext uri="{0D108BD9-81ED-4DB2-BD59-A6C34878D82A}">
                    <a16:rowId xmlns:a16="http://schemas.microsoft.com/office/drawing/2014/main" val="3118971204"/>
                  </a:ext>
                </a:extLst>
              </a:tr>
              <a:tr h="410448">
                <a:tc>
                  <a:txBody>
                    <a:bodyPr/>
                    <a:lstStyle/>
                    <a:p>
                      <a:r>
                        <a:rPr lang="en-AU" sz="800" b="0" i="0" u="none" strike="noStrike" kern="1200" baseline="0" dirty="0">
                          <a:solidFill>
                            <a:schemeClr val="dk1"/>
                          </a:solidFill>
                          <a:latin typeface="+mn-lt"/>
                          <a:ea typeface="+mn-ea"/>
                          <a:cs typeface="+mn-cs"/>
                        </a:rPr>
                        <a:t>Last logged on (User)</a:t>
                      </a:r>
                      <a:endParaRPr lang="en-AU" sz="800" dirty="0"/>
                    </a:p>
                  </a:txBody>
                  <a:tcPr/>
                </a:tc>
                <a:extLst>
                  <a:ext uri="{0D108BD9-81ED-4DB2-BD59-A6C34878D82A}">
                    <a16:rowId xmlns:a16="http://schemas.microsoft.com/office/drawing/2014/main" val="3722643304"/>
                  </a:ext>
                </a:extLst>
              </a:tr>
              <a:tr h="370840">
                <a:tc>
                  <a:txBody>
                    <a:bodyPr/>
                    <a:lstStyle/>
                    <a:p>
                      <a:r>
                        <a:rPr lang="en-AU" sz="800" b="0" i="0" u="none" strike="noStrike" kern="1200" baseline="0" dirty="0">
                          <a:solidFill>
                            <a:schemeClr val="dk1"/>
                          </a:solidFill>
                          <a:latin typeface="+mn-lt"/>
                          <a:ea typeface="+mn-ea"/>
                          <a:cs typeface="+mn-cs"/>
                        </a:rPr>
                        <a:t>Last logged on Date</a:t>
                      </a:r>
                      <a:endParaRPr lang="en-AU" sz="800" dirty="0"/>
                    </a:p>
                  </a:txBody>
                  <a:tcPr/>
                </a:tc>
                <a:extLst>
                  <a:ext uri="{0D108BD9-81ED-4DB2-BD59-A6C34878D82A}">
                    <a16:rowId xmlns:a16="http://schemas.microsoft.com/office/drawing/2014/main" val="1284678169"/>
                  </a:ext>
                </a:extLst>
              </a:tr>
            </a:tbl>
          </a:graphicData>
        </a:graphic>
      </p:graphicFrame>
      <p:graphicFrame>
        <p:nvGraphicFramePr>
          <p:cNvPr id="11" name="Table 10">
            <a:extLst>
              <a:ext uri="{FF2B5EF4-FFF2-40B4-BE49-F238E27FC236}">
                <a16:creationId xmlns:a16="http://schemas.microsoft.com/office/drawing/2014/main" id="{254AF10D-AFFE-A541-2C14-2D7A7185ED57}"/>
              </a:ext>
            </a:extLst>
          </p:cNvPr>
          <p:cNvGraphicFramePr>
            <a:graphicFrameLocks noGrp="1"/>
          </p:cNvGraphicFramePr>
          <p:nvPr>
            <p:extLst>
              <p:ext uri="{D42A27DB-BD31-4B8C-83A1-F6EECF244321}">
                <p14:modId xmlns:p14="http://schemas.microsoft.com/office/powerpoint/2010/main" val="3834692194"/>
              </p:ext>
            </p:extLst>
          </p:nvPr>
        </p:nvGraphicFramePr>
        <p:xfrm>
          <a:off x="584916" y="2290164"/>
          <a:ext cx="1375043" cy="3157896"/>
        </p:xfrm>
        <a:graphic>
          <a:graphicData uri="http://schemas.openxmlformats.org/drawingml/2006/table">
            <a:tbl>
              <a:tblPr firstRow="1" bandRow="1">
                <a:tableStyleId>{5C22544A-7EE6-4342-B048-85BDC9FD1C3A}</a:tableStyleId>
              </a:tblPr>
              <a:tblGrid>
                <a:gridCol w="1375043">
                  <a:extLst>
                    <a:ext uri="{9D8B030D-6E8A-4147-A177-3AD203B41FA5}">
                      <a16:colId xmlns:a16="http://schemas.microsoft.com/office/drawing/2014/main" val="3015177925"/>
                    </a:ext>
                  </a:extLst>
                </a:gridCol>
              </a:tblGrid>
              <a:tr h="370840">
                <a:tc>
                  <a:txBody>
                    <a:bodyPr/>
                    <a:lstStyle/>
                    <a:p>
                      <a:r>
                        <a:rPr lang="en-AU" sz="800" b="0" i="0" u="none" strike="noStrike" kern="1200" baseline="0" dirty="0">
                          <a:solidFill>
                            <a:schemeClr val="lt1"/>
                          </a:solidFill>
                          <a:latin typeface="+mn-lt"/>
                          <a:ea typeface="+mn-ea"/>
                          <a:cs typeface="+mn-cs"/>
                        </a:rPr>
                        <a:t>Intune device export CSV</a:t>
                      </a:r>
                      <a:endParaRPr lang="en-AU" sz="800" dirty="0"/>
                    </a:p>
                  </a:txBody>
                  <a:tcPr/>
                </a:tc>
                <a:extLst>
                  <a:ext uri="{0D108BD9-81ED-4DB2-BD59-A6C34878D82A}">
                    <a16:rowId xmlns:a16="http://schemas.microsoft.com/office/drawing/2014/main" val="2296666522"/>
                  </a:ext>
                </a:extLst>
              </a:tr>
              <a:tr h="370840">
                <a:tc>
                  <a:txBody>
                    <a:bodyPr/>
                    <a:lstStyle/>
                    <a:p>
                      <a:r>
                        <a:rPr lang="en-AU" sz="800" b="0" i="0" u="none" strike="noStrike" kern="1200" baseline="0" dirty="0">
                          <a:solidFill>
                            <a:schemeClr val="dk1"/>
                          </a:solidFill>
                          <a:latin typeface="+mn-lt"/>
                          <a:ea typeface="+mn-ea"/>
                          <a:cs typeface="+mn-cs"/>
                        </a:rPr>
                        <a:t>Device Name</a:t>
                      </a:r>
                      <a:endParaRPr lang="en-AU" sz="800" dirty="0"/>
                    </a:p>
                  </a:txBody>
                  <a:tcPr/>
                </a:tc>
                <a:extLst>
                  <a:ext uri="{0D108BD9-81ED-4DB2-BD59-A6C34878D82A}">
                    <a16:rowId xmlns:a16="http://schemas.microsoft.com/office/drawing/2014/main" val="591996937"/>
                  </a:ext>
                </a:extLst>
              </a:tr>
              <a:tr h="370840">
                <a:tc>
                  <a:txBody>
                    <a:bodyPr/>
                    <a:lstStyle/>
                    <a:p>
                      <a:r>
                        <a:rPr lang="en-AU" sz="800" b="0" i="0" u="none" strike="noStrike" kern="1200" baseline="0" dirty="0">
                          <a:solidFill>
                            <a:schemeClr val="dk1"/>
                          </a:solidFill>
                          <a:latin typeface="+mn-lt"/>
                          <a:ea typeface="+mn-ea"/>
                          <a:cs typeface="+mn-cs"/>
                        </a:rPr>
                        <a:t>Serial Number</a:t>
                      </a:r>
                      <a:endParaRPr lang="en-AU" sz="800" dirty="0"/>
                    </a:p>
                  </a:txBody>
                  <a:tcPr/>
                </a:tc>
                <a:extLst>
                  <a:ext uri="{0D108BD9-81ED-4DB2-BD59-A6C34878D82A}">
                    <a16:rowId xmlns:a16="http://schemas.microsoft.com/office/drawing/2014/main" val="738195392"/>
                  </a:ext>
                </a:extLst>
              </a:tr>
              <a:tr h="255672">
                <a:tc>
                  <a:txBody>
                    <a:bodyPr/>
                    <a:lstStyle/>
                    <a:p>
                      <a:r>
                        <a:rPr lang="en-AU" sz="800" b="0" i="0" u="none" strike="noStrike" kern="1200" baseline="0" dirty="0">
                          <a:solidFill>
                            <a:schemeClr val="dk1"/>
                          </a:solidFill>
                          <a:latin typeface="+mn-lt"/>
                          <a:ea typeface="+mn-ea"/>
                          <a:cs typeface="+mn-cs"/>
                        </a:rPr>
                        <a:t>Manufacturer</a:t>
                      </a:r>
                      <a:endParaRPr lang="en-AU" sz="800" dirty="0"/>
                    </a:p>
                  </a:txBody>
                  <a:tcPr/>
                </a:tc>
                <a:extLst>
                  <a:ext uri="{0D108BD9-81ED-4DB2-BD59-A6C34878D82A}">
                    <a16:rowId xmlns:a16="http://schemas.microsoft.com/office/drawing/2014/main" val="1218798081"/>
                  </a:ext>
                </a:extLst>
              </a:tr>
              <a:tr h="255672">
                <a:tc>
                  <a:txBody>
                    <a:bodyPr/>
                    <a:lstStyle/>
                    <a:p>
                      <a:r>
                        <a:rPr lang="en-AU" sz="800" dirty="0"/>
                        <a:t>Model</a:t>
                      </a:r>
                    </a:p>
                  </a:txBody>
                  <a:tcPr/>
                </a:tc>
                <a:extLst>
                  <a:ext uri="{0D108BD9-81ED-4DB2-BD59-A6C34878D82A}">
                    <a16:rowId xmlns:a16="http://schemas.microsoft.com/office/drawing/2014/main" val="2043098150"/>
                  </a:ext>
                </a:extLst>
              </a:tr>
              <a:tr h="255672">
                <a:tc>
                  <a:txBody>
                    <a:bodyPr/>
                    <a:lstStyle/>
                    <a:p>
                      <a:r>
                        <a:rPr lang="en-AU" sz="800" dirty="0"/>
                        <a:t>IMEI</a:t>
                      </a:r>
                    </a:p>
                  </a:txBody>
                  <a:tcPr/>
                </a:tc>
                <a:extLst>
                  <a:ext uri="{0D108BD9-81ED-4DB2-BD59-A6C34878D82A}">
                    <a16:rowId xmlns:a16="http://schemas.microsoft.com/office/drawing/2014/main" val="465176910"/>
                  </a:ext>
                </a:extLst>
              </a:tr>
              <a:tr h="255672">
                <a:tc>
                  <a:txBody>
                    <a:bodyPr/>
                    <a:lstStyle/>
                    <a:p>
                      <a:r>
                        <a:rPr lang="en-AU" sz="800" dirty="0"/>
                        <a:t>Subscriber Carrier</a:t>
                      </a:r>
                    </a:p>
                  </a:txBody>
                  <a:tcPr/>
                </a:tc>
                <a:extLst>
                  <a:ext uri="{0D108BD9-81ED-4DB2-BD59-A6C34878D82A}">
                    <a16:rowId xmlns:a16="http://schemas.microsoft.com/office/drawing/2014/main" val="2154120256"/>
                  </a:ext>
                </a:extLst>
              </a:tr>
              <a:tr h="255672">
                <a:tc>
                  <a:txBody>
                    <a:bodyPr/>
                    <a:lstStyle/>
                    <a:p>
                      <a:r>
                        <a:rPr lang="en-AU" sz="800" dirty="0"/>
                        <a:t>Primary User</a:t>
                      </a:r>
                    </a:p>
                  </a:txBody>
                  <a:tcPr/>
                </a:tc>
                <a:extLst>
                  <a:ext uri="{0D108BD9-81ED-4DB2-BD59-A6C34878D82A}">
                    <a16:rowId xmlns:a16="http://schemas.microsoft.com/office/drawing/2014/main" val="1951266954"/>
                  </a:ext>
                </a:extLst>
              </a:tr>
              <a:tr h="255672">
                <a:tc>
                  <a:txBody>
                    <a:bodyPr/>
                    <a:lstStyle/>
                    <a:p>
                      <a:r>
                        <a:rPr lang="en-AU" sz="800" dirty="0"/>
                        <a:t>Ownership</a:t>
                      </a:r>
                    </a:p>
                  </a:txBody>
                  <a:tcPr/>
                </a:tc>
                <a:extLst>
                  <a:ext uri="{0D108BD9-81ED-4DB2-BD59-A6C34878D82A}">
                    <a16:rowId xmlns:a16="http://schemas.microsoft.com/office/drawing/2014/main" val="1579041597"/>
                  </a:ext>
                </a:extLst>
              </a:tr>
              <a:tr h="255672">
                <a:tc>
                  <a:txBody>
                    <a:bodyPr/>
                    <a:lstStyle/>
                    <a:p>
                      <a:r>
                        <a:rPr lang="en-AU" sz="800" dirty="0"/>
                        <a:t>OS</a:t>
                      </a:r>
                    </a:p>
                  </a:txBody>
                  <a:tcPr/>
                </a:tc>
                <a:extLst>
                  <a:ext uri="{0D108BD9-81ED-4DB2-BD59-A6C34878D82A}">
                    <a16:rowId xmlns:a16="http://schemas.microsoft.com/office/drawing/2014/main" val="2990167066"/>
                  </a:ext>
                </a:extLst>
              </a:tr>
              <a:tr h="255672">
                <a:tc>
                  <a:txBody>
                    <a:bodyPr/>
                    <a:lstStyle/>
                    <a:p>
                      <a:r>
                        <a:rPr lang="en-AU" sz="800" dirty="0"/>
                        <a:t>Phone Number</a:t>
                      </a:r>
                    </a:p>
                  </a:txBody>
                  <a:tcPr/>
                </a:tc>
                <a:extLst>
                  <a:ext uri="{0D108BD9-81ED-4DB2-BD59-A6C34878D82A}">
                    <a16:rowId xmlns:a16="http://schemas.microsoft.com/office/drawing/2014/main" val="3128674502"/>
                  </a:ext>
                </a:extLst>
              </a:tr>
            </a:tbl>
          </a:graphicData>
        </a:graphic>
      </p:graphicFrame>
      <p:graphicFrame>
        <p:nvGraphicFramePr>
          <p:cNvPr id="13" name="Table 12">
            <a:extLst>
              <a:ext uri="{FF2B5EF4-FFF2-40B4-BE49-F238E27FC236}">
                <a16:creationId xmlns:a16="http://schemas.microsoft.com/office/drawing/2014/main" id="{7180A945-44A9-9BE4-1F1A-D0E4E4487B73}"/>
              </a:ext>
            </a:extLst>
          </p:cNvPr>
          <p:cNvGraphicFramePr>
            <a:graphicFrameLocks noGrp="1"/>
          </p:cNvGraphicFramePr>
          <p:nvPr>
            <p:extLst>
              <p:ext uri="{D42A27DB-BD31-4B8C-83A1-F6EECF244321}">
                <p14:modId xmlns:p14="http://schemas.microsoft.com/office/powerpoint/2010/main" val="299580017"/>
              </p:ext>
            </p:extLst>
          </p:nvPr>
        </p:nvGraphicFramePr>
        <p:xfrm>
          <a:off x="10598169" y="104284"/>
          <a:ext cx="1296145" cy="5343776"/>
        </p:xfrm>
        <a:graphic>
          <a:graphicData uri="http://schemas.openxmlformats.org/drawingml/2006/table">
            <a:tbl>
              <a:tblPr firstRow="1" bandRow="1">
                <a:tableStyleId>{5C22544A-7EE6-4342-B048-85BDC9FD1C3A}</a:tableStyleId>
              </a:tblPr>
              <a:tblGrid>
                <a:gridCol w="1296145">
                  <a:extLst>
                    <a:ext uri="{9D8B030D-6E8A-4147-A177-3AD203B41FA5}">
                      <a16:colId xmlns:a16="http://schemas.microsoft.com/office/drawing/2014/main" val="3015177925"/>
                    </a:ext>
                  </a:extLst>
                </a:gridCol>
              </a:tblGrid>
              <a:tr h="370840">
                <a:tc>
                  <a:txBody>
                    <a:bodyPr/>
                    <a:lstStyle/>
                    <a:p>
                      <a:r>
                        <a:rPr lang="en-AU" sz="800" b="0" i="0" u="none" strike="noStrike" kern="1200" baseline="0" dirty="0">
                          <a:solidFill>
                            <a:schemeClr val="lt1"/>
                          </a:solidFill>
                          <a:latin typeface="+mn-lt"/>
                          <a:ea typeface="+mn-ea"/>
                          <a:cs typeface="+mn-cs"/>
                        </a:rPr>
                        <a:t>Asset Bulk Upload CSV (SNOW)</a:t>
                      </a:r>
                      <a:endParaRPr lang="en-AU" sz="800" dirty="0"/>
                    </a:p>
                  </a:txBody>
                  <a:tcPr/>
                </a:tc>
                <a:extLst>
                  <a:ext uri="{0D108BD9-81ED-4DB2-BD59-A6C34878D82A}">
                    <a16:rowId xmlns:a16="http://schemas.microsoft.com/office/drawing/2014/main" val="2296666522"/>
                  </a:ext>
                </a:extLst>
              </a:tr>
              <a:tr h="370840">
                <a:tc>
                  <a:txBody>
                    <a:bodyPr/>
                    <a:lstStyle/>
                    <a:p>
                      <a:r>
                        <a:rPr lang="en-AU" sz="800" b="0" i="0" u="none" strike="noStrike" kern="1200" baseline="0" dirty="0">
                          <a:solidFill>
                            <a:schemeClr val="dk1"/>
                          </a:solidFill>
                          <a:latin typeface="+mn-lt"/>
                          <a:ea typeface="+mn-ea"/>
                          <a:cs typeface="+mn-cs"/>
                        </a:rPr>
                        <a:t>Serial Number</a:t>
                      </a:r>
                      <a:endParaRPr lang="en-AU" sz="800" dirty="0"/>
                    </a:p>
                  </a:txBody>
                  <a:tcPr/>
                </a:tc>
                <a:extLst>
                  <a:ext uri="{0D108BD9-81ED-4DB2-BD59-A6C34878D82A}">
                    <a16:rowId xmlns:a16="http://schemas.microsoft.com/office/drawing/2014/main" val="738195392"/>
                  </a:ext>
                </a:extLst>
              </a:tr>
              <a:tr h="255672">
                <a:tc>
                  <a:txBody>
                    <a:bodyPr/>
                    <a:lstStyle/>
                    <a:p>
                      <a:r>
                        <a:rPr lang="en-AU" sz="800" b="0" i="0" u="none" strike="noStrike" kern="1200" baseline="0" dirty="0">
                          <a:solidFill>
                            <a:schemeClr val="dk1"/>
                          </a:solidFill>
                          <a:latin typeface="+mn-lt"/>
                          <a:ea typeface="+mn-ea"/>
                          <a:cs typeface="+mn-cs"/>
                        </a:rPr>
                        <a:t>Asset tag</a:t>
                      </a:r>
                      <a:endParaRPr lang="en-AU" sz="800" dirty="0"/>
                    </a:p>
                  </a:txBody>
                  <a:tcPr/>
                </a:tc>
                <a:extLst>
                  <a:ext uri="{0D108BD9-81ED-4DB2-BD59-A6C34878D82A}">
                    <a16:rowId xmlns:a16="http://schemas.microsoft.com/office/drawing/2014/main" val="1218798081"/>
                  </a:ext>
                </a:extLst>
              </a:tr>
              <a:tr h="255672">
                <a:tc>
                  <a:txBody>
                    <a:bodyPr/>
                    <a:lstStyle/>
                    <a:p>
                      <a:r>
                        <a:rPr lang="en-AU" sz="800" dirty="0"/>
                        <a:t>Model name</a:t>
                      </a:r>
                    </a:p>
                  </a:txBody>
                  <a:tcPr/>
                </a:tc>
                <a:extLst>
                  <a:ext uri="{0D108BD9-81ED-4DB2-BD59-A6C34878D82A}">
                    <a16:rowId xmlns:a16="http://schemas.microsoft.com/office/drawing/2014/main" val="2043098150"/>
                  </a:ext>
                </a:extLst>
              </a:tr>
              <a:tr h="255672">
                <a:tc>
                  <a:txBody>
                    <a:bodyPr/>
                    <a:lstStyle/>
                    <a:p>
                      <a:r>
                        <a:rPr lang="en-AU" sz="800" dirty="0"/>
                        <a:t>Model Display Name</a:t>
                      </a:r>
                    </a:p>
                  </a:txBody>
                  <a:tcPr/>
                </a:tc>
                <a:extLst>
                  <a:ext uri="{0D108BD9-81ED-4DB2-BD59-A6C34878D82A}">
                    <a16:rowId xmlns:a16="http://schemas.microsoft.com/office/drawing/2014/main" val="465176910"/>
                  </a:ext>
                </a:extLst>
              </a:tr>
              <a:tr h="255672">
                <a:tc>
                  <a:txBody>
                    <a:bodyPr/>
                    <a:lstStyle/>
                    <a:p>
                      <a:r>
                        <a:rPr lang="en-AU" sz="800" dirty="0"/>
                        <a:t>Assigned To</a:t>
                      </a:r>
                    </a:p>
                  </a:txBody>
                  <a:tcPr/>
                </a:tc>
                <a:extLst>
                  <a:ext uri="{0D108BD9-81ED-4DB2-BD59-A6C34878D82A}">
                    <a16:rowId xmlns:a16="http://schemas.microsoft.com/office/drawing/2014/main" val="2857522500"/>
                  </a:ext>
                </a:extLst>
              </a:tr>
              <a:tr h="255672">
                <a:tc>
                  <a:txBody>
                    <a:bodyPr/>
                    <a:lstStyle/>
                    <a:p>
                      <a:r>
                        <a:rPr lang="en-AU" sz="800" dirty="0"/>
                        <a:t>Company</a:t>
                      </a:r>
                    </a:p>
                  </a:txBody>
                  <a:tcPr/>
                </a:tc>
                <a:extLst>
                  <a:ext uri="{0D108BD9-81ED-4DB2-BD59-A6C34878D82A}">
                    <a16:rowId xmlns:a16="http://schemas.microsoft.com/office/drawing/2014/main" val="2154120256"/>
                  </a:ext>
                </a:extLst>
              </a:tr>
              <a:tr h="255672">
                <a:tc>
                  <a:txBody>
                    <a:bodyPr/>
                    <a:lstStyle/>
                    <a:p>
                      <a:r>
                        <a:rPr lang="en-AU" sz="800" dirty="0"/>
                        <a:t>State</a:t>
                      </a:r>
                    </a:p>
                  </a:txBody>
                  <a:tcPr/>
                </a:tc>
                <a:extLst>
                  <a:ext uri="{0D108BD9-81ED-4DB2-BD59-A6C34878D82A}">
                    <a16:rowId xmlns:a16="http://schemas.microsoft.com/office/drawing/2014/main" val="1951266954"/>
                  </a:ext>
                </a:extLst>
              </a:tr>
              <a:tr h="255672">
                <a:tc>
                  <a:txBody>
                    <a:bodyPr/>
                    <a:lstStyle/>
                    <a:p>
                      <a:r>
                        <a:rPr lang="en-AU" sz="800" dirty="0"/>
                        <a:t>Owned By</a:t>
                      </a:r>
                    </a:p>
                  </a:txBody>
                  <a:tcPr/>
                </a:tc>
                <a:extLst>
                  <a:ext uri="{0D108BD9-81ED-4DB2-BD59-A6C34878D82A}">
                    <a16:rowId xmlns:a16="http://schemas.microsoft.com/office/drawing/2014/main" val="1579041597"/>
                  </a:ext>
                </a:extLst>
              </a:tr>
              <a:tr h="255672">
                <a:tc>
                  <a:txBody>
                    <a:bodyPr/>
                    <a:lstStyle/>
                    <a:p>
                      <a:r>
                        <a:rPr lang="en-AU" sz="800" dirty="0"/>
                        <a:t>Managed By</a:t>
                      </a:r>
                    </a:p>
                  </a:txBody>
                  <a:tcPr/>
                </a:tc>
                <a:extLst>
                  <a:ext uri="{0D108BD9-81ED-4DB2-BD59-A6C34878D82A}">
                    <a16:rowId xmlns:a16="http://schemas.microsoft.com/office/drawing/2014/main" val="2990167066"/>
                  </a:ext>
                </a:extLst>
              </a:tr>
              <a:tr h="255672">
                <a:tc>
                  <a:txBody>
                    <a:bodyPr/>
                    <a:lstStyle/>
                    <a:p>
                      <a:r>
                        <a:rPr lang="en-AU" sz="800" dirty="0"/>
                        <a:t>Support Group</a:t>
                      </a:r>
                    </a:p>
                  </a:txBody>
                  <a:tcPr/>
                </a:tc>
                <a:extLst>
                  <a:ext uri="{0D108BD9-81ED-4DB2-BD59-A6C34878D82A}">
                    <a16:rowId xmlns:a16="http://schemas.microsoft.com/office/drawing/2014/main" val="3128674502"/>
                  </a:ext>
                </a:extLst>
              </a:tr>
              <a:tr h="255672">
                <a:tc>
                  <a:txBody>
                    <a:bodyPr/>
                    <a:lstStyle/>
                    <a:p>
                      <a:r>
                        <a:rPr lang="en-AU" sz="800" dirty="0"/>
                        <a:t>Comments</a:t>
                      </a:r>
                    </a:p>
                  </a:txBody>
                  <a:tcPr/>
                </a:tc>
                <a:extLst>
                  <a:ext uri="{0D108BD9-81ED-4DB2-BD59-A6C34878D82A}">
                    <a16:rowId xmlns:a16="http://schemas.microsoft.com/office/drawing/2014/main" val="1587831524"/>
                  </a:ext>
                </a:extLst>
              </a:tr>
              <a:tr h="255672">
                <a:tc>
                  <a:txBody>
                    <a:bodyPr/>
                    <a:lstStyle/>
                    <a:p>
                      <a:r>
                        <a:rPr lang="en-AU" sz="800" dirty="0"/>
                        <a:t>Depreciated amount</a:t>
                      </a:r>
                    </a:p>
                  </a:txBody>
                  <a:tcPr/>
                </a:tc>
                <a:extLst>
                  <a:ext uri="{0D108BD9-81ED-4DB2-BD59-A6C34878D82A}">
                    <a16:rowId xmlns:a16="http://schemas.microsoft.com/office/drawing/2014/main" val="2607160482"/>
                  </a:ext>
                </a:extLst>
              </a:tr>
              <a:tr h="255672">
                <a:tc>
                  <a:txBody>
                    <a:bodyPr/>
                    <a:lstStyle/>
                    <a:p>
                      <a:r>
                        <a:rPr lang="en-AU" sz="800" dirty="0"/>
                        <a:t>Pre-allocated</a:t>
                      </a:r>
                    </a:p>
                  </a:txBody>
                  <a:tcPr/>
                </a:tc>
                <a:extLst>
                  <a:ext uri="{0D108BD9-81ED-4DB2-BD59-A6C34878D82A}">
                    <a16:rowId xmlns:a16="http://schemas.microsoft.com/office/drawing/2014/main" val="2068218282"/>
                  </a:ext>
                </a:extLst>
              </a:tr>
              <a:tr h="255672">
                <a:tc>
                  <a:txBody>
                    <a:bodyPr/>
                    <a:lstStyle/>
                    <a:p>
                      <a:r>
                        <a:rPr lang="en-AU" sz="800" dirty="0"/>
                        <a:t>Quantity</a:t>
                      </a:r>
                    </a:p>
                  </a:txBody>
                  <a:tcPr/>
                </a:tc>
                <a:extLst>
                  <a:ext uri="{0D108BD9-81ED-4DB2-BD59-A6C34878D82A}">
                    <a16:rowId xmlns:a16="http://schemas.microsoft.com/office/drawing/2014/main" val="2698713126"/>
                  </a:ext>
                </a:extLst>
              </a:tr>
              <a:tr h="255672">
                <a:tc>
                  <a:txBody>
                    <a:bodyPr/>
                    <a:lstStyle/>
                    <a:p>
                      <a:r>
                        <a:rPr lang="en-AU" sz="800" dirty="0"/>
                        <a:t>Resale price</a:t>
                      </a:r>
                    </a:p>
                  </a:txBody>
                  <a:tcPr/>
                </a:tc>
                <a:extLst>
                  <a:ext uri="{0D108BD9-81ED-4DB2-BD59-A6C34878D82A}">
                    <a16:rowId xmlns:a16="http://schemas.microsoft.com/office/drawing/2014/main" val="3082083011"/>
                  </a:ext>
                </a:extLst>
              </a:tr>
              <a:tr h="255672">
                <a:tc>
                  <a:txBody>
                    <a:bodyPr/>
                    <a:lstStyle/>
                    <a:p>
                      <a:r>
                        <a:rPr lang="en-AU" sz="800" dirty="0"/>
                        <a:t>Salvage price</a:t>
                      </a:r>
                    </a:p>
                  </a:txBody>
                  <a:tcPr/>
                </a:tc>
                <a:extLst>
                  <a:ext uri="{0D108BD9-81ED-4DB2-BD59-A6C34878D82A}">
                    <a16:rowId xmlns:a16="http://schemas.microsoft.com/office/drawing/2014/main" val="2685586583"/>
                  </a:ext>
                </a:extLst>
              </a:tr>
              <a:tr h="255672">
                <a:tc>
                  <a:txBody>
                    <a:bodyPr/>
                    <a:lstStyle/>
                    <a:p>
                      <a:r>
                        <a:rPr lang="en-AU" sz="800" dirty="0"/>
                        <a:t>Last logged on</a:t>
                      </a:r>
                    </a:p>
                  </a:txBody>
                  <a:tcPr/>
                </a:tc>
                <a:extLst>
                  <a:ext uri="{0D108BD9-81ED-4DB2-BD59-A6C34878D82A}">
                    <a16:rowId xmlns:a16="http://schemas.microsoft.com/office/drawing/2014/main" val="1058110496"/>
                  </a:ext>
                </a:extLst>
              </a:tr>
              <a:tr h="255672">
                <a:tc>
                  <a:txBody>
                    <a:bodyPr/>
                    <a:lstStyle/>
                    <a:p>
                      <a:r>
                        <a:rPr lang="en-AU" sz="800" dirty="0"/>
                        <a:t>Last log on date</a:t>
                      </a:r>
                    </a:p>
                  </a:txBody>
                  <a:tcPr/>
                </a:tc>
                <a:extLst>
                  <a:ext uri="{0D108BD9-81ED-4DB2-BD59-A6C34878D82A}">
                    <a16:rowId xmlns:a16="http://schemas.microsoft.com/office/drawing/2014/main" val="305572695"/>
                  </a:ext>
                </a:extLst>
              </a:tr>
              <a:tr h="255672">
                <a:tc>
                  <a:txBody>
                    <a:bodyPr/>
                    <a:lstStyle/>
                    <a:p>
                      <a:r>
                        <a:rPr lang="en-AU" sz="800" dirty="0"/>
                        <a:t>Model category</a:t>
                      </a:r>
                    </a:p>
                  </a:txBody>
                  <a:tcPr/>
                </a:tc>
                <a:extLst>
                  <a:ext uri="{0D108BD9-81ED-4DB2-BD59-A6C34878D82A}">
                    <a16:rowId xmlns:a16="http://schemas.microsoft.com/office/drawing/2014/main" val="3369031667"/>
                  </a:ext>
                </a:extLst>
              </a:tr>
            </a:tbl>
          </a:graphicData>
        </a:graphic>
      </p:graphicFrame>
      <p:graphicFrame>
        <p:nvGraphicFramePr>
          <p:cNvPr id="15" name="Table 14">
            <a:extLst>
              <a:ext uri="{FF2B5EF4-FFF2-40B4-BE49-F238E27FC236}">
                <a16:creationId xmlns:a16="http://schemas.microsoft.com/office/drawing/2014/main" id="{6E039EB7-2774-1AC2-7A5D-379389ABA848}"/>
              </a:ext>
            </a:extLst>
          </p:cNvPr>
          <p:cNvGraphicFramePr>
            <a:graphicFrameLocks noGrp="1"/>
          </p:cNvGraphicFramePr>
          <p:nvPr>
            <p:extLst>
              <p:ext uri="{D42A27DB-BD31-4B8C-83A1-F6EECF244321}">
                <p14:modId xmlns:p14="http://schemas.microsoft.com/office/powerpoint/2010/main" val="2421092596"/>
              </p:ext>
            </p:extLst>
          </p:nvPr>
        </p:nvGraphicFramePr>
        <p:xfrm>
          <a:off x="9174020" y="3774327"/>
          <a:ext cx="1296145" cy="2787056"/>
        </p:xfrm>
        <a:graphic>
          <a:graphicData uri="http://schemas.openxmlformats.org/drawingml/2006/table">
            <a:tbl>
              <a:tblPr firstRow="1" bandRow="1">
                <a:tableStyleId>{5C22544A-7EE6-4342-B048-85BDC9FD1C3A}</a:tableStyleId>
              </a:tblPr>
              <a:tblGrid>
                <a:gridCol w="1296145">
                  <a:extLst>
                    <a:ext uri="{9D8B030D-6E8A-4147-A177-3AD203B41FA5}">
                      <a16:colId xmlns:a16="http://schemas.microsoft.com/office/drawing/2014/main" val="3015177925"/>
                    </a:ext>
                  </a:extLst>
                </a:gridCol>
              </a:tblGrid>
              <a:tr h="370840">
                <a:tc>
                  <a:txBody>
                    <a:bodyPr/>
                    <a:lstStyle/>
                    <a:p>
                      <a:r>
                        <a:rPr lang="en-AU" sz="800" b="0" i="0" u="none" strike="noStrike" kern="1200" baseline="0" dirty="0">
                          <a:solidFill>
                            <a:schemeClr val="lt1"/>
                          </a:solidFill>
                          <a:latin typeface="+mn-lt"/>
                          <a:ea typeface="+mn-ea"/>
                          <a:cs typeface="+mn-cs"/>
                        </a:rPr>
                        <a:t>Model Update CSV (SNOW)</a:t>
                      </a:r>
                      <a:endParaRPr lang="en-AU" sz="800" dirty="0"/>
                    </a:p>
                  </a:txBody>
                  <a:tcPr/>
                </a:tc>
                <a:extLst>
                  <a:ext uri="{0D108BD9-81ED-4DB2-BD59-A6C34878D82A}">
                    <a16:rowId xmlns:a16="http://schemas.microsoft.com/office/drawing/2014/main" val="2296666522"/>
                  </a:ext>
                </a:extLst>
              </a:tr>
              <a:tr h="370840">
                <a:tc>
                  <a:txBody>
                    <a:bodyPr/>
                    <a:lstStyle/>
                    <a:p>
                      <a:r>
                        <a:rPr lang="en-AU" sz="800" b="0" i="0" u="none" strike="noStrike" kern="1200" baseline="0" dirty="0">
                          <a:solidFill>
                            <a:schemeClr val="dk1"/>
                          </a:solidFill>
                          <a:latin typeface="+mn-lt"/>
                          <a:ea typeface="+mn-ea"/>
                          <a:cs typeface="+mn-cs"/>
                        </a:rPr>
                        <a:t>Model Categories</a:t>
                      </a:r>
                      <a:endParaRPr lang="en-AU" sz="800" dirty="0"/>
                    </a:p>
                  </a:txBody>
                  <a:tcPr/>
                </a:tc>
                <a:extLst>
                  <a:ext uri="{0D108BD9-81ED-4DB2-BD59-A6C34878D82A}">
                    <a16:rowId xmlns:a16="http://schemas.microsoft.com/office/drawing/2014/main" val="738195392"/>
                  </a:ext>
                </a:extLst>
              </a:tr>
              <a:tr h="255672">
                <a:tc>
                  <a:txBody>
                    <a:bodyPr/>
                    <a:lstStyle/>
                    <a:p>
                      <a:r>
                        <a:rPr lang="en-AU" sz="800" b="0" i="0" u="none" strike="noStrike" kern="1200" baseline="0" dirty="0">
                          <a:solidFill>
                            <a:schemeClr val="dk1"/>
                          </a:solidFill>
                          <a:latin typeface="+mn-lt"/>
                          <a:ea typeface="+mn-ea"/>
                          <a:cs typeface="+mn-cs"/>
                        </a:rPr>
                        <a:t>Class</a:t>
                      </a:r>
                      <a:endParaRPr lang="en-AU" sz="800" dirty="0"/>
                    </a:p>
                  </a:txBody>
                  <a:tcPr/>
                </a:tc>
                <a:extLst>
                  <a:ext uri="{0D108BD9-81ED-4DB2-BD59-A6C34878D82A}">
                    <a16:rowId xmlns:a16="http://schemas.microsoft.com/office/drawing/2014/main" val="1218798081"/>
                  </a:ext>
                </a:extLst>
              </a:tr>
              <a:tr h="255672">
                <a:tc>
                  <a:txBody>
                    <a:bodyPr/>
                    <a:lstStyle/>
                    <a:p>
                      <a:r>
                        <a:rPr lang="en-AU" sz="800" dirty="0"/>
                        <a:t>Manufacturer</a:t>
                      </a:r>
                    </a:p>
                  </a:txBody>
                  <a:tcPr/>
                </a:tc>
                <a:extLst>
                  <a:ext uri="{0D108BD9-81ED-4DB2-BD59-A6C34878D82A}">
                    <a16:rowId xmlns:a16="http://schemas.microsoft.com/office/drawing/2014/main" val="2043098150"/>
                  </a:ext>
                </a:extLst>
              </a:tr>
              <a:tr h="255672">
                <a:tc>
                  <a:txBody>
                    <a:bodyPr/>
                    <a:lstStyle/>
                    <a:p>
                      <a:r>
                        <a:rPr lang="en-AU" sz="800" dirty="0"/>
                        <a:t>Model Number</a:t>
                      </a:r>
                    </a:p>
                  </a:txBody>
                  <a:tcPr/>
                </a:tc>
                <a:extLst>
                  <a:ext uri="{0D108BD9-81ED-4DB2-BD59-A6C34878D82A}">
                    <a16:rowId xmlns:a16="http://schemas.microsoft.com/office/drawing/2014/main" val="465176910"/>
                  </a:ext>
                </a:extLst>
              </a:tr>
              <a:tr h="255672">
                <a:tc>
                  <a:txBody>
                    <a:bodyPr/>
                    <a:lstStyle/>
                    <a:p>
                      <a:r>
                        <a:rPr lang="en-AU" sz="800" dirty="0"/>
                        <a:t>Owner</a:t>
                      </a:r>
                    </a:p>
                  </a:txBody>
                  <a:tcPr/>
                </a:tc>
                <a:extLst>
                  <a:ext uri="{0D108BD9-81ED-4DB2-BD59-A6C34878D82A}">
                    <a16:rowId xmlns:a16="http://schemas.microsoft.com/office/drawing/2014/main" val="2857522500"/>
                  </a:ext>
                </a:extLst>
              </a:tr>
              <a:tr h="255672">
                <a:tc>
                  <a:txBody>
                    <a:bodyPr/>
                    <a:lstStyle/>
                    <a:p>
                      <a:r>
                        <a:rPr lang="en-AU" sz="800" dirty="0"/>
                        <a:t>Status</a:t>
                      </a:r>
                    </a:p>
                  </a:txBody>
                  <a:tcPr/>
                </a:tc>
                <a:extLst>
                  <a:ext uri="{0D108BD9-81ED-4DB2-BD59-A6C34878D82A}">
                    <a16:rowId xmlns:a16="http://schemas.microsoft.com/office/drawing/2014/main" val="2154120256"/>
                  </a:ext>
                </a:extLst>
              </a:tr>
              <a:tr h="255672">
                <a:tc>
                  <a:txBody>
                    <a:bodyPr/>
                    <a:lstStyle/>
                    <a:p>
                      <a:r>
                        <a:rPr lang="en-AU" sz="800" dirty="0"/>
                        <a:t>Expenditure Type</a:t>
                      </a:r>
                    </a:p>
                  </a:txBody>
                  <a:tcPr/>
                </a:tc>
                <a:extLst>
                  <a:ext uri="{0D108BD9-81ED-4DB2-BD59-A6C34878D82A}">
                    <a16:rowId xmlns:a16="http://schemas.microsoft.com/office/drawing/2014/main" val="1951266954"/>
                  </a:ext>
                </a:extLst>
              </a:tr>
              <a:tr h="255672">
                <a:tc>
                  <a:txBody>
                    <a:bodyPr/>
                    <a:lstStyle/>
                    <a:p>
                      <a:r>
                        <a:rPr lang="en-AU" sz="800" dirty="0"/>
                        <a:t>Asset tracking strategy</a:t>
                      </a:r>
                    </a:p>
                  </a:txBody>
                  <a:tcPr/>
                </a:tc>
                <a:extLst>
                  <a:ext uri="{0D108BD9-81ED-4DB2-BD59-A6C34878D82A}">
                    <a16:rowId xmlns:a16="http://schemas.microsoft.com/office/drawing/2014/main" val="1579041597"/>
                  </a:ext>
                </a:extLst>
              </a:tr>
              <a:tr h="255672">
                <a:tc>
                  <a:txBody>
                    <a:bodyPr/>
                    <a:lstStyle/>
                    <a:p>
                      <a:r>
                        <a:rPr lang="en-AU" sz="800" dirty="0"/>
                        <a:t>Asset Tracking Unit</a:t>
                      </a:r>
                    </a:p>
                  </a:txBody>
                  <a:tcPr/>
                </a:tc>
                <a:extLst>
                  <a:ext uri="{0D108BD9-81ED-4DB2-BD59-A6C34878D82A}">
                    <a16:rowId xmlns:a16="http://schemas.microsoft.com/office/drawing/2014/main" val="2990167066"/>
                  </a:ext>
                </a:extLst>
              </a:tr>
            </a:tbl>
          </a:graphicData>
        </a:graphic>
      </p:graphicFrame>
      <p:graphicFrame>
        <p:nvGraphicFramePr>
          <p:cNvPr id="16" name="Table 15">
            <a:extLst>
              <a:ext uri="{FF2B5EF4-FFF2-40B4-BE49-F238E27FC236}">
                <a16:creationId xmlns:a16="http://schemas.microsoft.com/office/drawing/2014/main" id="{77F26825-4F0C-BBCE-60FA-A033540D0A6B}"/>
              </a:ext>
            </a:extLst>
          </p:cNvPr>
          <p:cNvGraphicFramePr>
            <a:graphicFrameLocks noGrp="1"/>
          </p:cNvGraphicFramePr>
          <p:nvPr>
            <p:extLst>
              <p:ext uri="{D42A27DB-BD31-4B8C-83A1-F6EECF244321}">
                <p14:modId xmlns:p14="http://schemas.microsoft.com/office/powerpoint/2010/main" val="3491765186"/>
              </p:ext>
            </p:extLst>
          </p:nvPr>
        </p:nvGraphicFramePr>
        <p:xfrm>
          <a:off x="2746656" y="67393"/>
          <a:ext cx="6016344" cy="6493990"/>
        </p:xfrm>
        <a:graphic>
          <a:graphicData uri="http://schemas.openxmlformats.org/drawingml/2006/table">
            <a:tbl>
              <a:tblPr firstRow="1" bandRow="1">
                <a:tableStyleId>{5C22544A-7EE6-4342-B048-85BDC9FD1C3A}</a:tableStyleId>
              </a:tblPr>
              <a:tblGrid>
                <a:gridCol w="2602576">
                  <a:extLst>
                    <a:ext uri="{9D8B030D-6E8A-4147-A177-3AD203B41FA5}">
                      <a16:colId xmlns:a16="http://schemas.microsoft.com/office/drawing/2014/main" val="3071921245"/>
                    </a:ext>
                  </a:extLst>
                </a:gridCol>
                <a:gridCol w="1239322">
                  <a:extLst>
                    <a:ext uri="{9D8B030D-6E8A-4147-A177-3AD203B41FA5}">
                      <a16:colId xmlns:a16="http://schemas.microsoft.com/office/drawing/2014/main" val="3015177925"/>
                    </a:ext>
                  </a:extLst>
                </a:gridCol>
                <a:gridCol w="1149189">
                  <a:extLst>
                    <a:ext uri="{9D8B030D-6E8A-4147-A177-3AD203B41FA5}">
                      <a16:colId xmlns:a16="http://schemas.microsoft.com/office/drawing/2014/main" val="910839556"/>
                    </a:ext>
                  </a:extLst>
                </a:gridCol>
                <a:gridCol w="1025257">
                  <a:extLst>
                    <a:ext uri="{9D8B030D-6E8A-4147-A177-3AD203B41FA5}">
                      <a16:colId xmlns:a16="http://schemas.microsoft.com/office/drawing/2014/main" val="745721190"/>
                    </a:ext>
                  </a:extLst>
                </a:gridCol>
              </a:tblGrid>
              <a:tr h="264157">
                <a:tc gridSpan="4">
                  <a:txBody>
                    <a:bodyPr/>
                    <a:lstStyle/>
                    <a:p>
                      <a:pPr algn="ctr"/>
                      <a:r>
                        <a:rPr lang="en-AU" sz="1100" b="0" dirty="0"/>
                        <a:t>Transform script</a:t>
                      </a:r>
                    </a:p>
                  </a:txBody>
                  <a:tcPr/>
                </a:tc>
                <a:tc hMerge="1">
                  <a:txBody>
                    <a:bodyPr/>
                    <a:lstStyle/>
                    <a:p>
                      <a:endParaRPr lang="en-AU" sz="800" dirty="0"/>
                    </a:p>
                  </a:txBody>
                  <a:tcPr/>
                </a:tc>
                <a:tc hMerge="1">
                  <a:txBody>
                    <a:bodyPr/>
                    <a:lstStyle/>
                    <a:p>
                      <a:endParaRPr lang="en-AU" sz="800" dirty="0"/>
                    </a:p>
                  </a:txBody>
                  <a:tcPr/>
                </a:tc>
                <a:tc hMerge="1">
                  <a:txBody>
                    <a:bodyPr/>
                    <a:lstStyle/>
                    <a:p>
                      <a:endParaRPr lang="en-AU" sz="800" dirty="0"/>
                    </a:p>
                  </a:txBody>
                  <a:tcPr/>
                </a:tc>
                <a:extLst>
                  <a:ext uri="{0D108BD9-81ED-4DB2-BD59-A6C34878D82A}">
                    <a16:rowId xmlns:a16="http://schemas.microsoft.com/office/drawing/2014/main" val="3867800790"/>
                  </a:ext>
                </a:extLst>
              </a:tr>
              <a:tr h="557665">
                <a:tc>
                  <a:txBody>
                    <a:bodyPr/>
                    <a:lstStyle/>
                    <a:p>
                      <a:r>
                        <a:rPr lang="en-AU" sz="700" b="1" dirty="0">
                          <a:solidFill>
                            <a:schemeClr val="tx1"/>
                          </a:solidFill>
                        </a:rPr>
                        <a:t>Takes in</a:t>
                      </a:r>
                    </a:p>
                  </a:txBody>
                  <a:tcPr/>
                </a:tc>
                <a:tc>
                  <a:txBody>
                    <a:bodyPr/>
                    <a:lstStyle/>
                    <a:p>
                      <a:r>
                        <a:rPr lang="en-AU" sz="700" b="1" dirty="0">
                          <a:solidFill>
                            <a:schemeClr val="tx1"/>
                          </a:solidFill>
                        </a:rPr>
                        <a:t>Outputs -&gt;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700" b="1" i="0" u="none" strike="noStrike" kern="1200" baseline="0" dirty="0">
                          <a:solidFill>
                            <a:schemeClr val="tx1"/>
                          </a:solidFill>
                          <a:latin typeface="+mn-lt"/>
                          <a:ea typeface="+mn-ea"/>
                          <a:cs typeface="+mn-cs"/>
                        </a:rPr>
                        <a:t>Asset Bulk Upload CSV (SNOW)</a:t>
                      </a:r>
                      <a:endParaRPr lang="en-AU" sz="700" b="1" dirty="0">
                        <a:solidFill>
                          <a:schemeClr val="tx1"/>
                        </a:solidFill>
                      </a:endParaRPr>
                    </a:p>
                    <a:p>
                      <a:endParaRPr lang="en-AU" sz="700" b="1" dirty="0">
                        <a:solidFill>
                          <a:schemeClr val="tx1"/>
                        </a:solidFill>
                      </a:endParaRPr>
                    </a:p>
                  </a:txBody>
                  <a:tcPr/>
                </a:tc>
                <a:tc>
                  <a:txBody>
                    <a:bodyPr/>
                    <a:lstStyle/>
                    <a:p>
                      <a:r>
                        <a:rPr lang="en-AU" sz="700" b="1" dirty="0">
                          <a:solidFill>
                            <a:schemeClr val="tx1"/>
                          </a:solidFill>
                        </a:rPr>
                        <a:t>Takes 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1" dirty="0">
                          <a:solidFill>
                            <a:schemeClr val="tx1"/>
                          </a:solidFill>
                        </a:rPr>
                        <a:t>Outputs </a:t>
                      </a:r>
                      <a:r>
                        <a:rPr lang="en-AU" sz="700" b="1" i="0" u="none" strike="noStrike" kern="1200" baseline="0" dirty="0">
                          <a:solidFill>
                            <a:schemeClr val="tx1"/>
                          </a:solidFill>
                          <a:latin typeface="+mn-lt"/>
                          <a:ea typeface="+mn-ea"/>
                          <a:cs typeface="+mn-cs"/>
                        </a:rPr>
                        <a:t>Model -&gt; Update CSV (SNOW)</a:t>
                      </a:r>
                      <a:endParaRPr lang="en-AU" sz="700" b="1" dirty="0">
                        <a:solidFill>
                          <a:schemeClr val="tx1"/>
                        </a:solidFill>
                      </a:endParaRPr>
                    </a:p>
                    <a:p>
                      <a:endParaRPr lang="en-AU" sz="700" b="1" dirty="0">
                        <a:solidFill>
                          <a:schemeClr val="tx1"/>
                        </a:solidFill>
                      </a:endParaRPr>
                    </a:p>
                  </a:txBody>
                  <a:tcPr/>
                </a:tc>
                <a:extLst>
                  <a:ext uri="{0D108BD9-81ED-4DB2-BD59-A6C34878D82A}">
                    <a16:rowId xmlns:a16="http://schemas.microsoft.com/office/drawing/2014/main" val="2181904365"/>
                  </a:ext>
                </a:extLst>
              </a:tr>
              <a:tr h="4402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Serial Number</a:t>
                      </a:r>
                      <a:endParaRPr lang="en-AU" sz="700" dirty="0"/>
                    </a:p>
                    <a:p>
                      <a:r>
                        <a:rPr lang="en-AU" sz="700" dirty="0"/>
                        <a:t>(no transformation)</a:t>
                      </a:r>
                    </a:p>
                  </a:txBody>
                  <a:tcPr/>
                </a:tc>
                <a:tc>
                  <a:txBody>
                    <a:bodyPr/>
                    <a:lstStyle/>
                    <a:p>
                      <a:r>
                        <a:rPr lang="en-AU" sz="700" b="0" i="0" u="none" strike="noStrike" kern="1200" baseline="0" dirty="0">
                          <a:solidFill>
                            <a:schemeClr val="dk1"/>
                          </a:solidFill>
                          <a:latin typeface="+mn-lt"/>
                          <a:ea typeface="+mn-ea"/>
                          <a:cs typeface="+mn-cs"/>
                        </a:rPr>
                        <a:t>Serial Number</a:t>
                      </a:r>
                      <a:endParaRPr lang="en-AU" sz="7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dirty="0"/>
                        <a:t>Model (Transformations for Some devices)</a:t>
                      </a:r>
                    </a:p>
                    <a:p>
                      <a:endParaRPr lang="en-AU" sz="700" dirty="0"/>
                    </a:p>
                  </a:txBody>
                  <a:tcPr/>
                </a:tc>
                <a:tc>
                  <a:txBody>
                    <a:bodyPr/>
                    <a:lstStyle/>
                    <a:p>
                      <a:r>
                        <a:rPr lang="en-AU" sz="700" b="0" i="0" u="none" strike="noStrike" kern="1200" baseline="0" dirty="0">
                          <a:solidFill>
                            <a:schemeClr val="dk1"/>
                          </a:solidFill>
                          <a:latin typeface="+mn-lt"/>
                          <a:ea typeface="+mn-ea"/>
                          <a:cs typeface="+mn-cs"/>
                        </a:rPr>
                        <a:t>Model Categories</a:t>
                      </a:r>
                      <a:endParaRPr lang="en-AU" sz="700" dirty="0"/>
                    </a:p>
                  </a:txBody>
                  <a:tcPr/>
                </a:tc>
                <a:extLst>
                  <a:ext uri="{0D108BD9-81ED-4DB2-BD59-A6C34878D82A}">
                    <a16:rowId xmlns:a16="http://schemas.microsoft.com/office/drawing/2014/main" val="738195392"/>
                  </a:ext>
                </a:extLst>
              </a:tr>
              <a:tr h="4402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Device Name</a:t>
                      </a:r>
                      <a:endParaRPr lang="en-AU" sz="700" dirty="0"/>
                    </a:p>
                    <a:p>
                      <a:r>
                        <a:rPr lang="en-AU" sz="700" dirty="0"/>
                        <a:t>(Drops ‘Desktop’)</a:t>
                      </a:r>
                    </a:p>
                  </a:txBody>
                  <a:tcPr/>
                </a:tc>
                <a:tc>
                  <a:txBody>
                    <a:bodyPr/>
                    <a:lstStyle/>
                    <a:p>
                      <a:r>
                        <a:rPr lang="en-AU" sz="700" b="0" i="0" u="none" strike="noStrike" kern="1200" baseline="0" dirty="0">
                          <a:solidFill>
                            <a:schemeClr val="dk1"/>
                          </a:solidFill>
                          <a:latin typeface="+mn-lt"/>
                          <a:ea typeface="+mn-ea"/>
                          <a:cs typeface="+mn-cs"/>
                        </a:rPr>
                        <a:t>Asset tag</a:t>
                      </a:r>
                      <a:endParaRPr lang="en-AU" sz="700" dirty="0"/>
                    </a:p>
                  </a:txBody>
                  <a:tcPr/>
                </a:tc>
                <a:tc>
                  <a:txBody>
                    <a:bodyPr/>
                    <a:lstStyle/>
                    <a:p>
                      <a:r>
                        <a:rPr lang="en-AU" sz="700" dirty="0"/>
                        <a:t>Hard coded </a:t>
                      </a:r>
                      <a:r>
                        <a:rPr lang="en-US" sz="700" dirty="0"/>
                        <a:t>= '</a:t>
                      </a:r>
                      <a:r>
                        <a:rPr lang="en-US" sz="700" dirty="0" err="1"/>
                        <a:t>cmdb_hardware_product_model</a:t>
                      </a:r>
                      <a:r>
                        <a:rPr lang="en-US" sz="700" dirty="0"/>
                        <a:t>'</a:t>
                      </a:r>
                      <a:endParaRPr lang="en-AU" sz="700" dirty="0"/>
                    </a:p>
                  </a:txBody>
                  <a:tcPr/>
                </a:tc>
                <a:tc>
                  <a:txBody>
                    <a:bodyPr/>
                    <a:lstStyle/>
                    <a:p>
                      <a:r>
                        <a:rPr lang="en-AU" sz="700" b="0" i="0" u="none" strike="noStrike" kern="1200" baseline="0" dirty="0">
                          <a:solidFill>
                            <a:schemeClr val="dk1"/>
                          </a:solidFill>
                          <a:latin typeface="+mn-lt"/>
                          <a:ea typeface="+mn-ea"/>
                          <a:cs typeface="+mn-cs"/>
                        </a:rPr>
                        <a:t>Class</a:t>
                      </a:r>
                      <a:endParaRPr lang="en-AU" sz="700" dirty="0"/>
                    </a:p>
                  </a:txBody>
                  <a:tcPr/>
                </a:tc>
                <a:extLst>
                  <a:ext uri="{0D108BD9-81ED-4DB2-BD59-A6C34878D82A}">
                    <a16:rowId xmlns:a16="http://schemas.microsoft.com/office/drawing/2014/main" val="1218798081"/>
                  </a:ext>
                </a:extLst>
              </a:tr>
              <a:tr h="322859">
                <a:tc>
                  <a:txBody>
                    <a:bodyPr/>
                    <a:lstStyle/>
                    <a:p>
                      <a:r>
                        <a:rPr lang="en-AU" sz="700" dirty="0"/>
                        <a:t>Model (Transformations for Some devices)</a:t>
                      </a:r>
                    </a:p>
                  </a:txBody>
                  <a:tcPr/>
                </a:tc>
                <a:tc>
                  <a:txBody>
                    <a:bodyPr/>
                    <a:lstStyle/>
                    <a:p>
                      <a:r>
                        <a:rPr lang="en-AU" sz="700" dirty="0"/>
                        <a:t>Model name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Manufacturer</a:t>
                      </a:r>
                      <a:endParaRPr lang="en-AU" sz="700" dirty="0"/>
                    </a:p>
                    <a:p>
                      <a:endParaRPr lang="en-AU" sz="700" dirty="0"/>
                    </a:p>
                  </a:txBody>
                  <a:tcPr/>
                </a:tc>
                <a:tc>
                  <a:txBody>
                    <a:bodyPr/>
                    <a:lstStyle/>
                    <a:p>
                      <a:r>
                        <a:rPr lang="en-AU" sz="700" dirty="0"/>
                        <a:t>Manufacturer</a:t>
                      </a:r>
                    </a:p>
                  </a:txBody>
                  <a:tcPr/>
                </a:tc>
                <a:extLst>
                  <a:ext uri="{0D108BD9-81ED-4DB2-BD59-A6C34878D82A}">
                    <a16:rowId xmlns:a16="http://schemas.microsoft.com/office/drawing/2014/main" val="2043098150"/>
                  </a:ext>
                </a:extLst>
              </a:tr>
              <a:tr h="267887">
                <a:tc>
                  <a:txBody>
                    <a:bodyPr/>
                    <a:lstStyle/>
                    <a:p>
                      <a:r>
                        <a:rPr lang="en-AU" sz="700" dirty="0"/>
                        <a:t>Manufacturer + Device Name</a:t>
                      </a:r>
                    </a:p>
                  </a:txBody>
                  <a:tcPr/>
                </a:tc>
                <a:tc>
                  <a:txBody>
                    <a:bodyPr/>
                    <a:lstStyle/>
                    <a:p>
                      <a:r>
                        <a:rPr lang="en-AU" sz="700" dirty="0"/>
                        <a:t>Model Display Name</a:t>
                      </a:r>
                    </a:p>
                  </a:txBody>
                  <a:tcPr/>
                </a:tc>
                <a:tc>
                  <a:txBody>
                    <a:bodyPr/>
                    <a:lstStyle/>
                    <a:p>
                      <a:r>
                        <a:rPr lang="en-AU" sz="700" dirty="0"/>
                        <a:t>Model</a:t>
                      </a:r>
                    </a:p>
                  </a:txBody>
                  <a:tcPr/>
                </a:tc>
                <a:tc>
                  <a:txBody>
                    <a:bodyPr/>
                    <a:lstStyle/>
                    <a:p>
                      <a:r>
                        <a:rPr lang="en-AU" sz="700" dirty="0"/>
                        <a:t>Model Number</a:t>
                      </a:r>
                    </a:p>
                  </a:txBody>
                  <a:tcPr/>
                </a:tc>
                <a:extLst>
                  <a:ext uri="{0D108BD9-81ED-4DB2-BD59-A6C34878D82A}">
                    <a16:rowId xmlns:a16="http://schemas.microsoft.com/office/drawing/2014/main" val="465176910"/>
                  </a:ext>
                </a:extLst>
              </a:tr>
              <a:tr h="440262">
                <a:tc>
                  <a:txBody>
                    <a:bodyPr/>
                    <a:lstStyle/>
                    <a:p>
                      <a:r>
                        <a:rPr lang="en-AU" sz="700" dirty="0"/>
                        <a:t>Primary User</a:t>
                      </a:r>
                    </a:p>
                  </a:txBody>
                  <a:tcPr/>
                </a:tc>
                <a:tc>
                  <a:txBody>
                    <a:bodyPr/>
                    <a:lstStyle/>
                    <a:p>
                      <a:r>
                        <a:rPr lang="en-AU" sz="700" dirty="0"/>
                        <a:t>Assigned To</a:t>
                      </a:r>
                    </a:p>
                  </a:txBody>
                  <a:tcPr/>
                </a:tc>
                <a:tc>
                  <a:txBody>
                    <a:bodyPr/>
                    <a:lstStyle/>
                    <a:p>
                      <a:r>
                        <a:rPr lang="en-AU" sz="700" dirty="0"/>
                        <a:t>Ownership</a:t>
                      </a:r>
                    </a:p>
                    <a:p>
                      <a:r>
                        <a:rPr lang="en-AU" sz="700" dirty="0"/>
                        <a:t>(If Corporate = Ross)</a:t>
                      </a:r>
                    </a:p>
                    <a:p>
                      <a:endParaRPr lang="en-AU" sz="700" dirty="0"/>
                    </a:p>
                  </a:txBody>
                  <a:tcPr/>
                </a:tc>
                <a:tc>
                  <a:txBody>
                    <a:bodyPr/>
                    <a:lstStyle/>
                    <a:p>
                      <a:r>
                        <a:rPr lang="en-AU" sz="700" dirty="0"/>
                        <a:t>Owner</a:t>
                      </a:r>
                    </a:p>
                  </a:txBody>
                  <a:tcPr/>
                </a:tc>
                <a:extLst>
                  <a:ext uri="{0D108BD9-81ED-4DB2-BD59-A6C34878D82A}">
                    <a16:rowId xmlns:a16="http://schemas.microsoft.com/office/drawing/2014/main" val="2857522500"/>
                  </a:ext>
                </a:extLst>
              </a:tr>
              <a:tr h="322859">
                <a:tc>
                  <a:txBody>
                    <a:bodyPr/>
                    <a:lstStyle/>
                    <a:p>
                      <a:r>
                        <a:rPr lang="en-AU" sz="700" dirty="0"/>
                        <a:t>Ownership</a:t>
                      </a:r>
                    </a:p>
                    <a:p>
                      <a:r>
                        <a:rPr lang="en-AU" sz="700" dirty="0"/>
                        <a:t>(Corporate = G.James…)</a:t>
                      </a:r>
                    </a:p>
                  </a:txBody>
                  <a:tcPr/>
                </a:tc>
                <a:tc>
                  <a:txBody>
                    <a:bodyPr/>
                    <a:lstStyle/>
                    <a:p>
                      <a:r>
                        <a:rPr lang="en-AU" sz="700" dirty="0"/>
                        <a:t>Company</a:t>
                      </a:r>
                    </a:p>
                  </a:txBody>
                  <a:tcPr/>
                </a:tc>
                <a:tc>
                  <a:txBody>
                    <a:bodyPr/>
                    <a:lstStyle/>
                    <a:p>
                      <a:r>
                        <a:rPr lang="en-AU" sz="700" dirty="0"/>
                        <a:t>Hard coded = 'In Production'</a:t>
                      </a:r>
                    </a:p>
                  </a:txBody>
                  <a:tcPr/>
                </a:tc>
                <a:tc>
                  <a:txBody>
                    <a:bodyPr/>
                    <a:lstStyle/>
                    <a:p>
                      <a:r>
                        <a:rPr lang="en-AU" sz="700" dirty="0"/>
                        <a:t>Status</a:t>
                      </a:r>
                    </a:p>
                  </a:txBody>
                  <a:tcPr/>
                </a:tc>
                <a:extLst>
                  <a:ext uri="{0D108BD9-81ED-4DB2-BD59-A6C34878D82A}">
                    <a16:rowId xmlns:a16="http://schemas.microsoft.com/office/drawing/2014/main" val="2154120256"/>
                  </a:ext>
                </a:extLst>
              </a:tr>
              <a:tr h="205456">
                <a:tc>
                  <a:txBody>
                    <a:bodyPr/>
                    <a:lstStyle/>
                    <a:p>
                      <a:r>
                        <a:rPr lang="en-AU" sz="700" dirty="0"/>
                        <a:t>Hard code = in use</a:t>
                      </a:r>
                    </a:p>
                  </a:txBody>
                  <a:tcPr/>
                </a:tc>
                <a:tc>
                  <a:txBody>
                    <a:bodyPr/>
                    <a:lstStyle/>
                    <a:p>
                      <a:r>
                        <a:rPr lang="en-AU" sz="700" dirty="0"/>
                        <a:t>State</a:t>
                      </a:r>
                    </a:p>
                  </a:txBody>
                  <a:tcPr/>
                </a:tc>
                <a:tc>
                  <a:txBody>
                    <a:bodyPr/>
                    <a:lstStyle/>
                    <a:p>
                      <a:r>
                        <a:rPr lang="en-AU" sz="700" dirty="0"/>
                        <a:t>Hard coded = Capex</a:t>
                      </a:r>
                    </a:p>
                  </a:txBody>
                  <a:tcPr/>
                </a:tc>
                <a:tc>
                  <a:txBody>
                    <a:bodyPr/>
                    <a:lstStyle/>
                    <a:p>
                      <a:r>
                        <a:rPr lang="en-AU" sz="700" dirty="0"/>
                        <a:t>Expenditure Type</a:t>
                      </a:r>
                    </a:p>
                  </a:txBody>
                  <a:tcPr/>
                </a:tc>
                <a:extLst>
                  <a:ext uri="{0D108BD9-81ED-4DB2-BD59-A6C34878D82A}">
                    <a16:rowId xmlns:a16="http://schemas.microsoft.com/office/drawing/2014/main" val="1951266954"/>
                  </a:ext>
                </a:extLst>
              </a:tr>
              <a:tr h="322859">
                <a:tc>
                  <a:txBody>
                    <a:bodyPr/>
                    <a:lstStyle/>
                    <a:p>
                      <a:r>
                        <a:rPr lang="en-AU" sz="700" dirty="0"/>
                        <a:t>Ownership</a:t>
                      </a:r>
                    </a:p>
                    <a:p>
                      <a:r>
                        <a:rPr lang="en-AU" sz="700" dirty="0"/>
                        <a:t>(If Corporate = Ross)</a:t>
                      </a:r>
                    </a:p>
                  </a:txBody>
                  <a:tcPr/>
                </a:tc>
                <a:tc>
                  <a:txBody>
                    <a:bodyPr/>
                    <a:lstStyle/>
                    <a:p>
                      <a:r>
                        <a:rPr lang="en-AU" sz="700" dirty="0"/>
                        <a:t>Owned By</a:t>
                      </a:r>
                    </a:p>
                  </a:txBody>
                  <a:tcPr/>
                </a:tc>
                <a:tc>
                  <a:txBody>
                    <a:bodyPr/>
                    <a:lstStyle/>
                    <a:p>
                      <a:r>
                        <a:rPr lang="en-AU" sz="700" dirty="0"/>
                        <a:t>Hard coded = 'Leave to category'</a:t>
                      </a:r>
                    </a:p>
                  </a:txBody>
                  <a:tcPr/>
                </a:tc>
                <a:tc>
                  <a:txBody>
                    <a:bodyPr/>
                    <a:lstStyle/>
                    <a:p>
                      <a:r>
                        <a:rPr lang="en-AU" sz="700" dirty="0"/>
                        <a:t>Asset tracking strategy</a:t>
                      </a:r>
                    </a:p>
                  </a:txBody>
                  <a:tcPr/>
                </a:tc>
                <a:extLst>
                  <a:ext uri="{0D108BD9-81ED-4DB2-BD59-A6C34878D82A}">
                    <a16:rowId xmlns:a16="http://schemas.microsoft.com/office/drawing/2014/main" val="1579041597"/>
                  </a:ext>
                </a:extLst>
              </a:tr>
              <a:tr h="322859">
                <a:tc>
                  <a:txBody>
                    <a:bodyPr/>
                    <a:lstStyle/>
                    <a:p>
                      <a:r>
                        <a:rPr lang="en-AU" sz="700" dirty="0"/>
                        <a:t>Ownership</a:t>
                      </a:r>
                    </a:p>
                    <a:p>
                      <a:r>
                        <a:rPr lang="en-AU" sz="700" dirty="0"/>
                        <a:t>(If Corporate = Ross)</a:t>
                      </a:r>
                    </a:p>
                  </a:txBody>
                  <a:tcPr/>
                </a:tc>
                <a:tc>
                  <a:txBody>
                    <a:bodyPr/>
                    <a:lstStyle/>
                    <a:p>
                      <a:r>
                        <a:rPr lang="en-AU" sz="700" dirty="0"/>
                        <a:t>Managed By</a:t>
                      </a:r>
                    </a:p>
                  </a:txBody>
                  <a:tcPr/>
                </a:tc>
                <a:tc>
                  <a:txBody>
                    <a:bodyPr/>
                    <a:lstStyle/>
                    <a:p>
                      <a:r>
                        <a:rPr lang="en-AU" sz="700" dirty="0"/>
                        <a:t>Hard coded = 'Individual Unit'</a:t>
                      </a:r>
                    </a:p>
                  </a:txBody>
                  <a:tcPr/>
                </a:tc>
                <a:tc>
                  <a:txBody>
                    <a:bodyPr/>
                    <a:lstStyle/>
                    <a:p>
                      <a:r>
                        <a:rPr lang="en-AU" sz="700" dirty="0"/>
                        <a:t>Asset Tracking Unit</a:t>
                      </a:r>
                    </a:p>
                  </a:txBody>
                  <a:tcPr/>
                </a:tc>
                <a:extLst>
                  <a:ext uri="{0D108BD9-81ED-4DB2-BD59-A6C34878D82A}">
                    <a16:rowId xmlns:a16="http://schemas.microsoft.com/office/drawing/2014/main" val="2990167066"/>
                  </a:ext>
                </a:extLst>
              </a:tr>
              <a:tr h="205456">
                <a:tc>
                  <a:txBody>
                    <a:bodyPr/>
                    <a:lstStyle/>
                    <a:p>
                      <a:r>
                        <a:rPr lang="en-AU" sz="700" dirty="0"/>
                        <a:t>Hard code = 'ICT - Service Desk'</a:t>
                      </a:r>
                    </a:p>
                  </a:txBody>
                  <a:tcPr/>
                </a:tc>
                <a:tc>
                  <a:txBody>
                    <a:bodyPr/>
                    <a:lstStyle/>
                    <a:p>
                      <a:r>
                        <a:rPr lang="en-AU" sz="700" dirty="0"/>
                        <a:t>Support Group</a:t>
                      </a:r>
                    </a:p>
                  </a:txBody>
                  <a:tcPr/>
                </a:tc>
                <a:tc>
                  <a:txBody>
                    <a:bodyPr/>
                    <a:lstStyle/>
                    <a:p>
                      <a:r>
                        <a:rPr lang="en-AU" sz="700" dirty="0"/>
                        <a:t>Model</a:t>
                      </a:r>
                    </a:p>
                  </a:txBody>
                  <a:tcPr/>
                </a:tc>
                <a:tc>
                  <a:txBody>
                    <a:bodyPr/>
                    <a:lstStyle/>
                    <a:p>
                      <a:r>
                        <a:rPr lang="en-AU" sz="700" dirty="0"/>
                        <a:t>Name</a:t>
                      </a:r>
                    </a:p>
                  </a:txBody>
                  <a:tcPr/>
                </a:tc>
                <a:extLst>
                  <a:ext uri="{0D108BD9-81ED-4DB2-BD59-A6C34878D82A}">
                    <a16:rowId xmlns:a16="http://schemas.microsoft.com/office/drawing/2014/main" val="3128674502"/>
                  </a:ext>
                </a:extLst>
              </a:tr>
              <a:tr h="205456">
                <a:tc>
                  <a:txBody>
                    <a:bodyPr/>
                    <a:lstStyle/>
                    <a:p>
                      <a:r>
                        <a:rPr lang="en-AU" sz="700" dirty="0"/>
                        <a:t>IMEI + Subscriber Carrier + Phone Number</a:t>
                      </a:r>
                    </a:p>
                  </a:txBody>
                  <a:tcPr/>
                </a:tc>
                <a:tc>
                  <a:txBody>
                    <a:bodyPr/>
                    <a:lstStyle/>
                    <a:p>
                      <a:r>
                        <a:rPr lang="en-AU" sz="700" dirty="0"/>
                        <a:t>Comments</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1587831524"/>
                  </a:ext>
                </a:extLst>
              </a:tr>
              <a:tr h="267887">
                <a:tc>
                  <a:txBody>
                    <a:bodyPr/>
                    <a:lstStyle/>
                    <a:p>
                      <a:r>
                        <a:rPr lang="en-AU" sz="700" dirty="0"/>
                        <a:t>Hard code = 'AUD0.00'</a:t>
                      </a:r>
                    </a:p>
                  </a:txBody>
                  <a:tcPr/>
                </a:tc>
                <a:tc>
                  <a:txBody>
                    <a:bodyPr/>
                    <a:lstStyle/>
                    <a:p>
                      <a:r>
                        <a:rPr lang="en-AU" sz="700" dirty="0"/>
                        <a:t>Depreciated amount</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607160482"/>
                  </a:ext>
                </a:extLst>
              </a:tr>
              <a:tr h="205456">
                <a:tc>
                  <a:txBody>
                    <a:bodyPr/>
                    <a:lstStyle/>
                    <a:p>
                      <a:r>
                        <a:rPr lang="en-AU" sz="700" dirty="0"/>
                        <a:t>Hard Code = False</a:t>
                      </a:r>
                    </a:p>
                  </a:txBody>
                  <a:tcPr/>
                </a:tc>
                <a:tc>
                  <a:txBody>
                    <a:bodyPr/>
                    <a:lstStyle/>
                    <a:p>
                      <a:r>
                        <a:rPr lang="en-AU" sz="700" dirty="0"/>
                        <a:t>Pre-allocated</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068218282"/>
                  </a:ext>
                </a:extLst>
              </a:tr>
              <a:tr h="205456">
                <a:tc>
                  <a:txBody>
                    <a:bodyPr/>
                    <a:lstStyle/>
                    <a:p>
                      <a:r>
                        <a:rPr lang="en-AU" sz="700" dirty="0"/>
                        <a:t>Hard code = 1</a:t>
                      </a:r>
                    </a:p>
                  </a:txBody>
                  <a:tcPr/>
                </a:tc>
                <a:tc>
                  <a:txBody>
                    <a:bodyPr/>
                    <a:lstStyle/>
                    <a:p>
                      <a:r>
                        <a:rPr lang="en-AU" sz="700" dirty="0"/>
                        <a:t>Quantity</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698713126"/>
                  </a:ext>
                </a:extLst>
              </a:tr>
              <a:tr h="205456">
                <a:tc>
                  <a:txBody>
                    <a:bodyPr/>
                    <a:lstStyle/>
                    <a:p>
                      <a:r>
                        <a:rPr lang="en-AU" sz="700" dirty="0"/>
                        <a:t>Hard code = 'AUD0.00'</a:t>
                      </a:r>
                    </a:p>
                  </a:txBody>
                  <a:tcPr/>
                </a:tc>
                <a:tc>
                  <a:txBody>
                    <a:bodyPr/>
                    <a:lstStyle/>
                    <a:p>
                      <a:r>
                        <a:rPr lang="en-AU" sz="700" dirty="0"/>
                        <a:t>Resale price</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3082083011"/>
                  </a:ext>
                </a:extLst>
              </a:tr>
              <a:tr h="3228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dirty="0"/>
                        <a:t>Hard code = 'AUD0.00'</a:t>
                      </a:r>
                    </a:p>
                    <a:p>
                      <a:endParaRPr lang="en-AU" sz="700" dirty="0"/>
                    </a:p>
                  </a:txBody>
                  <a:tcPr/>
                </a:tc>
                <a:tc>
                  <a:txBody>
                    <a:bodyPr/>
                    <a:lstStyle/>
                    <a:p>
                      <a:r>
                        <a:rPr lang="en-AU" sz="700" dirty="0"/>
                        <a:t>Salvage price</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2685586583"/>
                  </a:ext>
                </a:extLst>
              </a:tr>
              <a:tr h="3228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Last logged on (User)</a:t>
                      </a:r>
                      <a:endParaRPr lang="en-AU" sz="700" dirty="0"/>
                    </a:p>
                    <a:p>
                      <a:endParaRPr lang="en-AU" sz="700" dirty="0"/>
                    </a:p>
                  </a:txBody>
                  <a:tcPr/>
                </a:tc>
                <a:tc>
                  <a:txBody>
                    <a:bodyPr/>
                    <a:lstStyle/>
                    <a:p>
                      <a:r>
                        <a:rPr lang="en-AU" sz="700" dirty="0"/>
                        <a:t>Last logged on</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1058110496"/>
                  </a:ext>
                </a:extLst>
              </a:tr>
              <a:tr h="3228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700" b="0" i="0" u="none" strike="noStrike" kern="1200" baseline="0" dirty="0">
                          <a:solidFill>
                            <a:schemeClr val="dk1"/>
                          </a:solidFill>
                          <a:latin typeface="+mn-lt"/>
                          <a:ea typeface="+mn-ea"/>
                          <a:cs typeface="+mn-cs"/>
                        </a:rPr>
                        <a:t>Last logged on Date</a:t>
                      </a:r>
                      <a:endParaRPr lang="en-AU" sz="700" dirty="0"/>
                    </a:p>
                    <a:p>
                      <a:endParaRPr lang="en-AU" sz="700" dirty="0"/>
                    </a:p>
                  </a:txBody>
                  <a:tcPr/>
                </a:tc>
                <a:tc>
                  <a:txBody>
                    <a:bodyPr/>
                    <a:lstStyle/>
                    <a:p>
                      <a:r>
                        <a:rPr lang="en-AU" sz="700" dirty="0"/>
                        <a:t>Last log on date</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1781074294"/>
                  </a:ext>
                </a:extLst>
              </a:tr>
              <a:tr h="322859">
                <a:tc>
                  <a:txBody>
                    <a:bodyPr/>
                    <a:lstStyle/>
                    <a:p>
                      <a:r>
                        <a:rPr lang="en-AU" sz="700" dirty="0"/>
                        <a:t>OS (windows or Mac = computer, and some hard-coded mapping for current model devices)</a:t>
                      </a:r>
                    </a:p>
                  </a:txBody>
                  <a:tcPr/>
                </a:tc>
                <a:tc>
                  <a:txBody>
                    <a:bodyPr/>
                    <a:lstStyle/>
                    <a:p>
                      <a:r>
                        <a:rPr lang="en-AU" sz="700" dirty="0"/>
                        <a:t>Model category</a:t>
                      </a:r>
                    </a:p>
                  </a:txBody>
                  <a:tcPr/>
                </a:tc>
                <a:tc>
                  <a:txBody>
                    <a:bodyPr/>
                    <a:lstStyle/>
                    <a:p>
                      <a:endParaRPr lang="en-AU" sz="700" dirty="0"/>
                    </a:p>
                  </a:txBody>
                  <a:tcPr/>
                </a:tc>
                <a:tc>
                  <a:txBody>
                    <a:bodyPr/>
                    <a:lstStyle/>
                    <a:p>
                      <a:endParaRPr lang="en-AU" sz="700" dirty="0"/>
                    </a:p>
                  </a:txBody>
                  <a:tcPr/>
                </a:tc>
                <a:extLst>
                  <a:ext uri="{0D108BD9-81ED-4DB2-BD59-A6C34878D82A}">
                    <a16:rowId xmlns:a16="http://schemas.microsoft.com/office/drawing/2014/main" val="3369031667"/>
                  </a:ext>
                </a:extLst>
              </a:tr>
            </a:tbl>
          </a:graphicData>
        </a:graphic>
      </p:graphicFrame>
      <p:sp>
        <p:nvSpPr>
          <p:cNvPr id="17" name="Arrow: Right 16">
            <a:extLst>
              <a:ext uri="{FF2B5EF4-FFF2-40B4-BE49-F238E27FC236}">
                <a16:creationId xmlns:a16="http://schemas.microsoft.com/office/drawing/2014/main" id="{5E4BC54A-3411-16C6-6E73-49AACA3537BF}"/>
              </a:ext>
            </a:extLst>
          </p:cNvPr>
          <p:cNvSpPr/>
          <p:nvPr/>
        </p:nvSpPr>
        <p:spPr>
          <a:xfrm>
            <a:off x="1959959" y="1061672"/>
            <a:ext cx="786697" cy="3482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Arrow: Right 17">
            <a:extLst>
              <a:ext uri="{FF2B5EF4-FFF2-40B4-BE49-F238E27FC236}">
                <a16:creationId xmlns:a16="http://schemas.microsoft.com/office/drawing/2014/main" id="{D9593D28-E73D-1025-797A-E23104191876}"/>
              </a:ext>
            </a:extLst>
          </p:cNvPr>
          <p:cNvSpPr/>
          <p:nvPr/>
        </p:nvSpPr>
        <p:spPr>
          <a:xfrm>
            <a:off x="1959959" y="3869112"/>
            <a:ext cx="745141" cy="3482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Arrow: Right 18">
            <a:extLst>
              <a:ext uri="{FF2B5EF4-FFF2-40B4-BE49-F238E27FC236}">
                <a16:creationId xmlns:a16="http://schemas.microsoft.com/office/drawing/2014/main" id="{04037CCD-C843-A0DE-288D-95067385FA82}"/>
              </a:ext>
            </a:extLst>
          </p:cNvPr>
          <p:cNvSpPr/>
          <p:nvPr/>
        </p:nvSpPr>
        <p:spPr>
          <a:xfrm>
            <a:off x="8762999" y="1409940"/>
            <a:ext cx="1835170" cy="2424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Arrow: Right 19">
            <a:extLst>
              <a:ext uri="{FF2B5EF4-FFF2-40B4-BE49-F238E27FC236}">
                <a16:creationId xmlns:a16="http://schemas.microsoft.com/office/drawing/2014/main" id="{BBF6417A-B193-9E67-37B8-A56C98A08F88}"/>
              </a:ext>
            </a:extLst>
          </p:cNvPr>
          <p:cNvSpPr/>
          <p:nvPr/>
        </p:nvSpPr>
        <p:spPr>
          <a:xfrm>
            <a:off x="8762999" y="4316858"/>
            <a:ext cx="411021" cy="2424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48934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963CC-9BE5-5588-DC9B-EF06C170F8D2}"/>
              </a:ext>
            </a:extLst>
          </p:cNvPr>
          <p:cNvSpPr>
            <a:spLocks noGrp="1"/>
          </p:cNvSpPr>
          <p:nvPr>
            <p:ph type="title"/>
          </p:nvPr>
        </p:nvSpPr>
        <p:spPr/>
        <p:txBody>
          <a:bodyPr/>
          <a:lstStyle/>
          <a:p>
            <a:r>
              <a:rPr lang="en-AU" dirty="0"/>
              <a:t>Hard Code Transformations</a:t>
            </a:r>
          </a:p>
        </p:txBody>
      </p:sp>
      <p:sp>
        <p:nvSpPr>
          <p:cNvPr id="3" name="Content Placeholder 2">
            <a:extLst>
              <a:ext uri="{FF2B5EF4-FFF2-40B4-BE49-F238E27FC236}">
                <a16:creationId xmlns:a16="http://schemas.microsoft.com/office/drawing/2014/main" id="{D9DEF05F-B563-912F-981E-5FE7127B601E}"/>
              </a:ext>
            </a:extLst>
          </p:cNvPr>
          <p:cNvSpPr>
            <a:spLocks noGrp="1"/>
          </p:cNvSpPr>
          <p:nvPr>
            <p:ph idx="1"/>
          </p:nvPr>
        </p:nvSpPr>
        <p:spPr>
          <a:xfrm>
            <a:off x="838200" y="1124400"/>
            <a:ext cx="5113784" cy="2304255"/>
          </a:xfrm>
        </p:spPr>
        <p:txBody>
          <a:bodyPr/>
          <a:lstStyle/>
          <a:p>
            <a:pPr marL="0" indent="0">
              <a:buNone/>
            </a:pPr>
            <a:r>
              <a:rPr lang="en-AU" sz="1400" b="1" dirty="0"/>
              <a:t>Model Name</a:t>
            </a:r>
          </a:p>
          <a:p>
            <a:r>
              <a:rPr lang="en-AU" sz="1100" dirty="0"/>
              <a:t>Lenovo's and a few phones only presented with a model number and not a model name. </a:t>
            </a:r>
          </a:p>
          <a:p>
            <a:r>
              <a:rPr lang="en-AU" sz="1100" dirty="0"/>
              <a:t>These names are generated by correlating the model number to the model name on the vendor’s site, and hard-coding these values. </a:t>
            </a:r>
          </a:p>
          <a:p>
            <a:r>
              <a:rPr lang="en-AU" sz="1100" dirty="0"/>
              <a:t>Ok for end-of-life </a:t>
            </a:r>
            <a:r>
              <a:rPr lang="en-AU" sz="1100" dirty="0" err="1"/>
              <a:t>Lenovos</a:t>
            </a:r>
            <a:r>
              <a:rPr lang="en-AU" sz="1100" dirty="0"/>
              <a:t> but will require ongoing support for other new devices that present in this way.</a:t>
            </a:r>
          </a:p>
          <a:p>
            <a:endParaRPr lang="en-AU" dirty="0"/>
          </a:p>
        </p:txBody>
      </p:sp>
      <p:sp>
        <p:nvSpPr>
          <p:cNvPr id="5" name="Content Placeholder 2">
            <a:extLst>
              <a:ext uri="{FF2B5EF4-FFF2-40B4-BE49-F238E27FC236}">
                <a16:creationId xmlns:a16="http://schemas.microsoft.com/office/drawing/2014/main" id="{9FAD8926-9A85-D9AE-4A7E-4DEDC22EE4F2}"/>
              </a:ext>
            </a:extLst>
          </p:cNvPr>
          <p:cNvSpPr txBox="1">
            <a:spLocks/>
          </p:cNvSpPr>
          <p:nvPr/>
        </p:nvSpPr>
        <p:spPr bwMode="auto">
          <a:xfrm>
            <a:off x="838200" y="3210916"/>
            <a:ext cx="5113784" cy="2736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Model Category</a:t>
            </a:r>
          </a:p>
          <a:p>
            <a:r>
              <a:rPr lang="en-AU" sz="1100" dirty="0"/>
              <a:t>Other than the operating system there is no apparent variable that would accurately correlate to this variable.</a:t>
            </a:r>
          </a:p>
          <a:p>
            <a:r>
              <a:rPr lang="en-AU" sz="1100" dirty="0"/>
              <a:t> First-level filter devices buy the operating system. This defines them as ‘Mobile Handsets’ or Computers.</a:t>
            </a:r>
          </a:p>
          <a:p>
            <a:r>
              <a:rPr lang="en-AU" sz="1100" dirty="0"/>
              <a:t>All devices that have current assignments of Workstation- Advanced </a:t>
            </a:r>
            <a:r>
              <a:rPr lang="en-AU" sz="1100" dirty="0" err="1"/>
              <a:t>ect</a:t>
            </a:r>
            <a:r>
              <a:rPr lang="en-AU" sz="1100" dirty="0"/>
              <a:t> have been coded to translate based on data already existing in snow.</a:t>
            </a:r>
          </a:p>
          <a:p>
            <a:r>
              <a:rPr lang="en-AU" sz="1100" dirty="0"/>
              <a:t>To facilitate more categorisation than ‘Computer’ and phone, further updates will be required to this script every time a new model is added.</a:t>
            </a:r>
          </a:p>
          <a:p>
            <a:endParaRPr lang="en-AU" sz="1100" dirty="0"/>
          </a:p>
          <a:p>
            <a:endParaRPr lang="en-AU" sz="1100" dirty="0"/>
          </a:p>
          <a:p>
            <a:endParaRPr lang="en-AU" sz="1100" dirty="0"/>
          </a:p>
        </p:txBody>
      </p:sp>
      <p:sp>
        <p:nvSpPr>
          <p:cNvPr id="6" name="Content Placeholder 2">
            <a:extLst>
              <a:ext uri="{FF2B5EF4-FFF2-40B4-BE49-F238E27FC236}">
                <a16:creationId xmlns:a16="http://schemas.microsoft.com/office/drawing/2014/main" id="{F9F86251-57D1-D117-6BEA-03E38E9C0F0A}"/>
              </a:ext>
            </a:extLst>
          </p:cNvPr>
          <p:cNvSpPr txBox="1">
            <a:spLocks/>
          </p:cNvSpPr>
          <p:nvPr/>
        </p:nvSpPr>
        <p:spPr bwMode="auto">
          <a:xfrm>
            <a:off x="5951984" y="1124400"/>
            <a:ext cx="5401816" cy="1872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Owned by, Managed by, and Company</a:t>
            </a:r>
          </a:p>
          <a:p>
            <a:r>
              <a:rPr lang="en-AU" sz="1100" dirty="0"/>
              <a:t>These values are translated from Personal or Corporate devices.</a:t>
            </a:r>
          </a:p>
          <a:p>
            <a:r>
              <a:rPr lang="en-AU" sz="1100" dirty="0"/>
              <a:t>All corporate devices get the values of ‘Ross Lennox’ and ‘G.James ..’ respectively. </a:t>
            </a:r>
          </a:p>
          <a:p>
            <a:r>
              <a:rPr lang="en-AU" sz="1100" dirty="0"/>
              <a:t>All personal devices get assigned personnel for these fields and are consequently excluded from the output data.</a:t>
            </a:r>
          </a:p>
          <a:p>
            <a:endParaRPr lang="en-AU" dirty="0"/>
          </a:p>
        </p:txBody>
      </p:sp>
      <p:sp>
        <p:nvSpPr>
          <p:cNvPr id="7" name="Content Placeholder 2">
            <a:extLst>
              <a:ext uri="{FF2B5EF4-FFF2-40B4-BE49-F238E27FC236}">
                <a16:creationId xmlns:a16="http://schemas.microsoft.com/office/drawing/2014/main" id="{3DAFFBA2-A75A-DCDF-0364-7D2D078BA1E4}"/>
              </a:ext>
            </a:extLst>
          </p:cNvPr>
          <p:cNvSpPr txBox="1">
            <a:spLocks/>
          </p:cNvSpPr>
          <p:nvPr/>
        </p:nvSpPr>
        <p:spPr bwMode="auto">
          <a:xfrm>
            <a:off x="5951984" y="3125190"/>
            <a:ext cx="5401816" cy="2608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Comments</a:t>
            </a:r>
          </a:p>
          <a:p>
            <a:r>
              <a:rPr lang="en-AU" sz="1100" dirty="0"/>
              <a:t>Did not have fields in Snow for phone carrier phone number and IMEI for devices that require it.</a:t>
            </a:r>
          </a:p>
          <a:p>
            <a:r>
              <a:rPr lang="en-AU" sz="1100" dirty="0"/>
              <a:t>These values are concatenated nicely into a string builder and output in the comments to facilitate these fields.</a:t>
            </a:r>
          </a:p>
        </p:txBody>
      </p:sp>
    </p:spTree>
    <p:extLst>
      <p:ext uri="{BB962C8B-B14F-4D97-AF65-F5344CB8AC3E}">
        <p14:creationId xmlns:p14="http://schemas.microsoft.com/office/powerpoint/2010/main" val="1384024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C7F32-9F14-F07B-16D5-5AB7318106BE}"/>
              </a:ext>
            </a:extLst>
          </p:cNvPr>
          <p:cNvSpPr>
            <a:spLocks noGrp="1"/>
          </p:cNvSpPr>
          <p:nvPr>
            <p:ph type="title"/>
          </p:nvPr>
        </p:nvSpPr>
        <p:spPr/>
        <p:txBody>
          <a:bodyPr/>
          <a:lstStyle/>
          <a:p>
            <a:r>
              <a:rPr lang="en-AU" dirty="0"/>
              <a:t>Testing</a:t>
            </a:r>
          </a:p>
        </p:txBody>
      </p:sp>
      <p:sp>
        <p:nvSpPr>
          <p:cNvPr id="3" name="Content Placeholder 2">
            <a:extLst>
              <a:ext uri="{FF2B5EF4-FFF2-40B4-BE49-F238E27FC236}">
                <a16:creationId xmlns:a16="http://schemas.microsoft.com/office/drawing/2014/main" id="{C4AB7070-1AB2-189D-9056-23A83CB6C1AD}"/>
              </a:ext>
            </a:extLst>
          </p:cNvPr>
          <p:cNvSpPr>
            <a:spLocks noGrp="1"/>
          </p:cNvSpPr>
          <p:nvPr>
            <p:ph idx="1"/>
          </p:nvPr>
        </p:nvSpPr>
        <p:spPr>
          <a:xfrm>
            <a:off x="838200" y="944725"/>
            <a:ext cx="7886700" cy="864095"/>
          </a:xfrm>
        </p:spPr>
        <p:txBody>
          <a:bodyPr/>
          <a:lstStyle/>
          <a:p>
            <a:pPr marL="0" indent="0">
              <a:buNone/>
            </a:pPr>
            <a:r>
              <a:rPr lang="en-AU" dirty="0"/>
              <a:t>The script output files were tested in the Development Snow environment.</a:t>
            </a:r>
          </a:p>
          <a:p>
            <a:pPr marL="0" indent="0">
              <a:buNone/>
            </a:pPr>
            <a:r>
              <a:rPr lang="en-AU" dirty="0"/>
              <a:t>Results were reviewed by Vijay.</a:t>
            </a:r>
          </a:p>
          <a:p>
            <a:endParaRPr lang="en-AU" dirty="0"/>
          </a:p>
          <a:p>
            <a:endParaRPr lang="en-AU" dirty="0"/>
          </a:p>
        </p:txBody>
      </p:sp>
      <p:graphicFrame>
        <p:nvGraphicFramePr>
          <p:cNvPr id="4" name="Table 4">
            <a:extLst>
              <a:ext uri="{FF2B5EF4-FFF2-40B4-BE49-F238E27FC236}">
                <a16:creationId xmlns:a16="http://schemas.microsoft.com/office/drawing/2014/main" id="{29666C4F-9C00-D7B0-A007-CA414DB1D327}"/>
              </a:ext>
            </a:extLst>
          </p:cNvPr>
          <p:cNvGraphicFramePr>
            <a:graphicFrameLocks noGrp="1"/>
          </p:cNvGraphicFramePr>
          <p:nvPr>
            <p:extLst>
              <p:ext uri="{D42A27DB-BD31-4B8C-83A1-F6EECF244321}">
                <p14:modId xmlns:p14="http://schemas.microsoft.com/office/powerpoint/2010/main" val="2645688"/>
              </p:ext>
            </p:extLst>
          </p:nvPr>
        </p:nvGraphicFramePr>
        <p:xfrm>
          <a:off x="838200" y="2031132"/>
          <a:ext cx="10515600" cy="422107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119507912"/>
                    </a:ext>
                  </a:extLst>
                </a:gridCol>
                <a:gridCol w="5257800">
                  <a:extLst>
                    <a:ext uri="{9D8B030D-6E8A-4147-A177-3AD203B41FA5}">
                      <a16:colId xmlns:a16="http://schemas.microsoft.com/office/drawing/2014/main" val="1215035715"/>
                    </a:ext>
                  </a:extLst>
                </a:gridCol>
              </a:tblGrid>
              <a:tr h="416404">
                <a:tc>
                  <a:txBody>
                    <a:bodyPr/>
                    <a:lstStyle/>
                    <a:p>
                      <a:r>
                        <a:rPr lang="en-AU" sz="1200" dirty="0"/>
                        <a:t>Wins</a:t>
                      </a:r>
                    </a:p>
                  </a:txBody>
                  <a:tcPr/>
                </a:tc>
                <a:tc>
                  <a:txBody>
                    <a:bodyPr/>
                    <a:lstStyle/>
                    <a:p>
                      <a:r>
                        <a:rPr lang="en-AU" sz="1200" dirty="0"/>
                        <a:t>Losses</a:t>
                      </a:r>
                    </a:p>
                  </a:txBody>
                  <a:tcPr/>
                </a:tc>
                <a:extLst>
                  <a:ext uri="{0D108BD9-81ED-4DB2-BD59-A6C34878D82A}">
                    <a16:rowId xmlns:a16="http://schemas.microsoft.com/office/drawing/2014/main" val="1658655741"/>
                  </a:ext>
                </a:extLst>
              </a:tr>
              <a:tr h="513374">
                <a:tc>
                  <a:txBody>
                    <a:bodyPr/>
                    <a:lstStyle/>
                    <a:p>
                      <a:r>
                        <a:rPr lang="en-AU" sz="1200" dirty="0"/>
                        <a:t>Created non-existent hardware models and migrated the incorrectly assigned devices to appropriate fields.</a:t>
                      </a:r>
                    </a:p>
                  </a:txBody>
                  <a:tcPr/>
                </a:tc>
                <a:tc>
                  <a:txBody>
                    <a:bodyPr/>
                    <a:lstStyle/>
                    <a:p>
                      <a:r>
                        <a:rPr lang="en-AU" sz="1200" dirty="0"/>
                        <a:t>Phone naming is not managed in Intune and will not be unique enough needs addressing. </a:t>
                      </a:r>
                    </a:p>
                  </a:txBody>
                  <a:tcPr/>
                </a:tc>
                <a:extLst>
                  <a:ext uri="{0D108BD9-81ED-4DB2-BD59-A6C34878D82A}">
                    <a16:rowId xmlns:a16="http://schemas.microsoft.com/office/drawing/2014/main" val="522077320"/>
                  </a:ext>
                </a:extLst>
              </a:tr>
              <a:tr h="513374">
                <a:tc>
                  <a:txBody>
                    <a:bodyPr/>
                    <a:lstStyle/>
                    <a:p>
                      <a:r>
                        <a:rPr lang="en-AU" sz="1200" dirty="0"/>
                        <a:t>Updates records of existing devices in SNOW, not duplicate</a:t>
                      </a:r>
                    </a:p>
                  </a:txBody>
                  <a:tcPr/>
                </a:tc>
                <a:tc>
                  <a:txBody>
                    <a:bodyPr/>
                    <a:lstStyle/>
                    <a:p>
                      <a:r>
                        <a:rPr lang="en-AU" sz="1200" dirty="0"/>
                        <a:t>Currently only adds and updates phones and computers.</a:t>
                      </a:r>
                    </a:p>
                  </a:txBody>
                  <a:tcPr/>
                </a:tc>
                <a:extLst>
                  <a:ext uri="{0D108BD9-81ED-4DB2-BD59-A6C34878D82A}">
                    <a16:rowId xmlns:a16="http://schemas.microsoft.com/office/drawing/2014/main" val="3375810489"/>
                  </a:ext>
                </a:extLst>
              </a:tr>
              <a:tr h="924074">
                <a:tc>
                  <a:txBody>
                    <a:bodyPr/>
                    <a:lstStyle/>
                    <a:p>
                      <a:r>
                        <a:rPr lang="en-AU" sz="1200" dirty="0"/>
                        <a:t>Updating a blank field does not remove existing data</a:t>
                      </a:r>
                    </a:p>
                  </a:txBody>
                  <a:tcPr/>
                </a:tc>
                <a:tc>
                  <a:txBody>
                    <a:bodyPr/>
                    <a:lstStyle/>
                    <a:p>
                      <a:r>
                        <a:rPr lang="en-US" sz="1200" dirty="0"/>
                        <a:t>Does not yet populate PO, Cost, and Assigned Date. (we are not currently utilizing these fields, but would be nice to have)</a:t>
                      </a:r>
                    </a:p>
                    <a:p>
                      <a:endParaRPr lang="en-AU" sz="1200" dirty="0"/>
                    </a:p>
                  </a:txBody>
                  <a:tcPr/>
                </a:tc>
                <a:extLst>
                  <a:ext uri="{0D108BD9-81ED-4DB2-BD59-A6C34878D82A}">
                    <a16:rowId xmlns:a16="http://schemas.microsoft.com/office/drawing/2014/main" val="361424247"/>
                  </a:ext>
                </a:extLst>
              </a:tr>
              <a:tr h="924074">
                <a:tc>
                  <a:txBody>
                    <a:bodyPr/>
                    <a:lstStyle/>
                    <a:p>
                      <a:r>
                        <a:rPr lang="en-AU" sz="1200" dirty="0"/>
                        <a:t>All currently used fields, auto populated fields and Last user and last logged-on fields populate where data is available.</a:t>
                      </a:r>
                    </a:p>
                  </a:txBody>
                  <a:tcPr/>
                </a:tc>
                <a:tc>
                  <a:txBody>
                    <a:bodyPr/>
                    <a:lstStyle/>
                    <a:p>
                      <a:r>
                        <a:rPr lang="en-AU" sz="1200" dirty="0"/>
                        <a:t>Concerns about the amount of Service Desk support required to map category types of laptop/workstations standard /advanced etc as without updating code new models will either be a Phone or a Computer.</a:t>
                      </a:r>
                    </a:p>
                  </a:txBody>
                  <a:tcPr/>
                </a:tc>
                <a:extLst>
                  <a:ext uri="{0D108BD9-81ED-4DB2-BD59-A6C34878D82A}">
                    <a16:rowId xmlns:a16="http://schemas.microsoft.com/office/drawing/2014/main" val="2660895157"/>
                  </a:ext>
                </a:extLst>
              </a:tr>
              <a:tr h="513374">
                <a:tc>
                  <a:txBody>
                    <a:bodyPr/>
                    <a:lstStyle/>
                    <a:p>
                      <a:pPr marL="0" algn="l" defTabSz="914400" rtl="0" eaLnBrk="1" latinLnBrk="0" hangingPunct="1"/>
                      <a:r>
                        <a:rPr lang="en-AU" sz="1200" kern="1200" dirty="0">
                          <a:solidFill>
                            <a:schemeClr val="dk1"/>
                          </a:solidFill>
                          <a:latin typeface="+mn-lt"/>
                          <a:ea typeface="+mn-ea"/>
                          <a:cs typeface="+mn-cs"/>
                        </a:rPr>
                        <a:t>Does not upload personal devices or devices that have not deployed correctly.</a:t>
                      </a:r>
                    </a:p>
                  </a:txBody>
                  <a:tcPr/>
                </a:tc>
                <a:tc>
                  <a:txBody>
                    <a:bodyPr/>
                    <a:lstStyle/>
                    <a:p>
                      <a:endParaRPr lang="en-AU" sz="1200" dirty="0"/>
                    </a:p>
                  </a:txBody>
                  <a:tcPr/>
                </a:tc>
                <a:extLst>
                  <a:ext uri="{0D108BD9-81ED-4DB2-BD59-A6C34878D82A}">
                    <a16:rowId xmlns:a16="http://schemas.microsoft.com/office/drawing/2014/main" val="807253037"/>
                  </a:ext>
                </a:extLst>
              </a:tr>
              <a:tr h="416404">
                <a:tc>
                  <a:txBody>
                    <a:bodyPr/>
                    <a:lstStyle/>
                    <a:p>
                      <a:pPr marL="0" algn="l" defTabSz="914400" rtl="0" eaLnBrk="1" latinLnBrk="0" hangingPunct="1"/>
                      <a:r>
                        <a:rPr lang="en-AU" sz="1200" kern="1200" dirty="0">
                          <a:solidFill>
                            <a:schemeClr val="dk1"/>
                          </a:solidFill>
                          <a:latin typeface="+mn-lt"/>
                          <a:ea typeface="+mn-ea"/>
                          <a:cs typeface="+mn-cs"/>
                        </a:rPr>
                        <a:t>Adds new assets correctly</a:t>
                      </a:r>
                    </a:p>
                  </a:txBody>
                  <a:tcPr/>
                </a:tc>
                <a:tc>
                  <a:txBody>
                    <a:bodyPr/>
                    <a:lstStyle/>
                    <a:p>
                      <a:endParaRPr lang="en-AU" sz="1200" dirty="0"/>
                    </a:p>
                  </a:txBody>
                  <a:tcPr/>
                </a:tc>
                <a:extLst>
                  <a:ext uri="{0D108BD9-81ED-4DB2-BD59-A6C34878D82A}">
                    <a16:rowId xmlns:a16="http://schemas.microsoft.com/office/drawing/2014/main" val="3965922008"/>
                  </a:ext>
                </a:extLst>
              </a:tr>
            </a:tbl>
          </a:graphicData>
        </a:graphic>
      </p:graphicFrame>
    </p:spTree>
    <p:extLst>
      <p:ext uri="{BB962C8B-B14F-4D97-AF65-F5344CB8AC3E}">
        <p14:creationId xmlns:p14="http://schemas.microsoft.com/office/powerpoint/2010/main" val="4142188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67EF3-C894-68A1-BB6E-B6FDA2D528AD}"/>
              </a:ext>
            </a:extLst>
          </p:cNvPr>
          <p:cNvSpPr>
            <a:spLocks noGrp="1"/>
          </p:cNvSpPr>
          <p:nvPr>
            <p:ph type="title"/>
          </p:nvPr>
        </p:nvSpPr>
        <p:spPr/>
        <p:txBody>
          <a:bodyPr/>
          <a:lstStyle/>
          <a:p>
            <a:r>
              <a:rPr lang="en-AU" dirty="0"/>
              <a:t>Addressing Losses </a:t>
            </a:r>
          </a:p>
        </p:txBody>
      </p:sp>
      <p:sp>
        <p:nvSpPr>
          <p:cNvPr id="5" name="Content Placeholder 2">
            <a:extLst>
              <a:ext uri="{FF2B5EF4-FFF2-40B4-BE49-F238E27FC236}">
                <a16:creationId xmlns:a16="http://schemas.microsoft.com/office/drawing/2014/main" id="{BE6DA456-DAA5-432A-524E-8B8CE8AFCAC0}"/>
              </a:ext>
            </a:extLst>
          </p:cNvPr>
          <p:cNvSpPr>
            <a:spLocks noGrp="1"/>
          </p:cNvSpPr>
          <p:nvPr>
            <p:ph idx="1"/>
          </p:nvPr>
        </p:nvSpPr>
        <p:spPr>
          <a:xfrm>
            <a:off x="838199" y="980729"/>
            <a:ext cx="4536251" cy="3168351"/>
          </a:xfrm>
        </p:spPr>
        <p:txBody>
          <a:bodyPr/>
          <a:lstStyle/>
          <a:p>
            <a:pPr marL="0" indent="0">
              <a:buNone/>
            </a:pPr>
            <a:r>
              <a:rPr lang="en-AU" sz="1400" b="1" dirty="0"/>
              <a:t>Phone Naming Issue</a:t>
            </a:r>
          </a:p>
          <a:p>
            <a:r>
              <a:rPr lang="en-AU" sz="1100" dirty="0"/>
              <a:t>Currently most iPhones are named iPhone, this may create an issue as Asset Tag is intended to be unique.</a:t>
            </a:r>
          </a:p>
          <a:p>
            <a:r>
              <a:rPr lang="en-AU" sz="1100" dirty="0"/>
              <a:t>This is the major issue and Vijay is happy to test in Production once this issue is resolved.</a:t>
            </a:r>
          </a:p>
          <a:p>
            <a:pPr marL="0" indent="0">
              <a:buNone/>
            </a:pPr>
            <a:r>
              <a:rPr lang="en-AU" sz="1100" dirty="0"/>
              <a:t>Proposed Band-aid</a:t>
            </a:r>
          </a:p>
          <a:p>
            <a:r>
              <a:rPr lang="en-AU" sz="1100" dirty="0"/>
              <a:t>Add some user data to the asset tag field in the code to make this variable unique.</a:t>
            </a:r>
          </a:p>
          <a:p>
            <a:pPr marL="0" indent="0">
              <a:buNone/>
            </a:pPr>
            <a:r>
              <a:rPr lang="en-AU" sz="1100" dirty="0"/>
              <a:t>Proposed Solution</a:t>
            </a:r>
          </a:p>
          <a:p>
            <a:r>
              <a:rPr lang="en-AU" sz="1100" dirty="0"/>
              <a:t>Manage names of phones in a similar way we manage computer names Intune.</a:t>
            </a:r>
          </a:p>
          <a:p>
            <a:r>
              <a:rPr lang="en-AU" sz="1100" dirty="0"/>
              <a:t>Remove Band-aid solution</a:t>
            </a:r>
            <a:endParaRPr lang="en-AU" dirty="0"/>
          </a:p>
        </p:txBody>
      </p:sp>
      <p:sp>
        <p:nvSpPr>
          <p:cNvPr id="6" name="Content Placeholder 2">
            <a:extLst>
              <a:ext uri="{FF2B5EF4-FFF2-40B4-BE49-F238E27FC236}">
                <a16:creationId xmlns:a16="http://schemas.microsoft.com/office/drawing/2014/main" id="{7BB18AD0-0F6E-AA0B-E22C-84D74B024669}"/>
              </a:ext>
            </a:extLst>
          </p:cNvPr>
          <p:cNvSpPr txBox="1">
            <a:spLocks/>
          </p:cNvSpPr>
          <p:nvPr/>
        </p:nvSpPr>
        <p:spPr bwMode="auto">
          <a:xfrm>
            <a:off x="5374447" y="4149080"/>
            <a:ext cx="5979351" cy="172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Ongoing Support</a:t>
            </a:r>
          </a:p>
          <a:p>
            <a:r>
              <a:rPr lang="en-AU" sz="1100" dirty="0"/>
              <a:t>Currently script contains over 300 lines of code.</a:t>
            </a:r>
          </a:p>
          <a:p>
            <a:r>
              <a:rPr lang="en-AU" sz="1100" dirty="0"/>
              <a:t>Typically service desk members will not be required to have the proficiency to maintain this.</a:t>
            </a:r>
          </a:p>
          <a:p>
            <a:r>
              <a:rPr lang="en-AU" sz="1100" dirty="0"/>
              <a:t>Increasing complexity and scope means more code and more areas to maintain.</a:t>
            </a:r>
          </a:p>
          <a:p>
            <a:pPr marL="0" indent="0">
              <a:buNone/>
            </a:pPr>
            <a:endParaRPr lang="en-AU" dirty="0"/>
          </a:p>
        </p:txBody>
      </p:sp>
      <p:sp>
        <p:nvSpPr>
          <p:cNvPr id="7" name="Content Placeholder 2">
            <a:extLst>
              <a:ext uri="{FF2B5EF4-FFF2-40B4-BE49-F238E27FC236}">
                <a16:creationId xmlns:a16="http://schemas.microsoft.com/office/drawing/2014/main" id="{B21543B8-84DB-AE40-B346-D717B42FE3E9}"/>
              </a:ext>
            </a:extLst>
          </p:cNvPr>
          <p:cNvSpPr txBox="1">
            <a:spLocks/>
          </p:cNvSpPr>
          <p:nvPr/>
        </p:nvSpPr>
        <p:spPr bwMode="auto">
          <a:xfrm>
            <a:off x="5374448" y="980728"/>
            <a:ext cx="5979351" cy="2304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Other Assets </a:t>
            </a:r>
          </a:p>
          <a:p>
            <a:r>
              <a:rPr lang="en-AU" sz="1100" dirty="0"/>
              <a:t>Current Priority Is Phones and computers and this has been met.</a:t>
            </a:r>
          </a:p>
          <a:p>
            <a:r>
              <a:rPr lang="en-AU" sz="1100" dirty="0"/>
              <a:t>The inclusion of monitors will be investigated once the HP Display.. The project has been completed and available data is accessible.</a:t>
            </a:r>
          </a:p>
          <a:p>
            <a:r>
              <a:rPr lang="en-AU" sz="1100" dirty="0"/>
              <a:t>All Other assets </a:t>
            </a:r>
            <a:r>
              <a:rPr lang="en-AU" sz="1100" dirty="0" err="1"/>
              <a:t>ie</a:t>
            </a:r>
            <a:r>
              <a:rPr lang="en-AU" sz="1100" dirty="0"/>
              <a:t> Crestron units and Headsets </a:t>
            </a:r>
            <a:r>
              <a:rPr lang="en-AU" sz="1100" dirty="0" err="1"/>
              <a:t>ect</a:t>
            </a:r>
            <a:r>
              <a:rPr lang="en-AU" sz="1100" dirty="0"/>
              <a:t>, will require a datasheet that meets the following criteria.</a:t>
            </a:r>
          </a:p>
          <a:p>
            <a:pPr lvl="1"/>
            <a:r>
              <a:rPr lang="en-AU" sz="1100" dirty="0"/>
              <a:t>Data must be accessible immediately to any service desk member for routine task.</a:t>
            </a:r>
          </a:p>
          <a:p>
            <a:pPr lvl="1"/>
            <a:r>
              <a:rPr lang="en-AU" sz="1100" dirty="0"/>
              <a:t>Data must be accurate and passible by PowerShell without manual transformation.</a:t>
            </a:r>
          </a:p>
          <a:p>
            <a:pPr lvl="1"/>
            <a:endParaRPr lang="en-AU" sz="900" dirty="0"/>
          </a:p>
          <a:p>
            <a:endParaRPr lang="en-AU" dirty="0"/>
          </a:p>
        </p:txBody>
      </p:sp>
      <p:sp>
        <p:nvSpPr>
          <p:cNvPr id="8" name="Content Placeholder 2">
            <a:extLst>
              <a:ext uri="{FF2B5EF4-FFF2-40B4-BE49-F238E27FC236}">
                <a16:creationId xmlns:a16="http://schemas.microsoft.com/office/drawing/2014/main" id="{55D8D426-58FB-68B1-1763-78E20C4BE54A}"/>
              </a:ext>
            </a:extLst>
          </p:cNvPr>
          <p:cNvSpPr txBox="1">
            <a:spLocks/>
          </p:cNvSpPr>
          <p:nvPr/>
        </p:nvSpPr>
        <p:spPr bwMode="auto">
          <a:xfrm>
            <a:off x="838198" y="4149080"/>
            <a:ext cx="4536251" cy="1884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90000"/>
              </a:lnSpc>
              <a:spcBef>
                <a:spcPts val="1000"/>
              </a:spcBef>
              <a:spcAft>
                <a:spcPct val="0"/>
              </a:spcAft>
              <a:buFont typeface="Arial" charset="0"/>
              <a:buChar char="•"/>
              <a:defRPr sz="20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18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16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sz="14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400" b="1" dirty="0"/>
              <a:t>Missing PO, assigned date, and Cost Fields</a:t>
            </a:r>
          </a:p>
          <a:p>
            <a:r>
              <a:rPr lang="en-AU" sz="1100" dirty="0"/>
              <a:t>Looking at pulling PO numbers from Intune Autopilot Devices. </a:t>
            </a:r>
          </a:p>
          <a:p>
            <a:r>
              <a:rPr lang="en-AU" sz="1100" dirty="0"/>
              <a:t>Still investigating other data sources for the other fields,</a:t>
            </a:r>
          </a:p>
          <a:p>
            <a:r>
              <a:rPr lang="en-AU" sz="1100" dirty="0"/>
              <a:t>Data sources must be clean, accurate, and easy to import into PowerShell objects without manual transformation. </a:t>
            </a:r>
          </a:p>
          <a:p>
            <a:pPr marL="0" indent="0">
              <a:buNone/>
            </a:pPr>
            <a:endParaRPr lang="en-AU" dirty="0"/>
          </a:p>
        </p:txBody>
      </p:sp>
    </p:spTree>
    <p:extLst>
      <p:ext uri="{BB962C8B-B14F-4D97-AF65-F5344CB8AC3E}">
        <p14:creationId xmlns:p14="http://schemas.microsoft.com/office/powerpoint/2010/main" val="1242019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BB1AC-0D50-66CD-4FAC-A5FA3C7579B6}"/>
              </a:ext>
            </a:extLst>
          </p:cNvPr>
          <p:cNvSpPr>
            <a:spLocks noGrp="1"/>
          </p:cNvSpPr>
          <p:nvPr>
            <p:ph type="title"/>
          </p:nvPr>
        </p:nvSpPr>
        <p:spPr/>
        <p:txBody>
          <a:bodyPr/>
          <a:lstStyle/>
          <a:p>
            <a:r>
              <a:rPr lang="en-AU" dirty="0"/>
              <a:t>Next Planned Steps</a:t>
            </a:r>
          </a:p>
        </p:txBody>
      </p:sp>
      <p:sp>
        <p:nvSpPr>
          <p:cNvPr id="3" name="Content Placeholder 2">
            <a:extLst>
              <a:ext uri="{FF2B5EF4-FFF2-40B4-BE49-F238E27FC236}">
                <a16:creationId xmlns:a16="http://schemas.microsoft.com/office/drawing/2014/main" id="{58457B51-0A58-E25C-A23C-00DE1A76594B}"/>
              </a:ext>
            </a:extLst>
          </p:cNvPr>
          <p:cNvSpPr>
            <a:spLocks noGrp="1"/>
          </p:cNvSpPr>
          <p:nvPr>
            <p:ph idx="1"/>
          </p:nvPr>
        </p:nvSpPr>
        <p:spPr>
          <a:xfrm>
            <a:off x="838200" y="980729"/>
            <a:ext cx="5257800" cy="3987511"/>
          </a:xfrm>
        </p:spPr>
        <p:txBody>
          <a:bodyPr/>
          <a:lstStyle/>
          <a:p>
            <a:r>
              <a:rPr lang="en-AU" sz="1400" dirty="0"/>
              <a:t>Band-aid phone naming issue.</a:t>
            </a:r>
          </a:p>
          <a:p>
            <a:r>
              <a:rPr lang="en-AU" sz="1400" dirty="0"/>
              <a:t>Create exception Handling for missing input files.</a:t>
            </a:r>
          </a:p>
          <a:p>
            <a:r>
              <a:rPr lang="en-AU" sz="1400" dirty="0"/>
              <a:t>Review response from Microsoft regarding the last logged on user.</a:t>
            </a:r>
          </a:p>
          <a:p>
            <a:r>
              <a:rPr lang="en-AU" sz="1400" dirty="0"/>
              <a:t>Follow up with Intune phone naming solution proposal.</a:t>
            </a:r>
          </a:p>
          <a:p>
            <a:r>
              <a:rPr lang="en-AU" sz="1400" dirty="0"/>
              <a:t>Create end-user documentation including support manual and use procedure.</a:t>
            </a:r>
          </a:p>
          <a:p>
            <a:r>
              <a:rPr lang="en-AU" sz="1400" dirty="0"/>
              <a:t>Have a different service desk member test the procedure in Dev and identify user requirements </a:t>
            </a:r>
            <a:r>
              <a:rPr lang="en-AU" sz="1400" dirty="0" err="1"/>
              <a:t>i.e</a:t>
            </a:r>
            <a:r>
              <a:rPr lang="en-AU" sz="1400" dirty="0"/>
              <a:t> permissions and PowerShell modules.</a:t>
            </a:r>
          </a:p>
          <a:p>
            <a:r>
              <a:rPr lang="en-AU" sz="1400" dirty="0"/>
              <a:t>Have work peer-reviewed by both business systems and Infrastructure.</a:t>
            </a:r>
          </a:p>
          <a:p>
            <a:r>
              <a:rPr lang="en-AU" sz="1400" dirty="0"/>
              <a:t>Create change task</a:t>
            </a:r>
          </a:p>
          <a:p>
            <a:endParaRPr lang="en-AU" dirty="0"/>
          </a:p>
          <a:p>
            <a:endParaRPr lang="en-AU" dirty="0"/>
          </a:p>
        </p:txBody>
      </p:sp>
    </p:spTree>
    <p:extLst>
      <p:ext uri="{BB962C8B-B14F-4D97-AF65-F5344CB8AC3E}">
        <p14:creationId xmlns:p14="http://schemas.microsoft.com/office/powerpoint/2010/main" val="370698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4EA6FF5D9B274F9B14E2D5A664A837" ma:contentTypeVersion="16" ma:contentTypeDescription="Create a new document." ma:contentTypeScope="" ma:versionID="eea24480f4a880a39205568098e93603">
  <xsd:schema xmlns:xsd="http://www.w3.org/2001/XMLSchema" xmlns:xs="http://www.w3.org/2001/XMLSchema" xmlns:p="http://schemas.microsoft.com/office/2006/metadata/properties" xmlns:ns2="3924b71c-c110-48ea-bc51-2f03443883fd" xmlns:ns3="a7130040-a85f-40f6-8ab2-b11de916c767" targetNamespace="http://schemas.microsoft.com/office/2006/metadata/properties" ma:root="true" ma:fieldsID="4c7cd77b949086b1279d6a5eeabc8d95" ns2:_="" ns3:_="">
    <xsd:import namespace="3924b71c-c110-48ea-bc51-2f03443883fd"/>
    <xsd:import namespace="a7130040-a85f-40f6-8ab2-b11de916c76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Location" minOccurs="0"/>
                <xsd:element ref="ns2:MediaServiceOCR"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24b71c-c110-48ea-bc51-2f03443883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Location" ma:index="19" nillable="true" ma:displayName="Location"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a4b4f5b-7e7f-40ab-b7ea-a5809ffe5225"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7130040-a85f-40f6-8ab2-b11de916c76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23888e1-35fc-4571-b63e-221b2e37f53b}" ma:internalName="TaxCatchAll" ma:showField="CatchAllData" ma:web="a7130040-a85f-40f6-8ab2-b11de916c76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924b71c-c110-48ea-bc51-2f03443883fd">
      <Terms xmlns="http://schemas.microsoft.com/office/infopath/2007/PartnerControls"/>
    </lcf76f155ced4ddcb4097134ff3c332f>
    <TaxCatchAll xmlns="a7130040-a85f-40f6-8ab2-b11de916c767" xsi:nil="true"/>
  </documentManagement>
</p:properties>
</file>

<file path=customXml/itemProps1.xml><?xml version="1.0" encoding="utf-8"?>
<ds:datastoreItem xmlns:ds="http://schemas.openxmlformats.org/officeDocument/2006/customXml" ds:itemID="{5465C475-BE81-4DC0-8F74-49CA37B0C40A}"/>
</file>

<file path=customXml/itemProps2.xml><?xml version="1.0" encoding="utf-8"?>
<ds:datastoreItem xmlns:ds="http://schemas.openxmlformats.org/officeDocument/2006/customXml" ds:itemID="{FC423E9F-CB11-4631-B8B9-7A5B2020038D}"/>
</file>

<file path=customXml/itemProps3.xml><?xml version="1.0" encoding="utf-8"?>
<ds:datastoreItem xmlns:ds="http://schemas.openxmlformats.org/officeDocument/2006/customXml" ds:itemID="{FC0E1905-68B0-44CB-9643-06058BB8A804}"/>
</file>

<file path=docProps/app.xml><?xml version="1.0" encoding="utf-8"?>
<Properties xmlns="http://schemas.openxmlformats.org/officeDocument/2006/extended-properties" xmlns:vt="http://schemas.openxmlformats.org/officeDocument/2006/docPropsVTypes">
  <TotalTime>155</TotalTime>
  <Words>2011</Words>
  <Application>Microsoft Office PowerPoint</Application>
  <PresentationFormat>Widescreen</PresentationFormat>
  <Paragraphs>265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Intune Snow asset Import </vt:lpstr>
      <vt:lpstr>Business Problem</vt:lpstr>
      <vt:lpstr>Stake Holders</vt:lpstr>
      <vt:lpstr>Project at Current State vs Stake Holders Requirements</vt:lpstr>
      <vt:lpstr>End user Process for Current Stage</vt:lpstr>
      <vt:lpstr>PowerPoint Presentation</vt:lpstr>
      <vt:lpstr>Hard Code Transformations</vt:lpstr>
      <vt:lpstr>Testing</vt:lpstr>
      <vt:lpstr>Addressing Losses </vt:lpstr>
      <vt:lpstr>Next Planned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 Gallehawk</dc:creator>
  <cp:lastModifiedBy>Mat Gallehawk</cp:lastModifiedBy>
  <cp:revision>1</cp:revision>
  <dcterms:created xsi:type="dcterms:W3CDTF">2023-05-17T00:36:09Z</dcterms:created>
  <dcterms:modified xsi:type="dcterms:W3CDTF">2023-05-17T03:11:32Z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0x010100EF4EA6FF5D9B274F9B14E2D5A664A837</vt:lpwstr>
  </property>
</Properties>
</file>