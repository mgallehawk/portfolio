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4"/>
  </p:sldMasterIdLst>
  <p:notesMasterIdLst>
    <p:notesMasterId r:id="rId7"/>
  </p:notesMasterIdLst>
  <p:sldIdLst>
    <p:sldId id="301" r:id="rId5"/>
    <p:sldId id="303" r:id="rId6"/>
  </p:sldIdLst>
  <p:sldSz cx="9144000" cy="6858000" type="screen4x3"/>
  <p:notesSz cx="6799263" cy="9929813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6DCE6"/>
    <a:srgbClr val="FF5050"/>
    <a:srgbClr val="A50021"/>
    <a:srgbClr val="CC0000"/>
    <a:srgbClr val="FF3399"/>
    <a:srgbClr val="FF9900"/>
    <a:srgbClr val="99FF99"/>
    <a:srgbClr val="0033CC"/>
    <a:srgbClr val="CC00CC"/>
    <a:srgbClr val="00B0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89EE9-01AB-4639-9E13-EF5635CCCC96}" v="3" dt="2020-08-20T06:39:38.301"/>
    <p1510:client id="{10B698CD-7F66-9809-76F2-A6DA43272512}" v="6" dt="2021-05-13T01:45:19.4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1"/>
          <p:cNvSpPr>
            <a:spLocks noChangeArrowheads="1"/>
          </p:cNvSpPr>
          <p:nvPr/>
        </p:nvSpPr>
        <p:spPr bwMode="auto">
          <a:xfrm>
            <a:off x="0" y="1"/>
            <a:ext cx="6799263" cy="99298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58" tIns="45729" rIns="91458" bIns="45729" anchor="ctr"/>
          <a:lstStyle/>
          <a:p>
            <a:endParaRPr lang="en-AU"/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0" y="0"/>
            <a:ext cx="2947777" cy="496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58" tIns="45729" rIns="91458" bIns="45729" anchor="ctr"/>
          <a:lstStyle/>
          <a:p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51486" y="0"/>
            <a:ext cx="2946188" cy="49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18" tIns="46809" rIns="90018" bIns="46809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583" algn="l"/>
                <a:tab pos="1829166" algn="l"/>
                <a:tab pos="2743749" algn="l"/>
                <a:tab pos="3658332" algn="l"/>
                <a:tab pos="4572914" algn="l"/>
                <a:tab pos="5487497" algn="l"/>
                <a:tab pos="6402080" algn="l"/>
                <a:tab pos="7316663" algn="l"/>
                <a:tab pos="8231246" algn="l"/>
                <a:tab pos="9145829" algn="l"/>
                <a:tab pos="10060412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9941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19163" y="744538"/>
            <a:ext cx="4960937" cy="3721100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79768" y="4717218"/>
            <a:ext cx="5439728" cy="4466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18" tIns="46809" rIns="90018" bIns="4680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0" y="9431259"/>
            <a:ext cx="2947777" cy="496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58" tIns="45729" rIns="91458" bIns="45729" anchor="ctr"/>
          <a:lstStyle/>
          <a:p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51486" y="9431258"/>
            <a:ext cx="2946188" cy="49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18" tIns="46809" rIns="90018" bIns="46809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583" algn="l"/>
                <a:tab pos="1829166" algn="l"/>
                <a:tab pos="2743749" algn="l"/>
                <a:tab pos="3658332" algn="l"/>
                <a:tab pos="4572914" algn="l"/>
                <a:tab pos="5487497" algn="l"/>
                <a:tab pos="6402080" algn="l"/>
                <a:tab pos="7316663" algn="l"/>
                <a:tab pos="8231246" algn="l"/>
                <a:tab pos="9145829" algn="l"/>
                <a:tab pos="10060412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fld id="{B2648A16-E134-4B8A-8E0B-E67E8027D83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7812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iting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50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61042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600" y="5424835"/>
            <a:ext cx="6858000" cy="398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90D6ED98-98A9-431F-A354-964E57644AAB}" type="datetimeFigureOut">
              <a:rPr lang="en-AU"/>
              <a:pPr>
                <a:defRPr/>
              </a:pPr>
              <a:t>20/04/2023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971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471587"/>
          </a:xfrm>
        </p:spPr>
        <p:txBody>
          <a:bodyPr/>
          <a:lstStyle>
            <a:lvl1pPr>
              <a:defRPr sz="24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886700" cy="51962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4438" y="6542088"/>
            <a:ext cx="144938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20/04/2023</a:t>
            </a:fld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92888" y="6542088"/>
            <a:ext cx="92233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86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1447800" y="3892550"/>
            <a:ext cx="249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DINO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DINO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DINO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DINO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DINO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buNone/>
              <a:defRPr/>
            </a:pPr>
            <a:r>
              <a:rPr lang="en-US" sz="4000">
                <a:solidFill>
                  <a:prstClr val="black"/>
                </a:solidFill>
                <a:latin typeface="+mj-lt"/>
                <a:ea typeface="+mn-ea"/>
                <a:cs typeface="Arial" pitchFamily="34" charset="0"/>
              </a:rPr>
              <a:t>Thank You</a:t>
            </a:r>
            <a:endParaRPr lang="en-AU" sz="4000">
              <a:solidFill>
                <a:prstClr val="black"/>
              </a:solidFill>
              <a:latin typeface="+mj-lt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5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C8ABA3-2CFE-4914-BD55-C3414EA44363}" type="datetimeFigureOut">
              <a:rPr lang="en-AU"/>
              <a:pPr>
                <a:defRPr/>
              </a:pPr>
              <a:t>20/04/2023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A4CD63-EB59-409A-A92C-0520842419C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18" Type="http://schemas.openxmlformats.org/officeDocument/2006/relationships/image" Target="../media/image2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19.sv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19" Type="http://schemas.openxmlformats.org/officeDocument/2006/relationships/image" Target="../media/image21.sv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880" y="60082"/>
            <a:ext cx="8343326" cy="445074"/>
          </a:xfrm>
        </p:spPr>
        <p:txBody>
          <a:bodyPr/>
          <a:lstStyle/>
          <a:p>
            <a:r>
              <a:rPr lang="en-AU">
                <a:latin typeface="+mj-lt"/>
              </a:rPr>
              <a:t>I – 143 Sing</a:t>
            </a:r>
            <a:r>
              <a:rPr lang="en-AU"/>
              <a:t>le Sign On</a:t>
            </a:r>
            <a:endParaRPr lang="en-AU" sz="110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0348E2-0941-4277-9193-50D50D3F569B}"/>
              </a:ext>
            </a:extLst>
          </p:cNvPr>
          <p:cNvSpPr/>
          <p:nvPr/>
        </p:nvSpPr>
        <p:spPr bwMode="auto">
          <a:xfrm>
            <a:off x="138796" y="785514"/>
            <a:ext cx="2727530" cy="1908450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Use of a single user identity/login for access to G.James ICT platforms and systems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</a:rPr>
              <a:t>Standardisation of both password composition and expiration policies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</a:rPr>
              <a:t>More robust systems security in line with industry best practices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</a:rPr>
              <a:t>Streamlining of user account onboarding / offboarding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endParaRPr lang="en-AU" sz="1000">
              <a:solidFill>
                <a:srgbClr val="292934"/>
              </a:solidFill>
            </a:endParaRP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endParaRPr lang="en-AU" sz="1000">
              <a:solidFill>
                <a:srgbClr val="29293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71B0FC-BFDF-49D6-99C0-CE1CD83C76DD}"/>
              </a:ext>
            </a:extLst>
          </p:cNvPr>
          <p:cNvSpPr/>
          <p:nvPr/>
        </p:nvSpPr>
        <p:spPr bwMode="auto">
          <a:xfrm>
            <a:off x="138795" y="533485"/>
            <a:ext cx="2727529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Business Need, Objectives &amp; Benefits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F9CBF2-7FB4-4903-91B3-A16425BE62A1}"/>
              </a:ext>
            </a:extLst>
          </p:cNvPr>
          <p:cNvSpPr/>
          <p:nvPr/>
        </p:nvSpPr>
        <p:spPr bwMode="auto">
          <a:xfrm>
            <a:off x="2990027" y="785514"/>
            <a:ext cx="1360300" cy="1908450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Scope Inclusion: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crosoft 365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Oracle EBS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Citrix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V6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EPICS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endParaRPr lang="en-AU" sz="1000">
              <a:solidFill>
                <a:srgbClr val="292934"/>
              </a:solidFill>
              <a:latin typeface="Roboto Condensed 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29FECB-2926-4147-A517-35A4F95BDEB1}"/>
              </a:ext>
            </a:extLst>
          </p:cNvPr>
          <p:cNvSpPr/>
          <p:nvPr/>
        </p:nvSpPr>
        <p:spPr bwMode="auto">
          <a:xfrm>
            <a:off x="2990027" y="533485"/>
            <a:ext cx="2834406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Scope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DAF16B1-792A-4E8E-893D-A43BAECF5866}"/>
              </a:ext>
            </a:extLst>
          </p:cNvPr>
          <p:cNvSpPr/>
          <p:nvPr/>
        </p:nvSpPr>
        <p:spPr bwMode="auto">
          <a:xfrm>
            <a:off x="5948134" y="528093"/>
            <a:ext cx="3069849" cy="252028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Key Stakeholders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56859B0-368B-4C06-B39E-98269D0EBB8B}"/>
              </a:ext>
            </a:extLst>
          </p:cNvPr>
          <p:cNvSpPr/>
          <p:nvPr/>
        </p:nvSpPr>
        <p:spPr bwMode="auto">
          <a:xfrm>
            <a:off x="5956993" y="777796"/>
            <a:ext cx="3059740" cy="1908451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Executive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:		&lt;GM&gt;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PM / Business Lead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:	&lt;Name&gt;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Contributing Division(s): 	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&lt;Engineering&gt;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			&lt;Finance&gt;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			&lt;ICT&gt;	</a:t>
            </a: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Team member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:		&lt;Name&gt;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			&lt;Name&gt;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			&lt;Name&gt;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			&lt;Name&gt;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5A28A0-C0CF-4BA8-84A6-59AB5CE4DE78}"/>
              </a:ext>
            </a:extLst>
          </p:cNvPr>
          <p:cNvSpPr/>
          <p:nvPr/>
        </p:nvSpPr>
        <p:spPr bwMode="auto">
          <a:xfrm>
            <a:off x="113235" y="2740282"/>
            <a:ext cx="2753089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Planning Considerations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BCBB94-621E-4A5D-A9CC-E2AA6A224536}"/>
              </a:ext>
            </a:extLst>
          </p:cNvPr>
          <p:cNvSpPr/>
          <p:nvPr/>
        </p:nvSpPr>
        <p:spPr bwMode="auto">
          <a:xfrm>
            <a:off x="2985934" y="2740282"/>
            <a:ext cx="2834406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Delivery Approach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07DA12-BC88-45FB-AB29-5D6C931A90A7}"/>
              </a:ext>
            </a:extLst>
          </p:cNvPr>
          <p:cNvSpPr/>
          <p:nvPr/>
        </p:nvSpPr>
        <p:spPr bwMode="auto">
          <a:xfrm>
            <a:off x="105916" y="2979879"/>
            <a:ext cx="2753090" cy="2108304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Estimated start date</a:t>
            </a:r>
            <a:endParaRPr lang="en-AU" sz="8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  <a:p>
            <a:pPr marL="171450" indent="-171450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800">
                <a:solidFill>
                  <a:srgbClr val="292934"/>
                </a:solidFill>
                <a:latin typeface="Roboto Condensed Light"/>
              </a:rPr>
              <a:t>3-6 months</a:t>
            </a:r>
          </a:p>
          <a:p>
            <a:pPr>
              <a:spcAft>
                <a:spcPts val="400"/>
              </a:spcAft>
              <a:defRPr/>
            </a:pPr>
            <a:r>
              <a:rPr lang="en-AU" sz="800">
                <a:solidFill>
                  <a:srgbClr val="292934"/>
                </a:solidFill>
                <a:latin typeface="Roboto Condensed Light"/>
              </a:rPr>
              <a:t>Prerequisites</a:t>
            </a:r>
            <a:endParaRPr lang="en-AU" sz="800"/>
          </a:p>
          <a:p>
            <a:pPr marL="171450" indent="-171450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800">
                <a:solidFill>
                  <a:srgbClr val="292934"/>
                </a:solidFill>
                <a:latin typeface="Roboto Condensed Light"/>
              </a:rPr>
              <a:t>Licenses required for Oracle SSO tools</a:t>
            </a: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Assumptions</a:t>
            </a:r>
            <a:endParaRPr lang="en-AU" sz="8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  <a:p>
            <a:pPr marL="171450" indent="-171450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800">
                <a:solidFill>
                  <a:srgbClr val="292934"/>
                </a:solidFill>
                <a:latin typeface="Roboto Condensed Light"/>
              </a:rPr>
              <a:t>Rimini St archive contains required patches</a:t>
            </a: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Constraints - Time</a:t>
            </a:r>
            <a:endParaRPr lang="en-AU" sz="8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Risks / Issues</a:t>
            </a:r>
            <a:endParaRPr lang="en-AU" sz="8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External dependencies</a:t>
            </a:r>
            <a:endParaRPr lang="en-AU" sz="8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Change Impact</a:t>
            </a:r>
            <a:endParaRPr lang="en-AU" sz="8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Estimated Cost</a:t>
            </a:r>
            <a:endParaRPr lang="en-AU" sz="8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B5F796-2812-4AA7-8386-3F1516DEB3E2}"/>
              </a:ext>
            </a:extLst>
          </p:cNvPr>
          <p:cNvSpPr/>
          <p:nvPr/>
        </p:nvSpPr>
        <p:spPr bwMode="auto">
          <a:xfrm>
            <a:off x="2991157" y="2988625"/>
            <a:ext cx="2834406" cy="2124982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marL="171450" indent="-171450">
              <a:buFont typeface="Arial,Sans-Serif"/>
              <a:buChar char="•"/>
              <a:defRPr/>
            </a:pPr>
            <a:r>
              <a:rPr lang="en-AU" sz="1000" i="1">
                <a:solidFill>
                  <a:srgbClr val="292934"/>
                </a:solidFill>
                <a:ea typeface="+mn-lt"/>
                <a:cs typeface="+mn-lt"/>
              </a:rPr>
              <a:t>Analyse capability of in-scope systems to support</a:t>
            </a:r>
            <a:r>
              <a:rPr lang="en-US" sz="1000" i="1">
                <a:solidFill>
                  <a:srgbClr val="292934"/>
                </a:solidFill>
                <a:ea typeface="+mn-lt"/>
                <a:cs typeface="+mn-lt"/>
              </a:rPr>
              <a:t> SSO</a:t>
            </a:r>
            <a:endParaRPr lang="en-US" sz="1000">
              <a:ea typeface="+mn-lt"/>
              <a:cs typeface="+mn-lt"/>
            </a:endParaRPr>
          </a:p>
          <a:p>
            <a:pPr marL="171450" indent="-171450">
              <a:buFont typeface="Arial,Sans-Serif"/>
              <a:buChar char="•"/>
              <a:defRPr/>
            </a:pPr>
            <a:r>
              <a:rPr lang="en-US" sz="1000" i="1">
                <a:solidFill>
                  <a:srgbClr val="292934"/>
                </a:solidFill>
                <a:ea typeface="+mn-lt"/>
                <a:cs typeface="+mn-lt"/>
              </a:rPr>
              <a:t>Create implementation plan for each supported system</a:t>
            </a:r>
          </a:p>
          <a:p>
            <a:pPr marL="171450" indent="-171450">
              <a:buFont typeface="Arial,Sans-Serif"/>
              <a:buChar char="•"/>
              <a:defRPr/>
            </a:pPr>
            <a:r>
              <a:rPr lang="en-US" sz="1000" i="1">
                <a:solidFill>
                  <a:srgbClr val="292934"/>
                </a:solidFill>
                <a:ea typeface="+mn-lt"/>
                <a:cs typeface="+mn-lt"/>
              </a:rPr>
              <a:t>Create testing plan to cover impacted functionality e.g. systems integration</a:t>
            </a:r>
          </a:p>
          <a:p>
            <a:pPr marL="171450" indent="-171450">
              <a:buFont typeface="Arial,Sans-Serif"/>
              <a:buChar char="•"/>
              <a:defRPr/>
            </a:pPr>
            <a:r>
              <a:rPr lang="en-US" sz="1000" i="1">
                <a:solidFill>
                  <a:srgbClr val="292934"/>
                </a:solidFill>
                <a:ea typeface="+mn-lt"/>
                <a:cs typeface="+mn-lt"/>
              </a:rPr>
              <a:t>Execute implementation plan in 'non-prod' instances</a:t>
            </a:r>
          </a:p>
          <a:p>
            <a:pPr marL="171450" indent="-171450">
              <a:buFont typeface="Arial,Sans-Serif"/>
              <a:buChar char="•"/>
              <a:defRPr/>
            </a:pPr>
            <a:r>
              <a:rPr lang="en-US" sz="1000" i="1">
                <a:solidFill>
                  <a:srgbClr val="292934"/>
                </a:solidFill>
                <a:ea typeface="+mn-lt"/>
                <a:cs typeface="+mn-lt"/>
              </a:rPr>
              <a:t>Execute regression testing in non-prod </a:t>
            </a:r>
          </a:p>
          <a:p>
            <a:pPr marL="171450" indent="-171450">
              <a:buFont typeface="Arial,Sans-Serif"/>
              <a:buChar char="•"/>
              <a:defRPr/>
            </a:pPr>
            <a:r>
              <a:rPr lang="en-AU" sz="1000" i="1">
                <a:solidFill>
                  <a:srgbClr val="292934"/>
                </a:solidFill>
                <a:ea typeface="+mn-lt"/>
                <a:cs typeface="+mn-lt"/>
              </a:rPr>
              <a:t>Training</a:t>
            </a:r>
            <a:endParaRPr lang="en-US" sz="1000">
              <a:ea typeface="+mn-lt"/>
              <a:cs typeface="+mn-lt"/>
            </a:endParaRPr>
          </a:p>
          <a:p>
            <a:pPr marL="171450" indent="-171450">
              <a:buFont typeface="Arial,Sans-Serif"/>
              <a:buChar char="•"/>
              <a:defRPr/>
            </a:pPr>
            <a:r>
              <a:rPr lang="en-AU" sz="1000" i="1">
                <a:solidFill>
                  <a:srgbClr val="292934"/>
                </a:solidFill>
                <a:ea typeface="+mn-lt"/>
                <a:cs typeface="+mn-lt"/>
              </a:rPr>
              <a:t>Deployment to Production instances</a:t>
            </a:r>
            <a:endParaRPr lang="en-US" sz="1000">
              <a:ea typeface="+mn-lt"/>
              <a:cs typeface="+mn-lt"/>
            </a:endParaRPr>
          </a:p>
          <a:p>
            <a:pPr marL="0" marR="0" lvl="0" indent="0" algn="l" defTabSz="449263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438A9C-EB05-4FBB-84AE-23B055BDFE77}"/>
              </a:ext>
            </a:extLst>
          </p:cNvPr>
          <p:cNvSpPr/>
          <p:nvPr/>
        </p:nvSpPr>
        <p:spPr bwMode="auto">
          <a:xfrm>
            <a:off x="5947268" y="2744549"/>
            <a:ext cx="3059740" cy="252028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Strategic Objectives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48D4801-1AD0-48D2-A40D-14F183A08C86}"/>
              </a:ext>
            </a:extLst>
          </p:cNvPr>
          <p:cNvGrpSpPr/>
          <p:nvPr/>
        </p:nvGrpSpPr>
        <p:grpSpPr>
          <a:xfrm>
            <a:off x="8103461" y="3075322"/>
            <a:ext cx="270000" cy="270000"/>
            <a:chOff x="6804248" y="6183336"/>
            <a:chExt cx="270000" cy="27000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0C677A8-FBE1-4920-BA1B-8131FB259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248" y="6183336"/>
              <a:ext cx="270000" cy="270000"/>
            </a:xfrm>
            <a:prstGeom prst="ellipse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IE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pic>
          <p:nvPicPr>
            <p:cNvPr id="52" name="Graphic 51" descr="Downward trend">
              <a:extLst>
                <a:ext uri="{FF2B5EF4-FFF2-40B4-BE49-F238E27FC236}">
                  <a16:creationId xmlns:a16="http://schemas.microsoft.com/office/drawing/2014/main" id="{E36787F5-BF88-416C-9666-BDA165634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47808" y="6226896"/>
              <a:ext cx="182880" cy="182880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FC35ACB-B69E-4D40-81AA-82F19AE8E81A}"/>
              </a:ext>
            </a:extLst>
          </p:cNvPr>
          <p:cNvGrpSpPr/>
          <p:nvPr/>
        </p:nvGrpSpPr>
        <p:grpSpPr>
          <a:xfrm>
            <a:off x="6132652" y="3079512"/>
            <a:ext cx="270000" cy="270000"/>
            <a:chOff x="2195736" y="6183336"/>
            <a:chExt cx="270000" cy="27000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D26C282-5B67-4472-830B-5852596DD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736" y="6183336"/>
              <a:ext cx="270000" cy="270000"/>
            </a:xfrm>
            <a:prstGeom prst="ellipse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IE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pic>
          <p:nvPicPr>
            <p:cNvPr id="55" name="Graphic 54" descr="Upward trend">
              <a:extLst>
                <a:ext uri="{FF2B5EF4-FFF2-40B4-BE49-F238E27FC236}">
                  <a16:creationId xmlns:a16="http://schemas.microsoft.com/office/drawing/2014/main" id="{936B1637-4FAD-4AAF-956D-76F49EB27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9296" y="6226896"/>
              <a:ext cx="182880" cy="18288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0175E41-D5EC-4CFD-B1E8-16FC8752935C}"/>
              </a:ext>
            </a:extLst>
          </p:cNvPr>
          <p:cNvGrpSpPr/>
          <p:nvPr/>
        </p:nvGrpSpPr>
        <p:grpSpPr>
          <a:xfrm>
            <a:off x="7434482" y="3079512"/>
            <a:ext cx="270000" cy="270000"/>
            <a:chOff x="4788024" y="6168459"/>
            <a:chExt cx="270000" cy="27000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F47CEAE-83D7-4642-AEB6-D3D846D89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024" y="6168459"/>
              <a:ext cx="270000" cy="270000"/>
            </a:xfrm>
            <a:prstGeom prst="ellipse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IE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pic>
          <p:nvPicPr>
            <p:cNvPr id="58" name="Graphic 57" descr="Gears">
              <a:extLst>
                <a:ext uri="{FF2B5EF4-FFF2-40B4-BE49-F238E27FC236}">
                  <a16:creationId xmlns:a16="http://schemas.microsoft.com/office/drawing/2014/main" id="{FDBDB14A-4593-448B-96B6-757DFB780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08724" y="6189159"/>
              <a:ext cx="228600" cy="2286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5D7F3F0-7093-4CCC-82CA-1EE0EB4F20D3}"/>
              </a:ext>
            </a:extLst>
          </p:cNvPr>
          <p:cNvGrpSpPr/>
          <p:nvPr/>
        </p:nvGrpSpPr>
        <p:grpSpPr>
          <a:xfrm>
            <a:off x="6795544" y="3079512"/>
            <a:ext cx="270000" cy="270000"/>
            <a:chOff x="3513524" y="6183336"/>
            <a:chExt cx="270000" cy="270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C98185E-031F-47BF-9D71-257484B42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3524" y="6183336"/>
              <a:ext cx="270000" cy="270000"/>
            </a:xfrm>
            <a:prstGeom prst="ellipse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IE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pic>
          <p:nvPicPr>
            <p:cNvPr id="61" name="Graphic 60" descr="Traffic cone">
              <a:extLst>
                <a:ext uri="{FF2B5EF4-FFF2-40B4-BE49-F238E27FC236}">
                  <a16:creationId xmlns:a16="http://schemas.microsoft.com/office/drawing/2014/main" id="{07764748-6C24-4681-A4CE-AB6669C75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534224" y="6204036"/>
              <a:ext cx="228600" cy="228600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D4D4008-E122-415F-A3EA-D1EA7B4807FA}"/>
              </a:ext>
            </a:extLst>
          </p:cNvPr>
          <p:cNvGrpSpPr/>
          <p:nvPr/>
        </p:nvGrpSpPr>
        <p:grpSpPr>
          <a:xfrm>
            <a:off x="6312055" y="4458278"/>
            <a:ext cx="2459307" cy="289632"/>
            <a:chOff x="3367373" y="2044599"/>
            <a:chExt cx="2459307" cy="289632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9DBB27E-EBC2-4F59-A8DD-FAA33DC81B17}"/>
                </a:ext>
              </a:extLst>
            </p:cNvPr>
            <p:cNvSpPr/>
            <p:nvPr/>
          </p:nvSpPr>
          <p:spPr>
            <a:xfrm>
              <a:off x="3872798" y="2044599"/>
              <a:ext cx="510303" cy="289632"/>
            </a:xfrm>
            <a:prstGeom prst="rect">
              <a:avLst/>
            </a:prstGeom>
            <a:solidFill>
              <a:srgbClr val="66CBD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3553037-0615-4CE1-B9CD-D93419104C5C}"/>
                </a:ext>
              </a:extLst>
            </p:cNvPr>
            <p:cNvSpPr/>
            <p:nvPr/>
          </p:nvSpPr>
          <p:spPr>
            <a:xfrm>
              <a:off x="4375295" y="2044599"/>
              <a:ext cx="484359" cy="289632"/>
            </a:xfrm>
            <a:prstGeom prst="rect">
              <a:avLst/>
            </a:prstGeom>
            <a:solidFill>
              <a:srgbClr val="66CBDA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6DDDC66-6703-4E0F-BD6F-E7561702D101}"/>
                </a:ext>
              </a:extLst>
            </p:cNvPr>
            <p:cNvSpPr/>
            <p:nvPr/>
          </p:nvSpPr>
          <p:spPr>
            <a:xfrm>
              <a:off x="4858808" y="2044599"/>
              <a:ext cx="484359" cy="289632"/>
            </a:xfrm>
            <a:prstGeom prst="rect">
              <a:avLst/>
            </a:prstGeom>
            <a:solidFill>
              <a:srgbClr val="66CBDA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B2124DB-7FB4-4BDD-A853-1E7C30A378D3}"/>
                </a:ext>
              </a:extLst>
            </p:cNvPr>
            <p:cNvSpPr/>
            <p:nvPr/>
          </p:nvSpPr>
          <p:spPr>
            <a:xfrm>
              <a:off x="5316377" y="2044599"/>
              <a:ext cx="510303" cy="2896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rPr>
                <a:t>&gt; 2M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1D800BC-CE1A-4055-ADE8-63EC597F2D08}"/>
                </a:ext>
              </a:extLst>
            </p:cNvPr>
            <p:cNvSpPr/>
            <p:nvPr/>
          </p:nvSpPr>
          <p:spPr>
            <a:xfrm>
              <a:off x="3367373" y="2044599"/>
              <a:ext cx="510303" cy="2896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rPr>
                <a:t>&lt; 250k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35C651F-85E2-415E-AF2C-6182891561A9}"/>
              </a:ext>
            </a:extLst>
          </p:cNvPr>
          <p:cNvGrpSpPr/>
          <p:nvPr/>
        </p:nvGrpSpPr>
        <p:grpSpPr>
          <a:xfrm>
            <a:off x="6304434" y="4813567"/>
            <a:ext cx="2466265" cy="289632"/>
            <a:chOff x="3359752" y="2399888"/>
            <a:chExt cx="2466265" cy="289632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D40E419-2487-44B6-BECE-3AA2A854A4B2}"/>
                </a:ext>
              </a:extLst>
            </p:cNvPr>
            <p:cNvSpPr/>
            <p:nvPr/>
          </p:nvSpPr>
          <p:spPr>
            <a:xfrm>
              <a:off x="3865177" y="2399888"/>
              <a:ext cx="510302" cy="289632"/>
            </a:xfrm>
            <a:prstGeom prst="rect">
              <a:avLst/>
            </a:prstGeom>
            <a:solidFill>
              <a:srgbClr val="66CBD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E390419-DBBA-42F1-A3C9-8B5C288AF834}"/>
                </a:ext>
              </a:extLst>
            </p:cNvPr>
            <p:cNvSpPr/>
            <p:nvPr/>
          </p:nvSpPr>
          <p:spPr>
            <a:xfrm>
              <a:off x="4374632" y="2399888"/>
              <a:ext cx="484359" cy="289632"/>
            </a:xfrm>
            <a:prstGeom prst="rect">
              <a:avLst/>
            </a:prstGeom>
            <a:solidFill>
              <a:srgbClr val="66CBDA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1BFCB65-1361-4ABC-A03C-54340916274B}"/>
                </a:ext>
              </a:extLst>
            </p:cNvPr>
            <p:cNvSpPr/>
            <p:nvPr/>
          </p:nvSpPr>
          <p:spPr>
            <a:xfrm>
              <a:off x="4858145" y="2399888"/>
              <a:ext cx="484359" cy="289632"/>
            </a:xfrm>
            <a:prstGeom prst="rect">
              <a:avLst/>
            </a:prstGeom>
            <a:solidFill>
              <a:srgbClr val="66CBDA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9C5FF874-4B09-4417-80D8-B3B3731C1DBF}"/>
                </a:ext>
              </a:extLst>
            </p:cNvPr>
            <p:cNvSpPr/>
            <p:nvPr/>
          </p:nvSpPr>
          <p:spPr>
            <a:xfrm>
              <a:off x="5315715" y="2399888"/>
              <a:ext cx="510302" cy="2896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rPr>
                <a:t>&gt; 24m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FE470F3-B9DE-4A76-A614-8BC4457C8F4D}"/>
                </a:ext>
              </a:extLst>
            </p:cNvPr>
            <p:cNvSpPr/>
            <p:nvPr/>
          </p:nvSpPr>
          <p:spPr>
            <a:xfrm>
              <a:off x="3359752" y="2399888"/>
              <a:ext cx="510303" cy="2896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rPr>
                <a:t>&lt; 6m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D48C07B-6B86-430A-9704-C65DE7D68E0F}"/>
              </a:ext>
            </a:extLst>
          </p:cNvPr>
          <p:cNvGrpSpPr/>
          <p:nvPr/>
        </p:nvGrpSpPr>
        <p:grpSpPr>
          <a:xfrm>
            <a:off x="6304434" y="4108529"/>
            <a:ext cx="2466265" cy="284093"/>
            <a:chOff x="3359752" y="1694850"/>
            <a:chExt cx="2466265" cy="284093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D5A04FD-60D0-4E01-AC91-CA6FF4F80817}"/>
                </a:ext>
              </a:extLst>
            </p:cNvPr>
            <p:cNvSpPr/>
            <p:nvPr/>
          </p:nvSpPr>
          <p:spPr>
            <a:xfrm>
              <a:off x="3865177" y="1694850"/>
              <a:ext cx="510302" cy="284093"/>
            </a:xfrm>
            <a:prstGeom prst="rect">
              <a:avLst/>
            </a:prstGeom>
            <a:solidFill>
              <a:srgbClr val="66CBD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1A07831-6138-4B06-8111-E0EA4AAF69F0}"/>
                </a:ext>
              </a:extLst>
            </p:cNvPr>
            <p:cNvSpPr/>
            <p:nvPr/>
          </p:nvSpPr>
          <p:spPr>
            <a:xfrm>
              <a:off x="4374632" y="1694850"/>
              <a:ext cx="484359" cy="284093"/>
            </a:xfrm>
            <a:prstGeom prst="rect">
              <a:avLst/>
            </a:prstGeom>
            <a:solidFill>
              <a:srgbClr val="66CBDA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E6644A0-3B9E-4DDE-A603-3D3E9F6C4523}"/>
                </a:ext>
              </a:extLst>
            </p:cNvPr>
            <p:cNvSpPr/>
            <p:nvPr/>
          </p:nvSpPr>
          <p:spPr>
            <a:xfrm>
              <a:off x="4858145" y="1694850"/>
              <a:ext cx="484359" cy="284093"/>
            </a:xfrm>
            <a:prstGeom prst="rect">
              <a:avLst/>
            </a:prstGeom>
            <a:solidFill>
              <a:srgbClr val="66CBDA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C65C0E7-5142-4E84-B3AD-11CBB798FCAD}"/>
                </a:ext>
              </a:extLst>
            </p:cNvPr>
            <p:cNvSpPr/>
            <p:nvPr/>
          </p:nvSpPr>
          <p:spPr>
            <a:xfrm>
              <a:off x="5315715" y="1694850"/>
              <a:ext cx="510302" cy="2840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4E7B5B0-01D1-47A6-8787-E4357C13059E}"/>
                </a:ext>
              </a:extLst>
            </p:cNvPr>
            <p:cNvSpPr/>
            <p:nvPr/>
          </p:nvSpPr>
          <p:spPr>
            <a:xfrm>
              <a:off x="3359752" y="1694850"/>
              <a:ext cx="510303" cy="2840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rPr>
                <a:t>Low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D0C5945-3398-423D-8B51-1DFC14A91E6D}"/>
              </a:ext>
            </a:extLst>
          </p:cNvPr>
          <p:cNvGrpSpPr/>
          <p:nvPr/>
        </p:nvGrpSpPr>
        <p:grpSpPr>
          <a:xfrm>
            <a:off x="6306880" y="3764469"/>
            <a:ext cx="2464032" cy="278404"/>
            <a:chOff x="3362198" y="1350790"/>
            <a:chExt cx="2464032" cy="278404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36ADC9E-6008-47E6-BE36-F426B03BAA35}"/>
                </a:ext>
              </a:extLst>
            </p:cNvPr>
            <p:cNvSpPr/>
            <p:nvPr/>
          </p:nvSpPr>
          <p:spPr>
            <a:xfrm>
              <a:off x="3867165" y="1350790"/>
              <a:ext cx="509841" cy="278404"/>
            </a:xfrm>
            <a:prstGeom prst="rect">
              <a:avLst/>
            </a:prstGeom>
            <a:solidFill>
              <a:srgbClr val="66CBDA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B8667F1-7E1B-4375-9D10-8D03CFCA1BEF}"/>
                </a:ext>
              </a:extLst>
            </p:cNvPr>
            <p:cNvSpPr/>
            <p:nvPr/>
          </p:nvSpPr>
          <p:spPr>
            <a:xfrm>
              <a:off x="4376159" y="1350790"/>
              <a:ext cx="483921" cy="278404"/>
            </a:xfrm>
            <a:prstGeom prst="rect">
              <a:avLst/>
            </a:prstGeom>
            <a:solidFill>
              <a:srgbClr val="66CBDA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C5F9BF4-3FB7-4C32-9FEC-EBFF32D2CBF1}"/>
                </a:ext>
              </a:extLst>
            </p:cNvPr>
            <p:cNvSpPr/>
            <p:nvPr/>
          </p:nvSpPr>
          <p:spPr>
            <a:xfrm>
              <a:off x="4859234" y="1350790"/>
              <a:ext cx="483921" cy="278404"/>
            </a:xfrm>
            <a:prstGeom prst="rect">
              <a:avLst/>
            </a:prstGeom>
            <a:solidFill>
              <a:srgbClr val="66CBDA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C0C57A5-4717-4F1D-94FC-EFF8EF4849FE}"/>
                </a:ext>
              </a:extLst>
            </p:cNvPr>
            <p:cNvSpPr/>
            <p:nvPr/>
          </p:nvSpPr>
          <p:spPr>
            <a:xfrm>
              <a:off x="5316389" y="1350790"/>
              <a:ext cx="509841" cy="278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0707E05-473A-468C-9E96-A4E0648B368D}"/>
                </a:ext>
              </a:extLst>
            </p:cNvPr>
            <p:cNvSpPr/>
            <p:nvPr/>
          </p:nvSpPr>
          <p:spPr>
            <a:xfrm>
              <a:off x="3362198" y="1350790"/>
              <a:ext cx="509841" cy="278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marR="0" lvl="0" indent="0" algn="ctr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r>
                <a:rPr kumimoji="0" lang="en-AU" sz="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Roboto Condensed Light"/>
                  <a:ea typeface="+mn-ea"/>
                  <a:cs typeface="+mn-cs"/>
                </a:rPr>
                <a:t>Low</a:t>
              </a:r>
            </a:p>
          </p:txBody>
        </p:sp>
      </p:grpSp>
      <p:sp>
        <p:nvSpPr>
          <p:cNvPr id="86" name="Oval 85">
            <a:extLst>
              <a:ext uri="{FF2B5EF4-FFF2-40B4-BE49-F238E27FC236}">
                <a16:creationId xmlns:a16="http://schemas.microsoft.com/office/drawing/2014/main" id="{082A8E74-2B19-4388-BCFB-99A4E06BAD5A}"/>
              </a:ext>
            </a:extLst>
          </p:cNvPr>
          <p:cNvSpPr/>
          <p:nvPr/>
        </p:nvSpPr>
        <p:spPr>
          <a:xfrm>
            <a:off x="7034456" y="4910364"/>
            <a:ext cx="75575" cy="778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C0884C0-A9AF-4B23-99AF-495780B497BF}"/>
              </a:ext>
            </a:extLst>
          </p:cNvPr>
          <p:cNvSpPr/>
          <p:nvPr/>
        </p:nvSpPr>
        <p:spPr>
          <a:xfrm>
            <a:off x="7030307" y="4557232"/>
            <a:ext cx="75575" cy="778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AE23F7C2-C978-465E-9CE8-C25EF97A67C8}"/>
              </a:ext>
            </a:extLst>
          </p:cNvPr>
          <p:cNvSpPr/>
          <p:nvPr/>
        </p:nvSpPr>
        <p:spPr>
          <a:xfrm>
            <a:off x="7534475" y="4210234"/>
            <a:ext cx="75575" cy="778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4C4499A-1D87-41BC-AFD2-DF08165F7661}"/>
              </a:ext>
            </a:extLst>
          </p:cNvPr>
          <p:cNvSpPr/>
          <p:nvPr/>
        </p:nvSpPr>
        <p:spPr>
          <a:xfrm>
            <a:off x="7533734" y="3862687"/>
            <a:ext cx="75575" cy="778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C02FC07-ABF3-4DC3-AEAC-CA1C0D94D7D3}"/>
              </a:ext>
            </a:extLst>
          </p:cNvPr>
          <p:cNvSpPr/>
          <p:nvPr/>
        </p:nvSpPr>
        <p:spPr bwMode="auto">
          <a:xfrm>
            <a:off x="5936293" y="3452770"/>
            <a:ext cx="3081690" cy="252028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Delivery Parameters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AB45C4C-4C8D-4B3F-ACB0-7A80FA37726F}"/>
              </a:ext>
            </a:extLst>
          </p:cNvPr>
          <p:cNvGrpSpPr/>
          <p:nvPr/>
        </p:nvGrpSpPr>
        <p:grpSpPr>
          <a:xfrm>
            <a:off x="5936293" y="4458278"/>
            <a:ext cx="270000" cy="270000"/>
            <a:chOff x="4788024" y="6539628"/>
            <a:chExt cx="270000" cy="270000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C0AF0FE4-AA01-48B4-8794-1FFA3C95A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024" y="6539628"/>
              <a:ext cx="270000" cy="270000"/>
            </a:xfrm>
            <a:prstGeom prst="ellipse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IE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11037B27-B0D2-47F1-A2C0-AEB4868A59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20154" y="6571758"/>
              <a:ext cx="205740" cy="205740"/>
              <a:chOff x="7074248" y="3718960"/>
              <a:chExt cx="914400" cy="914400"/>
            </a:xfrm>
          </p:grpSpPr>
          <p:pic>
            <p:nvPicPr>
              <p:cNvPr id="94" name="Graphic 93" descr="Laptop">
                <a:extLst>
                  <a:ext uri="{FF2B5EF4-FFF2-40B4-BE49-F238E27FC236}">
                    <a16:creationId xmlns:a16="http://schemas.microsoft.com/office/drawing/2014/main" id="{6A74461A-5D4A-4638-B2D3-D62984AD3F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074248" y="371896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95" name="Graphic 94" descr="Dollar">
                <a:extLst>
                  <a:ext uri="{FF2B5EF4-FFF2-40B4-BE49-F238E27FC236}">
                    <a16:creationId xmlns:a16="http://schemas.microsoft.com/office/drawing/2014/main" id="{9158D2DC-F25B-4BF6-9AAB-CD0F9155BD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7374654" y="3978081"/>
                <a:ext cx="304360" cy="304360"/>
              </a:xfrm>
              <a:prstGeom prst="rect">
                <a:avLst/>
              </a:prstGeom>
            </p:spPr>
          </p:pic>
        </p:grp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90CCF39-E93C-4687-9949-69BEAACE651C}"/>
              </a:ext>
            </a:extLst>
          </p:cNvPr>
          <p:cNvGrpSpPr/>
          <p:nvPr/>
        </p:nvGrpSpPr>
        <p:grpSpPr>
          <a:xfrm>
            <a:off x="5936293" y="4108529"/>
            <a:ext cx="270000" cy="270000"/>
            <a:chOff x="3513524" y="6539628"/>
            <a:chExt cx="270000" cy="27000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9BA7C75A-F66F-40A6-BCA0-A722AB352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3524" y="6539628"/>
              <a:ext cx="270000" cy="270000"/>
            </a:xfrm>
            <a:prstGeom prst="ellipse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IE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pic>
          <p:nvPicPr>
            <p:cNvPr id="98" name="Graphic 97" descr="Meeting">
              <a:extLst>
                <a:ext uri="{FF2B5EF4-FFF2-40B4-BE49-F238E27FC236}">
                  <a16:creationId xmlns:a16="http://schemas.microsoft.com/office/drawing/2014/main" id="{E313A925-666F-4811-9959-945A80D8F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534224" y="6560328"/>
              <a:ext cx="228600" cy="228600"/>
            </a:xfrm>
            <a:prstGeom prst="rect">
              <a:avLst/>
            </a:prstGeom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3CF6BB3-E9CE-4930-BD3E-058AAB2A60B3}"/>
              </a:ext>
            </a:extLst>
          </p:cNvPr>
          <p:cNvGrpSpPr/>
          <p:nvPr/>
        </p:nvGrpSpPr>
        <p:grpSpPr>
          <a:xfrm>
            <a:off x="5936293" y="3764469"/>
            <a:ext cx="270000" cy="270000"/>
            <a:chOff x="2195736" y="6525344"/>
            <a:chExt cx="270000" cy="270000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88577168-3C75-46F7-B955-ACCFA2AA5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736" y="6525344"/>
              <a:ext cx="270000" cy="270000"/>
            </a:xfrm>
            <a:prstGeom prst="ellipse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IE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pic>
          <p:nvPicPr>
            <p:cNvPr id="101" name="Graphic 100" descr="Warning">
              <a:extLst>
                <a:ext uri="{FF2B5EF4-FFF2-40B4-BE49-F238E27FC236}">
                  <a16:creationId xmlns:a16="http://schemas.microsoft.com/office/drawing/2014/main" id="{8D7ECE8B-2083-4D00-9726-E5561973A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239296" y="6568904"/>
              <a:ext cx="182880" cy="182880"/>
            </a:xfrm>
            <a:prstGeom prst="rect">
              <a:avLst/>
            </a:prstGeom>
          </p:spPr>
        </p:pic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949B901-611B-4054-AC0D-F638F553B6CD}"/>
              </a:ext>
            </a:extLst>
          </p:cNvPr>
          <p:cNvGrpSpPr/>
          <p:nvPr/>
        </p:nvGrpSpPr>
        <p:grpSpPr>
          <a:xfrm>
            <a:off x="5936293" y="4813567"/>
            <a:ext cx="270000" cy="270000"/>
            <a:chOff x="6804248" y="6525344"/>
            <a:chExt cx="270000" cy="270000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560B93CE-F644-45C6-B424-875550D80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248" y="6525344"/>
              <a:ext cx="270000" cy="270000"/>
            </a:xfrm>
            <a:prstGeom prst="ellipse">
              <a:avLst/>
            </a:prstGeom>
            <a:solidFill>
              <a:srgbClr val="66CBDA">
                <a:alpha val="25000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33" tIns="54417" rIns="108833" bIns="54417" rtlCol="0" anchor="t"/>
            <a:lstStyle/>
            <a:p>
              <a:pPr marL="0" marR="0" lvl="0" indent="0" algn="l" defTabSz="449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0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  <a:defRPr/>
              </a:pPr>
              <a:endParaRPr kumimoji="0" lang="en-IE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endParaRPr>
            </a:p>
          </p:txBody>
        </p:sp>
        <p:pic>
          <p:nvPicPr>
            <p:cNvPr id="104" name="Graphic 103" descr="Stopwatch">
              <a:extLst>
                <a:ext uri="{FF2B5EF4-FFF2-40B4-BE49-F238E27FC236}">
                  <a16:creationId xmlns:a16="http://schemas.microsoft.com/office/drawing/2014/main" id="{BE8A6B1A-DC74-4A43-A4CC-CD57BE8D1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824948" y="6546044"/>
              <a:ext cx="228600" cy="228600"/>
            </a:xfrm>
            <a:prstGeom prst="rect">
              <a:avLst/>
            </a:prstGeom>
          </p:spPr>
        </p:pic>
      </p:grp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35DB517-4846-4ABF-B886-3872404A019E}"/>
              </a:ext>
            </a:extLst>
          </p:cNvPr>
          <p:cNvSpPr/>
          <p:nvPr/>
        </p:nvSpPr>
        <p:spPr bwMode="auto">
          <a:xfrm>
            <a:off x="117619" y="5177433"/>
            <a:ext cx="5709851" cy="252028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Approval Conditions &amp; Portfolio Fit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BFB0AB0-9B20-4334-A4D8-DFE8F054D1A3}"/>
              </a:ext>
            </a:extLst>
          </p:cNvPr>
          <p:cNvSpPr/>
          <p:nvPr/>
        </p:nvSpPr>
        <p:spPr bwMode="auto">
          <a:xfrm>
            <a:off x="120322" y="5434942"/>
            <a:ext cx="5696064" cy="669410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>
              <a:spcAft>
                <a:spcPts val="400"/>
              </a:spcAft>
            </a:pPr>
            <a:r>
              <a:rPr lang="en-AU" sz="1000">
                <a:solidFill>
                  <a:srgbClr val="292934"/>
                </a:solidFill>
              </a:rPr>
              <a:t>Recommendation PMO, Business Led or Work Package. </a:t>
            </a:r>
          </a:p>
          <a:p>
            <a:pPr>
              <a:spcAft>
                <a:spcPts val="400"/>
              </a:spcAft>
            </a:pPr>
            <a:r>
              <a:rPr lang="en-AU" sz="1000">
                <a:solidFill>
                  <a:srgbClr val="292934"/>
                </a:solidFill>
              </a:rPr>
              <a:t>Finance to review and advise if to be capitalised.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659AA8E-A4F2-456A-B406-4BC9B70EC457}"/>
              </a:ext>
            </a:extLst>
          </p:cNvPr>
          <p:cNvSpPr/>
          <p:nvPr/>
        </p:nvSpPr>
        <p:spPr bwMode="auto">
          <a:xfrm>
            <a:off x="4350327" y="778174"/>
            <a:ext cx="1474106" cy="1908450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Scope Exclusion:</a:t>
            </a:r>
          </a:p>
          <a:p>
            <a:pPr marL="171450" indent="-171450" algn="just">
              <a:spcAft>
                <a:spcPts val="400"/>
              </a:spcAft>
              <a:buFont typeface="Arial" pitchFamily="16" charset="0"/>
              <a:buChar char="•"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Specialised applications e.g. AutoDesk software</a:t>
            </a:r>
            <a:endParaRPr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B19C6BB-8A04-4799-B823-3A4FEE8E4595}"/>
              </a:ext>
            </a:extLst>
          </p:cNvPr>
          <p:cNvSpPr/>
          <p:nvPr/>
        </p:nvSpPr>
        <p:spPr bwMode="auto">
          <a:xfrm>
            <a:off x="5936102" y="5176647"/>
            <a:ext cx="3070905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Post Approval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62D764E-9EB2-42DE-BE60-A1BFDF246EBC}"/>
              </a:ext>
            </a:extLst>
          </p:cNvPr>
          <p:cNvSpPr/>
          <p:nvPr/>
        </p:nvSpPr>
        <p:spPr bwMode="auto">
          <a:xfrm>
            <a:off x="5936102" y="5434837"/>
            <a:ext cx="3070904" cy="664632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Capex Number &amp; value</a:t>
            </a: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38227AE-44C8-46EE-9795-21B099119966}"/>
              </a:ext>
            </a:extLst>
          </p:cNvPr>
          <p:cNvSpPr/>
          <p:nvPr/>
        </p:nvSpPr>
        <p:spPr>
          <a:xfrm>
            <a:off x="6402880" y="3106401"/>
            <a:ext cx="114385" cy="1024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16C19E2B-F43F-4767-9A6B-98720ACAE530}"/>
              </a:ext>
            </a:extLst>
          </p:cNvPr>
          <p:cNvSpPr/>
          <p:nvPr/>
        </p:nvSpPr>
        <p:spPr>
          <a:xfrm>
            <a:off x="7106067" y="3098029"/>
            <a:ext cx="114385" cy="1024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D5F24DA6-695D-4980-8029-01AA853C52E7}"/>
              </a:ext>
            </a:extLst>
          </p:cNvPr>
          <p:cNvSpPr/>
          <p:nvPr/>
        </p:nvSpPr>
        <p:spPr>
          <a:xfrm>
            <a:off x="7789586" y="3106401"/>
            <a:ext cx="114385" cy="102483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1A7F91FC-AE37-44BE-856C-D6AEC53B991D}"/>
              </a:ext>
            </a:extLst>
          </p:cNvPr>
          <p:cNvSpPr/>
          <p:nvPr/>
        </p:nvSpPr>
        <p:spPr>
          <a:xfrm>
            <a:off x="8448821" y="3098028"/>
            <a:ext cx="114385" cy="102483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8979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880" y="60082"/>
            <a:ext cx="8343326" cy="445074"/>
          </a:xfrm>
        </p:spPr>
        <p:txBody>
          <a:bodyPr/>
          <a:lstStyle/>
          <a:p>
            <a:r>
              <a:rPr lang="en-AU">
                <a:latin typeface="+mj-lt"/>
              </a:rPr>
              <a:t>I – </a:t>
            </a:r>
            <a:r>
              <a:rPr lang="en-AU"/>
              <a:t>Initiative Slide - Guide</a:t>
            </a:r>
            <a:endParaRPr lang="en-AU" sz="110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0348E2-0941-4277-9193-50D50D3F569B}"/>
              </a:ext>
            </a:extLst>
          </p:cNvPr>
          <p:cNvSpPr/>
          <p:nvPr/>
        </p:nvSpPr>
        <p:spPr bwMode="auto">
          <a:xfrm>
            <a:off x="130975" y="724670"/>
            <a:ext cx="2727530" cy="1908450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algn="just">
              <a:spcAft>
                <a:spcPts val="400"/>
              </a:spcAft>
              <a:defRPr/>
            </a:pPr>
            <a:r>
              <a:rPr lang="en-AU" sz="1000">
                <a:solidFill>
                  <a:srgbClr val="292934"/>
                </a:solidFill>
              </a:rPr>
              <a:t>What is the business opportunity or problem this initiative aims to address?</a:t>
            </a:r>
          </a:p>
          <a:p>
            <a:pPr algn="just">
              <a:spcAft>
                <a:spcPts val="400"/>
              </a:spcAft>
              <a:defRPr/>
            </a:pPr>
            <a:r>
              <a:rPr lang="en-AU" sz="1000">
                <a:solidFill>
                  <a:srgbClr val="292934"/>
                </a:solidFill>
              </a:rPr>
              <a:t>Give an outline description of the idea in terms of how it will meet a business need</a:t>
            </a:r>
          </a:p>
          <a:p>
            <a:r>
              <a:rPr lang="en-AU" sz="1000">
                <a:solidFill>
                  <a:srgbClr val="292934"/>
                </a:solidFill>
              </a:rPr>
              <a:t>Detail the investment and benefit to the business. </a:t>
            </a:r>
          </a:p>
          <a:p>
            <a:pPr lvl="0" algn="just">
              <a:spcAft>
                <a:spcPts val="400"/>
              </a:spcAft>
              <a:defRPr/>
            </a:pPr>
            <a:r>
              <a:rPr lang="en-AU" sz="1000">
                <a:solidFill>
                  <a:srgbClr val="292934"/>
                </a:solidFill>
              </a:rPr>
              <a:t>What will the business be able to ‘do’ after the initiative?</a:t>
            </a:r>
          </a:p>
          <a:p>
            <a:pPr lvl="0" algn="just">
              <a:spcAft>
                <a:spcPts val="400"/>
              </a:spcAft>
              <a:defRPr/>
            </a:pPr>
            <a:r>
              <a:rPr lang="en-AU" sz="1000">
                <a:solidFill>
                  <a:srgbClr val="292934"/>
                </a:solidFill>
              </a:rPr>
              <a:t>Describe how the outcome(s) mean G.James will be able to operate in a way that is better, faster, bring reduced cost or is safer. 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71B0FC-BFDF-49D6-99C0-CE1CD83C76DD}"/>
              </a:ext>
            </a:extLst>
          </p:cNvPr>
          <p:cNvSpPr/>
          <p:nvPr/>
        </p:nvSpPr>
        <p:spPr bwMode="auto">
          <a:xfrm>
            <a:off x="138795" y="533485"/>
            <a:ext cx="2727529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Business Need, Objectives &amp; Benefits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F9CBF2-7FB4-4903-91B3-A16425BE62A1}"/>
              </a:ext>
            </a:extLst>
          </p:cNvPr>
          <p:cNvSpPr/>
          <p:nvPr/>
        </p:nvSpPr>
        <p:spPr bwMode="auto">
          <a:xfrm>
            <a:off x="2990028" y="783142"/>
            <a:ext cx="2843264" cy="1908450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r>
              <a:rPr lang="en-AU" sz="1000">
                <a:solidFill>
                  <a:srgbClr val="292934"/>
                </a:solidFill>
              </a:rPr>
              <a:t>Scope is generally defined as the tasks or deliverables required to be considered / completed to delivery the objectives for the project. You can add ‘scope’ bullets for clarity if needed, this will assist in the review to determine what specifically is being addressed.  </a:t>
            </a:r>
          </a:p>
          <a:p>
            <a:r>
              <a:rPr lang="en-AU" sz="1000">
                <a:solidFill>
                  <a:srgbClr val="292934"/>
                </a:solidFill>
              </a:rPr>
              <a:t>Including a summary of what is NOT in scope also assists in providing clarity around the expected delivery and outcomes of the project.</a:t>
            </a: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29FECB-2926-4147-A517-35A4F95BDEB1}"/>
              </a:ext>
            </a:extLst>
          </p:cNvPr>
          <p:cNvSpPr/>
          <p:nvPr/>
        </p:nvSpPr>
        <p:spPr bwMode="auto">
          <a:xfrm>
            <a:off x="2990027" y="533485"/>
            <a:ext cx="2834406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Scope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DAF16B1-792A-4E8E-893D-A43BAECF5866}"/>
              </a:ext>
            </a:extLst>
          </p:cNvPr>
          <p:cNvSpPr/>
          <p:nvPr/>
        </p:nvSpPr>
        <p:spPr bwMode="auto">
          <a:xfrm>
            <a:off x="5948134" y="528093"/>
            <a:ext cx="3069849" cy="252028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Key Stakeholders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56859B0-368B-4C06-B39E-98269D0EBB8B}"/>
              </a:ext>
            </a:extLst>
          </p:cNvPr>
          <p:cNvSpPr/>
          <p:nvPr/>
        </p:nvSpPr>
        <p:spPr bwMode="auto">
          <a:xfrm>
            <a:off x="5956993" y="777796"/>
            <a:ext cx="3059740" cy="1908451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Executive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:		&lt;GM&gt;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Business Lead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:		&lt;Name&gt;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Contributing Division(s): 	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&lt;Engineering&gt;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			&lt;Finance&gt;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AU" sz="1000">
                <a:solidFill>
                  <a:srgbClr val="292934"/>
                </a:solidFill>
                <a:latin typeface="Roboto Condensed Light"/>
              </a:rPr>
              <a:t>			&lt;ICT&gt;	</a:t>
            </a:r>
            <a:endParaRPr kumimoji="0" lang="en-AU" sz="100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Roboto Condensed Light"/>
              <a:ea typeface="+mn-ea"/>
              <a:cs typeface="+mn-cs"/>
            </a:endParaRP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1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Team member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:		&lt;Name&gt;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			&lt;Name&gt;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			&lt;Name&gt;</a:t>
            </a:r>
          </a:p>
          <a:p>
            <a:pPr marL="0" marR="0" lvl="0" indent="0" algn="just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			&lt;Name&gt;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5A28A0-C0CF-4BA8-84A6-59AB5CE4DE78}"/>
              </a:ext>
            </a:extLst>
          </p:cNvPr>
          <p:cNvSpPr/>
          <p:nvPr/>
        </p:nvSpPr>
        <p:spPr bwMode="auto">
          <a:xfrm>
            <a:off x="113235" y="2740282"/>
            <a:ext cx="2753089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Planning Considerations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BCBB94-621E-4A5D-A9CC-E2AA6A224536}"/>
              </a:ext>
            </a:extLst>
          </p:cNvPr>
          <p:cNvSpPr/>
          <p:nvPr/>
        </p:nvSpPr>
        <p:spPr bwMode="auto">
          <a:xfrm>
            <a:off x="2985934" y="2740282"/>
            <a:ext cx="2834406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Delivery Approach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07DA12-BC88-45FB-AB29-5D6C931A90A7}"/>
              </a:ext>
            </a:extLst>
          </p:cNvPr>
          <p:cNvSpPr/>
          <p:nvPr/>
        </p:nvSpPr>
        <p:spPr bwMode="auto">
          <a:xfrm>
            <a:off x="113234" y="2970635"/>
            <a:ext cx="2753090" cy="2201317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r>
              <a:rPr lang="en-AU" sz="800">
                <a:solidFill>
                  <a:srgbClr val="292934"/>
                </a:solidFill>
              </a:rPr>
              <a:t>Estimated Start period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>
                <a:solidFill>
                  <a:srgbClr val="292934"/>
                </a:solidFill>
              </a:rPr>
              <a:t>Within 3mths, 3-6mths, 6-12mths</a:t>
            </a:r>
          </a:p>
          <a:p>
            <a:r>
              <a:rPr lang="en-AU" sz="800">
                <a:solidFill>
                  <a:srgbClr val="292934"/>
                </a:solidFill>
              </a:rPr>
              <a:t>Estimated Cost.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>
                <a:solidFill>
                  <a:srgbClr val="292934"/>
                </a:solidFill>
              </a:rPr>
              <a:t>Is the internal labour only, external labour required and CAPEX?</a:t>
            </a:r>
          </a:p>
          <a:p>
            <a:r>
              <a:rPr lang="en-AU" sz="800">
                <a:solidFill>
                  <a:srgbClr val="292934"/>
                </a:solidFill>
              </a:rPr>
              <a:t>Assumptions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>
                <a:solidFill>
                  <a:srgbClr val="292934"/>
                </a:solidFill>
              </a:rPr>
              <a:t>Is there any assumption surrounding supply of a product, people / skills, process, technologies, information, etc? </a:t>
            </a:r>
          </a:p>
          <a:p>
            <a:r>
              <a:rPr lang="en-AU" sz="800">
                <a:solidFill>
                  <a:srgbClr val="292934"/>
                </a:solidFill>
              </a:rPr>
              <a:t>Dependencies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>
                <a:solidFill>
                  <a:srgbClr val="292934"/>
                </a:solidFill>
              </a:rPr>
              <a:t>Is there another project or other activity that this initiative will need to rely on?</a:t>
            </a:r>
          </a:p>
          <a:p>
            <a:r>
              <a:rPr lang="en-AU" sz="800">
                <a:solidFill>
                  <a:srgbClr val="292934"/>
                </a:solidFill>
              </a:rPr>
              <a:t>Risk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>
                <a:solidFill>
                  <a:srgbClr val="292934"/>
                </a:solidFill>
              </a:rPr>
              <a:t>Are there any known risks that could impact the success of the initiative?</a:t>
            </a:r>
          </a:p>
          <a:p>
            <a:r>
              <a:rPr lang="en-AU" sz="800">
                <a:solidFill>
                  <a:srgbClr val="292934"/>
                </a:solidFill>
              </a:rPr>
              <a:t>Constraints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>
                <a:solidFill>
                  <a:srgbClr val="292934"/>
                </a:solidFill>
              </a:rPr>
              <a:t>Is there a particular milestone that this initiative has to be delivered by? </a:t>
            </a:r>
            <a:r>
              <a:rPr lang="en-AU" sz="800" err="1">
                <a:solidFill>
                  <a:srgbClr val="292934"/>
                </a:solidFill>
              </a:rPr>
              <a:t>Ie</a:t>
            </a:r>
            <a:r>
              <a:rPr lang="en-AU" sz="800">
                <a:solidFill>
                  <a:srgbClr val="292934"/>
                </a:solidFill>
              </a:rPr>
              <a:t> customer requirement, compliance.</a:t>
            </a:r>
          </a:p>
          <a:p>
            <a:r>
              <a:rPr lang="en-AU" sz="1000">
                <a:solidFill>
                  <a:srgbClr val="292934"/>
                </a:solidFill>
              </a:rPr>
              <a:t>			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B5F796-2812-4AA7-8386-3F1516DEB3E2}"/>
              </a:ext>
            </a:extLst>
          </p:cNvPr>
          <p:cNvSpPr/>
          <p:nvPr/>
        </p:nvSpPr>
        <p:spPr bwMode="auto">
          <a:xfrm>
            <a:off x="2991157" y="2988624"/>
            <a:ext cx="2834406" cy="2183327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 lvl="0">
              <a:spcAft>
                <a:spcPts val="400"/>
              </a:spcAft>
              <a:defRPr/>
            </a:pPr>
            <a:r>
              <a:rPr lang="en-AU" sz="1000">
                <a:solidFill>
                  <a:srgbClr val="292934"/>
                </a:solidFill>
              </a:rPr>
              <a:t>What are the key activities/tasks you would go about to deliver this initiative?</a:t>
            </a:r>
          </a:p>
          <a:p>
            <a:r>
              <a:rPr lang="en-AU" sz="1000">
                <a:solidFill>
                  <a:srgbClr val="292934"/>
                </a:solidFill>
              </a:rPr>
              <a:t>Could it be delivered in one phase or in multiple phases over more than a one year? </a:t>
            </a:r>
          </a:p>
          <a:p>
            <a:endParaRPr lang="en-AU" sz="1000">
              <a:solidFill>
                <a:srgbClr val="292934"/>
              </a:solidFill>
            </a:endParaRPr>
          </a:p>
          <a:p>
            <a:r>
              <a:rPr lang="en-AU" sz="800" i="1">
                <a:solidFill>
                  <a:srgbClr val="292934"/>
                </a:solidFill>
              </a:rPr>
              <a:t>Example: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 i="1">
                <a:solidFill>
                  <a:srgbClr val="292934"/>
                </a:solidFill>
              </a:rPr>
              <a:t>Gather requirements and hold discovery workshop</a:t>
            </a:r>
            <a:r>
              <a:rPr lang="en-US" sz="800" i="1">
                <a:solidFill>
                  <a:srgbClr val="292934"/>
                </a:solidFill>
              </a:rPr>
              <a:t>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 i="1">
                <a:solidFill>
                  <a:srgbClr val="292934"/>
                </a:solidFill>
              </a:rPr>
              <a:t>Evaluate options – benefits and limitations</a:t>
            </a:r>
            <a:r>
              <a:rPr lang="en-US" sz="800" i="1">
                <a:solidFill>
                  <a:srgbClr val="292934"/>
                </a:solidFill>
              </a:rPr>
              <a:t>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 i="1">
                <a:solidFill>
                  <a:srgbClr val="292934"/>
                </a:solidFill>
              </a:rPr>
              <a:t>Prototype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 i="1">
                <a:solidFill>
                  <a:srgbClr val="292934"/>
                </a:solidFill>
              </a:rPr>
              <a:t>Confirm requirements/Design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 i="1">
                <a:solidFill>
                  <a:srgbClr val="292934"/>
                </a:solidFill>
              </a:rPr>
              <a:t>Development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 i="1">
                <a:solidFill>
                  <a:srgbClr val="292934"/>
                </a:solidFill>
              </a:rPr>
              <a:t>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 i="1">
                <a:solidFill>
                  <a:srgbClr val="292934"/>
                </a:solidFill>
              </a:rPr>
              <a:t>Training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800" i="1">
                <a:solidFill>
                  <a:srgbClr val="292934"/>
                </a:solidFill>
              </a:rPr>
              <a:t>Deployment</a:t>
            </a:r>
            <a:endParaRPr lang="en-US" sz="800" i="1">
              <a:solidFill>
                <a:srgbClr val="292934"/>
              </a:solidFill>
            </a:endParaRPr>
          </a:p>
          <a:p>
            <a:r>
              <a:rPr lang="en-AU" sz="800">
                <a:solidFill>
                  <a:srgbClr val="292934"/>
                </a:solidFill>
              </a:rPr>
              <a:t> </a:t>
            </a:r>
          </a:p>
          <a:p>
            <a:pPr lvl="0">
              <a:spcAft>
                <a:spcPts val="400"/>
              </a:spcAft>
              <a:defRPr/>
            </a:pPr>
            <a:endParaRPr lang="en-AU" sz="1000">
              <a:solidFill>
                <a:srgbClr val="292934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438A9C-EB05-4FBB-84AE-23B055BDFE77}"/>
              </a:ext>
            </a:extLst>
          </p:cNvPr>
          <p:cNvSpPr/>
          <p:nvPr/>
        </p:nvSpPr>
        <p:spPr bwMode="auto">
          <a:xfrm>
            <a:off x="5977570" y="2737127"/>
            <a:ext cx="3029435" cy="258430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Strategic Objectives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C02FC07-ABF3-4DC3-AEAC-CA1C0D94D7D3}"/>
              </a:ext>
            </a:extLst>
          </p:cNvPr>
          <p:cNvSpPr/>
          <p:nvPr/>
        </p:nvSpPr>
        <p:spPr bwMode="auto">
          <a:xfrm>
            <a:off x="5956992" y="3926511"/>
            <a:ext cx="3050013" cy="249657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Delivery Parameters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35DB517-4846-4ABF-B886-3872404A019E}"/>
              </a:ext>
            </a:extLst>
          </p:cNvPr>
          <p:cNvSpPr/>
          <p:nvPr/>
        </p:nvSpPr>
        <p:spPr bwMode="auto">
          <a:xfrm>
            <a:off x="117619" y="5177433"/>
            <a:ext cx="5709851" cy="252028"/>
          </a:xfrm>
          <a:prstGeom prst="rect">
            <a:avLst/>
          </a:prstGeom>
          <a:solidFill>
            <a:srgbClr val="00B0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ctr" anchorCtr="0"/>
          <a:lstStyle/>
          <a:p>
            <a:pPr marL="0" marR="0" lvl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Approval Conditions &amp; Portfolio Fit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BFB0AB0-9B20-4334-A4D8-DFE8F054D1A3}"/>
              </a:ext>
            </a:extLst>
          </p:cNvPr>
          <p:cNvSpPr/>
          <p:nvPr/>
        </p:nvSpPr>
        <p:spPr bwMode="auto">
          <a:xfrm>
            <a:off x="120322" y="5434942"/>
            <a:ext cx="5696064" cy="669410"/>
          </a:xfrm>
          <a:prstGeom prst="rect">
            <a:avLst/>
          </a:prstGeom>
          <a:solidFill>
            <a:srgbClr val="66CBDA">
              <a:alpha val="25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33" tIns="54417" rIns="108833" bIns="54417" rtlCol="0" anchor="t"/>
          <a:lstStyle/>
          <a:p>
            <a:pPr>
              <a:spcAft>
                <a:spcPts val="400"/>
              </a:spcAft>
            </a:pPr>
            <a:r>
              <a:rPr lang="en-AU" sz="1000">
                <a:solidFill>
                  <a:srgbClr val="292934"/>
                </a:solidFill>
              </a:rPr>
              <a:t>Is the Initiative cross divisional? Y/N Is the delivery complex? Y/N Is the initiative high risk? Y/N</a:t>
            </a:r>
          </a:p>
          <a:p>
            <a:pPr>
              <a:spcAft>
                <a:spcPts val="400"/>
              </a:spcAft>
            </a:pPr>
            <a:r>
              <a:rPr lang="en-AU" sz="1000">
                <a:solidFill>
                  <a:srgbClr val="292934"/>
                </a:solidFill>
              </a:rPr>
              <a:t>Is there a change management and training requirement? Y?N Will the initiative require capital expenditure?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D84341-64F4-4F2B-8267-AB31CA1EB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470" y="4193704"/>
            <a:ext cx="3089547" cy="19623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FC6B59-A52C-4781-8189-1B1515307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0" y="3003584"/>
            <a:ext cx="3295650" cy="485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A13A35-0A25-4CFE-9F9A-2FAD43587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786" y="3350996"/>
            <a:ext cx="695325" cy="447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307914-64A1-42B1-8E31-BD18743F2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848" y="3398619"/>
            <a:ext cx="676275" cy="400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219E5F-1A57-451C-9DBA-A8FAA21A2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2155" y="3413834"/>
            <a:ext cx="685800" cy="438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719AEB-D26C-44D2-89AB-6E2F9573B9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7816" y="3436046"/>
            <a:ext cx="742950" cy="333375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5A011B5E-2B49-4D56-8AE8-769641809DAD}"/>
              </a:ext>
            </a:extLst>
          </p:cNvPr>
          <p:cNvSpPr/>
          <p:nvPr/>
        </p:nvSpPr>
        <p:spPr>
          <a:xfrm>
            <a:off x="6402880" y="3106401"/>
            <a:ext cx="114385" cy="1024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AE0FE3-4780-4BE1-B9E7-50AD257804A9}"/>
              </a:ext>
            </a:extLst>
          </p:cNvPr>
          <p:cNvSpPr/>
          <p:nvPr/>
        </p:nvSpPr>
        <p:spPr>
          <a:xfrm>
            <a:off x="7262930" y="3106400"/>
            <a:ext cx="114385" cy="1024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091940F-E849-4689-AF15-B9379DF6F13D}"/>
              </a:ext>
            </a:extLst>
          </p:cNvPr>
          <p:cNvSpPr/>
          <p:nvPr/>
        </p:nvSpPr>
        <p:spPr>
          <a:xfrm>
            <a:off x="8034543" y="3111649"/>
            <a:ext cx="114385" cy="102483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5F531D6-62AE-41C6-AB79-FD3E6DEE46B6}"/>
              </a:ext>
            </a:extLst>
          </p:cNvPr>
          <p:cNvSpPr/>
          <p:nvPr/>
        </p:nvSpPr>
        <p:spPr>
          <a:xfrm>
            <a:off x="8837400" y="3101405"/>
            <a:ext cx="114385" cy="102483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604740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.James">
      <a:majorFont>
        <a:latin typeface="Roboto Condensed"/>
        <a:ea typeface=""/>
        <a:cs typeface=""/>
      </a:majorFont>
      <a:minorFont>
        <a:latin typeface="Roboto Condensed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.James_Presentation_Template.potx" id="{B5008CB7-2FAB-47BA-A618-D2D83E25F1CE}" vid="{6859003B-2A43-4950-AF3E-B73EDCEAD68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7130040-a85f-40f6-8ab2-b11de916c767">
      <UserInfo>
        <DisplayName>Dan Guthrie</DisplayName>
        <AccountId>49</AccountId>
        <AccountType/>
      </UserInfo>
      <UserInfo>
        <DisplayName>Bruce Absolom</DisplayName>
        <AccountId>62</AccountId>
        <AccountType/>
      </UserInfo>
      <UserInfo>
        <DisplayName>Ross Lennox</DisplayName>
        <AccountId>30</AccountId>
        <AccountType/>
      </UserInfo>
      <UserInfo>
        <DisplayName>Rachel Mortimer</DisplayName>
        <AccountId>31</AccountId>
        <AccountType/>
      </UserInfo>
    </SharedWithUsers>
    <lcf76f155ced4ddcb4097134ff3c332f xmlns="3924b71c-c110-48ea-bc51-2f03443883fd">
      <Terms xmlns="http://schemas.microsoft.com/office/infopath/2007/PartnerControls"/>
    </lcf76f155ced4ddcb4097134ff3c332f>
    <TaxCatchAll xmlns="a7130040-a85f-40f6-8ab2-b11de916c767" xsi:nil="true"/>
  </documentManagement>
</p:properties>
</file>

<file path=customXml/itemProps1.xml><?xml version="1.0" encoding="utf-8"?>
<ds:datastoreItem xmlns:ds="http://schemas.openxmlformats.org/officeDocument/2006/customXml" ds:itemID="{959B8A39-FABE-4474-97C1-910E37580A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4FF0F2-AC1E-46CA-A732-8DD2E1AEBFBE}"/>
</file>

<file path=customXml/itemProps3.xml><?xml version="1.0" encoding="utf-8"?>
<ds:datastoreItem xmlns:ds="http://schemas.openxmlformats.org/officeDocument/2006/customXml" ds:itemID="{0744F430-7A19-41DF-9530-1CC3FBFDB171}">
  <ds:schemaRefs>
    <ds:schemaRef ds:uri="3f9fe936-a801-41be-8001-4cd622f988ac"/>
    <ds:schemaRef ds:uri="9393f7c8-f07d-4032-bb91-6ed753b6c5ae"/>
    <ds:schemaRef ds:uri="a1c3a936-8500-4a5b-a657-1dbc1ff872d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Application>Microsoft Office PowerPoint</Application>
  <PresentationFormat>On-screen Show (4:3)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1_Office Theme</vt:lpstr>
      <vt:lpstr>I – 143 Single Sign On</vt:lpstr>
      <vt:lpstr>I – Initiative Slide - Guide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- 143 Single Sign On Initiative Slide</dc:title>
  <dc:creator>Rachel Mortimer</dc:creator>
  <cp:revision>5</cp:revision>
  <cp:lastPrinted>2019-06-13T22:28:23Z</cp:lastPrinted>
  <dcterms:created xsi:type="dcterms:W3CDTF">2019-05-10T02:46:49Z</dcterms:created>
  <dcterms:modified xsi:type="dcterms:W3CDTF">2023-04-20T07:15:24Z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0x01010021480D5CF4196040977E3D57FB4D5552</vt:lpwstr>
  </property>
</Properties>
</file>