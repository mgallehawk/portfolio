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2F_2A156DAC.xml" ContentType="application/vnd.ms-powerpoint.comments+xml"/>
  <Override PartName="/ppt/notesSlides/notesSlide1.xml" ContentType="application/vnd.openxmlformats-officedocument.presentationml.notesSlide+xml"/>
  <Override PartName="/ppt/comments/modernComment_13C_775F24A9.xml" ContentType="application/vnd.ms-powerpoint.comments+xml"/>
  <Override PartName="/ppt/comments/modernComment_137_4A07B599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2" r:id="rId5"/>
  </p:sldMasterIdLst>
  <p:notesMasterIdLst>
    <p:notesMasterId r:id="rId11"/>
  </p:notesMasterIdLst>
  <p:sldIdLst>
    <p:sldId id="303" r:id="rId6"/>
    <p:sldId id="316" r:id="rId7"/>
    <p:sldId id="311" r:id="rId8"/>
    <p:sldId id="309" r:id="rId9"/>
    <p:sldId id="31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0A5DFDA-5CC7-2000-BFAB-7A132380A200}" name="Mat Gallehawk" initials="MG" userId="S::mathew_gallehawk@gjames.com.au::93dd6677-ad92-4f4d-8ebe-555150310a9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AF1F6"/>
    <a:srgbClr val="E7F6F9"/>
    <a:srgbClr val="A1DFE9"/>
    <a:srgbClr val="ABE2EB"/>
    <a:srgbClr val="D9F2F6"/>
    <a:srgbClr val="00B0D2"/>
    <a:srgbClr val="89D6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 Gallehawk" userId="93dd6677-ad92-4f4d-8ebe-555150310a93" providerId="ADAL" clId="{33C960C2-4729-48F1-BE8C-7CE4A118F253}"/>
    <pc:docChg chg="undo custSel modSld">
      <pc:chgData name="Mat Gallehawk" userId="93dd6677-ad92-4f4d-8ebe-555150310a93" providerId="ADAL" clId="{33C960C2-4729-48F1-BE8C-7CE4A118F253}" dt="2023-05-24T07:33:51.996" v="905" actId="1076"/>
      <pc:docMkLst>
        <pc:docMk/>
      </pc:docMkLst>
      <pc:sldChg chg="modSp mod">
        <pc:chgData name="Mat Gallehawk" userId="93dd6677-ad92-4f4d-8ebe-555150310a93" providerId="ADAL" clId="{33C960C2-4729-48F1-BE8C-7CE4A118F253}" dt="2023-05-24T07:23:48.604" v="849" actId="1076"/>
        <pc:sldMkLst>
          <pc:docMk/>
          <pc:sldMk cId="706047404" sldId="303"/>
        </pc:sldMkLst>
        <pc:spChg chg="mod">
          <ac:chgData name="Mat Gallehawk" userId="93dd6677-ad92-4f4d-8ebe-555150310a93" providerId="ADAL" clId="{33C960C2-4729-48F1-BE8C-7CE4A118F253}" dt="2023-05-24T07:17:23.599" v="723" actId="6549"/>
          <ac:spMkLst>
            <pc:docMk/>
            <pc:sldMk cId="706047404" sldId="303"/>
            <ac:spMk id="11" creationId="{4F0348E2-0941-4277-9193-50D50D3F569B}"/>
          </ac:spMkLst>
        </pc:spChg>
        <pc:spChg chg="mod">
          <ac:chgData name="Mat Gallehawk" userId="93dd6677-ad92-4f4d-8ebe-555150310a93" providerId="ADAL" clId="{33C960C2-4729-48F1-BE8C-7CE4A118F253}" dt="2023-05-24T07:08:51.049" v="15" actId="20577"/>
          <ac:spMkLst>
            <pc:docMk/>
            <pc:sldMk cId="706047404" sldId="303"/>
            <ac:spMk id="16" creationId="{34BCBB94-621E-4A5D-A9CC-E2AA6A224536}"/>
          </ac:spMkLst>
        </pc:spChg>
        <pc:spChg chg="mod">
          <ac:chgData name="Mat Gallehawk" userId="93dd6677-ad92-4f4d-8ebe-555150310a93" providerId="ADAL" clId="{33C960C2-4729-48F1-BE8C-7CE4A118F253}" dt="2023-05-24T07:23:48.604" v="849" actId="1076"/>
          <ac:spMkLst>
            <pc:docMk/>
            <pc:sldMk cId="706047404" sldId="303"/>
            <ac:spMk id="20" creationId="{42B5F796-2812-4AA7-8386-3F1516DEB3E2}"/>
          </ac:spMkLst>
        </pc:spChg>
        <pc:spChg chg="mod">
          <ac:chgData name="Mat Gallehawk" userId="93dd6677-ad92-4f4d-8ebe-555150310a93" providerId="ADAL" clId="{33C960C2-4729-48F1-BE8C-7CE4A118F253}" dt="2023-05-24T07:23:35.477" v="846" actId="20577"/>
          <ac:spMkLst>
            <pc:docMk/>
            <pc:sldMk cId="706047404" sldId="303"/>
            <ac:spMk id="71" creationId="{1575A0AA-BA1D-474B-B788-9DECA0859473}"/>
          </ac:spMkLst>
        </pc:spChg>
      </pc:sldChg>
      <pc:sldChg chg="modSp mod">
        <pc:chgData name="Mat Gallehawk" userId="93dd6677-ad92-4f4d-8ebe-555150310a93" providerId="ADAL" clId="{33C960C2-4729-48F1-BE8C-7CE4A118F253}" dt="2023-05-24T07:33:51.996" v="905" actId="1076"/>
        <pc:sldMkLst>
          <pc:docMk/>
          <pc:sldMk cId="2002724009" sldId="316"/>
        </pc:sldMkLst>
        <pc:graphicFrameChg chg="modGraphic">
          <ac:chgData name="Mat Gallehawk" userId="93dd6677-ad92-4f4d-8ebe-555150310a93" providerId="ADAL" clId="{33C960C2-4729-48F1-BE8C-7CE4A118F253}" dt="2023-05-24T07:33:28.515" v="900" actId="14100"/>
          <ac:graphicFrameMkLst>
            <pc:docMk/>
            <pc:sldMk cId="2002724009" sldId="316"/>
            <ac:graphicFrameMk id="7" creationId="{602CEB80-8753-340E-6554-43F007E4011C}"/>
          </ac:graphicFrameMkLst>
        </pc:graphicFrameChg>
        <pc:graphicFrameChg chg="mod modGraphic">
          <ac:chgData name="Mat Gallehawk" userId="93dd6677-ad92-4f4d-8ebe-555150310a93" providerId="ADAL" clId="{33C960C2-4729-48F1-BE8C-7CE4A118F253}" dt="2023-05-24T07:33:51.996" v="905" actId="1076"/>
          <ac:graphicFrameMkLst>
            <pc:docMk/>
            <pc:sldMk cId="2002724009" sldId="316"/>
            <ac:graphicFrameMk id="11" creationId="{D3080BE6-B0DB-42C3-BA36-1B798428396A}"/>
          </ac:graphicFrameMkLst>
        </pc:graphicFrameChg>
        <pc:graphicFrameChg chg="mod modGraphic">
          <ac:chgData name="Mat Gallehawk" userId="93dd6677-ad92-4f4d-8ebe-555150310a93" providerId="ADAL" clId="{33C960C2-4729-48F1-BE8C-7CE4A118F253}" dt="2023-05-24T07:33:14.432" v="895" actId="2165"/>
          <ac:graphicFrameMkLst>
            <pc:docMk/>
            <pc:sldMk cId="2002724009" sldId="316"/>
            <ac:graphicFrameMk id="13" creationId="{37523912-6262-49F1-A4D9-2E91224164B9}"/>
          </ac:graphicFrameMkLst>
        </pc:graphicFrameChg>
      </pc:sldChg>
    </pc:docChg>
  </pc:docChgLst>
  <pc:docChgLst>
    <pc:chgData name="Mat Gallehawk" userId="93dd6677-ad92-4f4d-8ebe-555150310a93" providerId="ADAL" clId="{2DB82B87-7B68-4FFF-83B6-37CECB293A49}"/>
    <pc:docChg chg="undo custSel addSld modSld">
      <pc:chgData name="Mat Gallehawk" userId="93dd6677-ad92-4f4d-8ebe-555150310a93" providerId="ADAL" clId="{2DB82B87-7B68-4FFF-83B6-37CECB293A49}" dt="2023-05-26T01:52:40.065" v="972" actId="2165"/>
      <pc:docMkLst>
        <pc:docMk/>
      </pc:docMkLst>
      <pc:sldChg chg="modSp mod setBg modCm">
        <pc:chgData name="Mat Gallehawk" userId="93dd6677-ad92-4f4d-8ebe-555150310a93" providerId="ADAL" clId="{2DB82B87-7B68-4FFF-83B6-37CECB293A49}" dt="2023-05-26T01:52:12.992" v="969"/>
        <pc:sldMkLst>
          <pc:docMk/>
          <pc:sldMk cId="706047404" sldId="303"/>
        </pc:sldMkLst>
        <pc:spChg chg="mod">
          <ac:chgData name="Mat Gallehawk" userId="93dd6677-ad92-4f4d-8ebe-555150310a93" providerId="ADAL" clId="{2DB82B87-7B68-4FFF-83B6-37CECB293A49}" dt="2023-05-26T01:30:17.838" v="729" actId="1076"/>
          <ac:spMkLst>
            <pc:docMk/>
            <pc:sldMk cId="706047404" sldId="303"/>
            <ac:spMk id="2" creationId="{00000000-0000-0000-0000-000000000000}"/>
          </ac:spMkLst>
        </pc:spChg>
        <pc:spChg chg="mod">
          <ac:chgData name="Mat Gallehawk" userId="93dd6677-ad92-4f4d-8ebe-555150310a93" providerId="ADAL" clId="{2DB82B87-7B68-4FFF-83B6-37CECB293A49}" dt="2023-05-26T01:04:36.324" v="172" actId="20577"/>
          <ac:spMkLst>
            <pc:docMk/>
            <pc:sldMk cId="706047404" sldId="303"/>
            <ac:spMk id="19" creationId="{D307DA12-BC88-45FB-AB29-5D6C931A90A7}"/>
          </ac:spMkLst>
        </pc:spChg>
        <pc:spChg chg="mod">
          <ac:chgData name="Mat Gallehawk" userId="93dd6677-ad92-4f4d-8ebe-555150310a93" providerId="ADAL" clId="{2DB82B87-7B68-4FFF-83B6-37CECB293A49}" dt="2023-05-26T00:57:18.316" v="12" actId="14100"/>
          <ac:spMkLst>
            <pc:docMk/>
            <pc:sldMk cId="706047404" sldId="303"/>
            <ac:spMk id="20" creationId="{42B5F796-2812-4AA7-8386-3F1516DEB3E2}"/>
          </ac:spMkLst>
        </pc:spChg>
        <pc:spChg chg="mod">
          <ac:chgData name="Mat Gallehawk" userId="93dd6677-ad92-4f4d-8ebe-555150310a93" providerId="ADAL" clId="{2DB82B87-7B68-4FFF-83B6-37CECB293A49}" dt="2023-05-26T01:27:41.395" v="720" actId="14100"/>
          <ac:spMkLst>
            <pc:docMk/>
            <pc:sldMk cId="706047404" sldId="303"/>
            <ac:spMk id="27" creationId="{D8438A9C-EB05-4FBB-84AE-23B055BDFE77}"/>
          </ac:spMkLst>
        </pc:spChg>
        <pc:spChg chg="mod">
          <ac:chgData name="Mat Gallehawk" userId="93dd6677-ad92-4f4d-8ebe-555150310a93" providerId="ADAL" clId="{2DB82B87-7B68-4FFF-83B6-37CECB293A49}" dt="2023-05-26T01:28:03.645" v="723" actId="14100"/>
          <ac:spMkLst>
            <pc:docMk/>
            <pc:sldMk cId="706047404" sldId="303"/>
            <ac:spMk id="71" creationId="{1575A0AA-BA1D-474B-B788-9DECA0859473}"/>
          </ac:spMkLst>
        </pc:spChg>
        <pc:spChg chg="mod">
          <ac:chgData name="Mat Gallehawk" userId="93dd6677-ad92-4f4d-8ebe-555150310a93" providerId="ADAL" clId="{2DB82B87-7B68-4FFF-83B6-37CECB293A49}" dt="2023-05-26T01:27:54.891" v="722" actId="14100"/>
          <ac:spMkLst>
            <pc:docMk/>
            <pc:sldMk cId="706047404" sldId="303"/>
            <ac:spMk id="90" creationId="{4C02FC07-ABF3-4DC3-AEAC-CA1C0D94D7D3}"/>
          </ac:spMkLst>
        </pc:spChg>
        <pc:spChg chg="mod">
          <ac:chgData name="Mat Gallehawk" userId="93dd6677-ad92-4f4d-8ebe-555150310a93" providerId="ADAL" clId="{2DB82B87-7B68-4FFF-83B6-37CECB293A49}" dt="2023-05-26T00:57:30.667" v="16" actId="14100"/>
          <ac:spMkLst>
            <pc:docMk/>
            <pc:sldMk cId="706047404" sldId="303"/>
            <ac:spMk id="105" creationId="{935DB517-4846-4ABF-B886-3872404A019E}"/>
          </ac:spMkLst>
        </pc:spChg>
        <pc:spChg chg="mod">
          <ac:chgData name="Mat Gallehawk" userId="93dd6677-ad92-4f4d-8ebe-555150310a93" providerId="ADAL" clId="{2DB82B87-7B68-4FFF-83B6-37CECB293A49}" dt="2023-05-26T00:57:57.563" v="23" actId="6549"/>
          <ac:spMkLst>
            <pc:docMk/>
            <pc:sldMk cId="706047404" sldId="303"/>
            <ac:spMk id="106" creationId="{6BFB0AB0-9B20-4334-A4D8-DFE8F054D1A3}"/>
          </ac:spMkLst>
        </pc:spChg>
        <pc:spChg chg="mod">
          <ac:chgData name="Mat Gallehawk" userId="93dd6677-ad92-4f4d-8ebe-555150310a93" providerId="ADAL" clId="{2DB82B87-7B68-4FFF-83B6-37CECB293A49}" dt="2023-05-26T00:55:58.463" v="7" actId="403"/>
          <ac:spMkLst>
            <pc:docMk/>
            <pc:sldMk cId="706047404" sldId="303"/>
            <ac:spMk id="178" creationId="{A56859B0-368B-4C06-B39E-98269D0EBB8B}"/>
          </ac:spMkLst>
        </pc:spChg>
        <pc:grpChg chg="mod">
          <ac:chgData name="Mat Gallehawk" userId="93dd6677-ad92-4f4d-8ebe-555150310a93" providerId="ADAL" clId="{2DB82B87-7B68-4FFF-83B6-37CECB293A49}" dt="2023-05-26T01:26:54.101" v="711" actId="1076"/>
          <ac:grpSpMkLst>
            <pc:docMk/>
            <pc:sldMk cId="706047404" sldId="303"/>
            <ac:grpSpMk id="5" creationId="{5EF91EC4-D9E0-D6BD-1466-C3CAB9A272CA}"/>
          </ac:grpSpMkLst>
        </pc:grpChg>
        <pc:picChg chg="mod">
          <ac:chgData name="Mat Gallehawk" userId="93dd6677-ad92-4f4d-8ebe-555150310a93" providerId="ADAL" clId="{2DB82B87-7B68-4FFF-83B6-37CECB293A49}" dt="2023-05-26T01:26:47.501" v="709" actId="207"/>
          <ac:picMkLst>
            <pc:docMk/>
            <pc:sldMk cId="706047404" sldId="303"/>
            <ac:picMk id="3" creationId="{30FC6B59-A52C-4781-8189-1B1515307E42}"/>
          </ac:picMkLst>
        </pc:picChg>
        <pc:picChg chg="mod">
          <ac:chgData name="Mat Gallehawk" userId="93dd6677-ad92-4f4d-8ebe-555150310a93" providerId="ADAL" clId="{2DB82B87-7B68-4FFF-83B6-37CECB293A49}" dt="2023-05-26T01:27:00.252" v="713" actId="14100"/>
          <ac:picMkLst>
            <pc:docMk/>
            <pc:sldMk cId="706047404" sldId="303"/>
            <ac:picMk id="4" creationId="{E9A13A35-0A25-4CFE-9F9A-2FAD43587B65}"/>
          </ac:picMkLst>
        </pc:picChg>
        <pc:picChg chg="mod">
          <ac:chgData name="Mat Gallehawk" userId="93dd6677-ad92-4f4d-8ebe-555150310a93" providerId="ADAL" clId="{2DB82B87-7B68-4FFF-83B6-37CECB293A49}" dt="2023-05-26T01:27:03.167" v="714" actId="14100"/>
          <ac:picMkLst>
            <pc:docMk/>
            <pc:sldMk cId="706047404" sldId="303"/>
            <ac:picMk id="7" creationId="{BC307914-64A1-42B1-8E31-BD18743F2B32}"/>
          </ac:picMkLst>
        </pc:picChg>
        <pc:picChg chg="mod">
          <ac:chgData name="Mat Gallehawk" userId="93dd6677-ad92-4f4d-8ebe-555150310a93" providerId="ADAL" clId="{2DB82B87-7B68-4FFF-83B6-37CECB293A49}" dt="2023-05-26T01:27:05.566" v="715" actId="14100"/>
          <ac:picMkLst>
            <pc:docMk/>
            <pc:sldMk cId="706047404" sldId="303"/>
            <ac:picMk id="8" creationId="{4D219E5F-1A57-451C-9DBA-A8FAA21A25DA}"/>
          </ac:picMkLst>
        </pc:picChg>
        <pc:picChg chg="mod">
          <ac:chgData name="Mat Gallehawk" userId="93dd6677-ad92-4f4d-8ebe-555150310a93" providerId="ADAL" clId="{2DB82B87-7B68-4FFF-83B6-37CECB293A49}" dt="2023-05-26T01:27:07.623" v="716" actId="14100"/>
          <ac:picMkLst>
            <pc:docMk/>
            <pc:sldMk cId="706047404" sldId="303"/>
            <ac:picMk id="9" creationId="{5F719AEB-D26C-44D2-89AB-6E2F9573B965}"/>
          </ac:picMkLst>
        </pc:picChg>
      </pc:sldChg>
      <pc:sldChg chg="addSp delSp modSp mod setBg">
        <pc:chgData name="Mat Gallehawk" userId="93dd6677-ad92-4f4d-8ebe-555150310a93" providerId="ADAL" clId="{2DB82B87-7B68-4FFF-83B6-37CECB293A49}" dt="2023-05-26T01:25:21.790" v="706"/>
        <pc:sldMkLst>
          <pc:docMk/>
          <pc:sldMk cId="4142188576" sldId="309"/>
        </pc:sldMkLst>
        <pc:graphicFrameChg chg="modGraphic">
          <ac:chgData name="Mat Gallehawk" userId="93dd6677-ad92-4f4d-8ebe-555150310a93" providerId="ADAL" clId="{2DB82B87-7B68-4FFF-83B6-37CECB293A49}" dt="2023-05-26T01:24:41.777" v="705" actId="20577"/>
          <ac:graphicFrameMkLst>
            <pc:docMk/>
            <pc:sldMk cId="4142188576" sldId="309"/>
            <ac:graphicFrameMk id="4" creationId="{29666C4F-9C00-D7B0-A007-CA414DB1D327}"/>
          </ac:graphicFrameMkLst>
        </pc:graphicFrameChg>
        <pc:graphicFrameChg chg="add del">
          <ac:chgData name="Mat Gallehawk" userId="93dd6677-ad92-4f4d-8ebe-555150310a93" providerId="ADAL" clId="{2DB82B87-7B68-4FFF-83B6-37CECB293A49}" dt="2023-05-26T01:23:21.485" v="692" actId="478"/>
          <ac:graphicFrameMkLst>
            <pc:docMk/>
            <pc:sldMk cId="4142188576" sldId="309"/>
            <ac:graphicFrameMk id="5" creationId="{FDBCE0BD-8A5A-B47D-816E-D321D46A1579}"/>
          </ac:graphicFrameMkLst>
        </pc:graphicFrameChg>
      </pc:sldChg>
      <pc:sldChg chg="modSp setBg modCm">
        <pc:chgData name="Mat Gallehawk" userId="93dd6677-ad92-4f4d-8ebe-555150310a93" providerId="ADAL" clId="{2DB82B87-7B68-4FFF-83B6-37CECB293A49}" dt="2023-05-26T01:25:21.790" v="706"/>
        <pc:sldMkLst>
          <pc:docMk/>
          <pc:sldMk cId="1242019225" sldId="311"/>
        </pc:sldMkLst>
        <pc:graphicFrameChg chg="mod">
          <ac:chgData name="Mat Gallehawk" userId="93dd6677-ad92-4f4d-8ebe-555150310a93" providerId="ADAL" clId="{2DB82B87-7B68-4FFF-83B6-37CECB293A49}" dt="2023-05-26T01:01:45.545" v="71"/>
          <ac:graphicFrameMkLst>
            <pc:docMk/>
            <pc:sldMk cId="1242019225" sldId="311"/>
            <ac:graphicFrameMk id="12" creationId="{A5F7B025-22DB-4619-ADC6-8DD902855652}"/>
          </ac:graphicFrameMkLst>
        </pc:graphicFrameChg>
      </pc:sldChg>
      <pc:sldChg chg="addSp delSp modSp mod setBg modCm">
        <pc:chgData name="Mat Gallehawk" userId="93dd6677-ad92-4f4d-8ebe-555150310a93" providerId="ADAL" clId="{2DB82B87-7B68-4FFF-83B6-37CECB293A49}" dt="2023-05-26T01:25:21.790" v="706"/>
        <pc:sldMkLst>
          <pc:docMk/>
          <pc:sldMk cId="2002724009" sldId="316"/>
        </pc:sldMkLst>
        <pc:spChg chg="add del mod">
          <ac:chgData name="Mat Gallehawk" userId="93dd6677-ad92-4f4d-8ebe-555150310a93" providerId="ADAL" clId="{2DB82B87-7B68-4FFF-83B6-37CECB293A49}" dt="2023-05-26T01:21:15.699" v="673" actId="478"/>
          <ac:spMkLst>
            <pc:docMk/>
            <pc:sldMk cId="2002724009" sldId="316"/>
            <ac:spMk id="3" creationId="{386F4D15-8F03-C85D-B71A-AAC54537DD04}"/>
          </ac:spMkLst>
        </pc:spChg>
        <pc:spChg chg="add del mod">
          <ac:chgData name="Mat Gallehawk" userId="93dd6677-ad92-4f4d-8ebe-555150310a93" providerId="ADAL" clId="{2DB82B87-7B68-4FFF-83B6-37CECB293A49}" dt="2023-05-26T01:20:29.006" v="666" actId="478"/>
          <ac:spMkLst>
            <pc:docMk/>
            <pc:sldMk cId="2002724009" sldId="316"/>
            <ac:spMk id="4" creationId="{A4DD0798-B632-BD8C-783B-FD87F3D48F0A}"/>
          </ac:spMkLst>
        </pc:spChg>
        <pc:graphicFrameChg chg="mod modGraphic">
          <ac:chgData name="Mat Gallehawk" userId="93dd6677-ad92-4f4d-8ebe-555150310a93" providerId="ADAL" clId="{2DB82B87-7B68-4FFF-83B6-37CECB293A49}" dt="2023-05-26T01:21:09.674" v="671"/>
          <ac:graphicFrameMkLst>
            <pc:docMk/>
            <pc:sldMk cId="2002724009" sldId="316"/>
            <ac:graphicFrameMk id="7" creationId="{602CEB80-8753-340E-6554-43F007E4011C}"/>
          </ac:graphicFrameMkLst>
        </pc:graphicFrameChg>
        <pc:graphicFrameChg chg="mod modGraphic">
          <ac:chgData name="Mat Gallehawk" userId="93dd6677-ad92-4f4d-8ebe-555150310a93" providerId="ADAL" clId="{2DB82B87-7B68-4FFF-83B6-37CECB293A49}" dt="2023-05-26T01:22:11.758" v="680"/>
          <ac:graphicFrameMkLst>
            <pc:docMk/>
            <pc:sldMk cId="2002724009" sldId="316"/>
            <ac:graphicFrameMk id="11" creationId="{D3080BE6-B0DB-42C3-BA36-1B798428396A}"/>
          </ac:graphicFrameMkLst>
        </pc:graphicFrameChg>
        <pc:graphicFrameChg chg="mod modGraphic">
          <ac:chgData name="Mat Gallehawk" userId="93dd6677-ad92-4f4d-8ebe-555150310a93" providerId="ADAL" clId="{2DB82B87-7B68-4FFF-83B6-37CECB293A49}" dt="2023-05-26T01:22:48.142" v="687"/>
          <ac:graphicFrameMkLst>
            <pc:docMk/>
            <pc:sldMk cId="2002724009" sldId="316"/>
            <ac:graphicFrameMk id="13" creationId="{37523912-6262-49F1-A4D9-2E91224164B9}"/>
          </ac:graphicFrameMkLst>
        </pc:graphicFrameChg>
      </pc:sldChg>
      <pc:sldChg chg="addSp modSp new mod setBg">
        <pc:chgData name="Mat Gallehawk" userId="93dd6677-ad92-4f4d-8ebe-555150310a93" providerId="ADAL" clId="{2DB82B87-7B68-4FFF-83B6-37CECB293A49}" dt="2023-05-26T01:52:40.065" v="972" actId="2165"/>
        <pc:sldMkLst>
          <pc:docMk/>
          <pc:sldMk cId="2600162261" sldId="317"/>
        </pc:sldMkLst>
        <pc:spChg chg="mod">
          <ac:chgData name="Mat Gallehawk" userId="93dd6677-ad92-4f4d-8ebe-555150310a93" providerId="ADAL" clId="{2DB82B87-7B68-4FFF-83B6-37CECB293A49}" dt="2023-05-26T01:31:13.261" v="737" actId="1076"/>
          <ac:spMkLst>
            <pc:docMk/>
            <pc:sldMk cId="2600162261" sldId="317"/>
            <ac:spMk id="2" creationId="{87DB0A8D-ACCB-96DA-B166-4E98F423309F}"/>
          </ac:spMkLst>
        </pc:spChg>
        <pc:spChg chg="mod">
          <ac:chgData name="Mat Gallehawk" userId="93dd6677-ad92-4f4d-8ebe-555150310a93" providerId="ADAL" clId="{2DB82B87-7B68-4FFF-83B6-37CECB293A49}" dt="2023-05-26T01:32:59.260" v="782" actId="21"/>
          <ac:spMkLst>
            <pc:docMk/>
            <pc:sldMk cId="2600162261" sldId="317"/>
            <ac:spMk id="3" creationId="{5CAA4749-E190-F8D6-A832-C5BBA0018188}"/>
          </ac:spMkLst>
        </pc:spChg>
        <pc:graphicFrameChg chg="add mod modGraphic">
          <ac:chgData name="Mat Gallehawk" userId="93dd6677-ad92-4f4d-8ebe-555150310a93" providerId="ADAL" clId="{2DB82B87-7B68-4FFF-83B6-37CECB293A49}" dt="2023-05-26T01:52:40.065" v="972" actId="2165"/>
          <ac:graphicFrameMkLst>
            <pc:docMk/>
            <pc:sldMk cId="2600162261" sldId="317"/>
            <ac:graphicFrameMk id="4" creationId="{2BFDD147-53EA-DDB2-F6DD-EB9847F70774}"/>
          </ac:graphicFrameMkLst>
        </pc:graphicFrameChg>
      </pc:sldChg>
    </pc:docChg>
  </pc:docChgLst>
  <pc:docChgLst>
    <pc:chgData name="Darren Daly" userId="819567e7-b13d-426c-99fa-035b2637d784" providerId="ADAL" clId="{B72EB50B-241F-4DF6-9301-751CDE4D8B55}"/>
    <pc:docChg chg="undo custSel modSld">
      <pc:chgData name="Darren Daly" userId="819567e7-b13d-426c-99fa-035b2637d784" providerId="ADAL" clId="{B72EB50B-241F-4DF6-9301-751CDE4D8B55}" dt="2023-05-26T01:46:29.603" v="473" actId="20577"/>
      <pc:docMkLst>
        <pc:docMk/>
      </pc:docMkLst>
      <pc:sldChg chg="modSp mod">
        <pc:chgData name="Darren Daly" userId="819567e7-b13d-426c-99fa-035b2637d784" providerId="ADAL" clId="{B72EB50B-241F-4DF6-9301-751CDE4D8B55}" dt="2023-05-26T01:39:54.016" v="1" actId="14734"/>
        <pc:sldMkLst>
          <pc:docMk/>
          <pc:sldMk cId="4142188576" sldId="309"/>
        </pc:sldMkLst>
        <pc:graphicFrameChg chg="modGraphic">
          <ac:chgData name="Darren Daly" userId="819567e7-b13d-426c-99fa-035b2637d784" providerId="ADAL" clId="{B72EB50B-241F-4DF6-9301-751CDE4D8B55}" dt="2023-05-26T01:39:54.016" v="1" actId="14734"/>
          <ac:graphicFrameMkLst>
            <pc:docMk/>
            <pc:sldMk cId="4142188576" sldId="309"/>
            <ac:graphicFrameMk id="4" creationId="{29666C4F-9C00-D7B0-A007-CA414DB1D327}"/>
          </ac:graphicFrameMkLst>
        </pc:graphicFrameChg>
      </pc:sldChg>
      <pc:sldChg chg="modSp mod">
        <pc:chgData name="Darren Daly" userId="819567e7-b13d-426c-99fa-035b2637d784" providerId="ADAL" clId="{B72EB50B-241F-4DF6-9301-751CDE4D8B55}" dt="2023-05-26T01:46:29.603" v="473" actId="20577"/>
        <pc:sldMkLst>
          <pc:docMk/>
          <pc:sldMk cId="2600162261" sldId="317"/>
        </pc:sldMkLst>
        <pc:graphicFrameChg chg="modGraphic">
          <ac:chgData name="Darren Daly" userId="819567e7-b13d-426c-99fa-035b2637d784" providerId="ADAL" clId="{B72EB50B-241F-4DF6-9301-751CDE4D8B55}" dt="2023-05-26T01:46:29.603" v="473" actId="20577"/>
          <ac:graphicFrameMkLst>
            <pc:docMk/>
            <pc:sldMk cId="2600162261" sldId="317"/>
            <ac:graphicFrameMk id="4" creationId="{2BFDD147-53EA-DDB2-F6DD-EB9847F70774}"/>
          </ac:graphicFrameMkLst>
        </pc:graphicFrameChg>
      </pc:sldChg>
    </pc:docChg>
  </pc:docChgLst>
</pc:chgInfo>
</file>

<file path=ppt/comments/modernComment_12F_2A156DA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CE7818-E7C6-4A15-AF75-5D0283BA1D08}" authorId="{40A5DFDA-5CC7-2000-BFAB-7A132380A200}" status="resolved" created="2023-05-24T01:32:29.353" complete="100000">
    <pc:sldMkLst xmlns:pc="http://schemas.microsoft.com/office/powerpoint/2013/main/command">
      <pc:docMk/>
      <pc:sldMk cId="706047404" sldId="303"/>
    </pc:sldMkLst>
    <p188:txBody>
      <a:bodyPr/>
      <a:lstStyle/>
      <a:p>
        <a:r>
          <a:rPr lang="en-AU"/>
          <a:t>split box add race box moving forward
</a:t>
        </a:r>
      </a:p>
    </p188:txBody>
  </p188:cm>
  <p188:cm id="{A501A779-97F9-450A-B39B-9E7D171F1AA5}" authorId="{40A5DFDA-5CC7-2000-BFAB-7A132380A200}" status="resolved" created="2023-05-24T02:04:27.315" complete="100000">
    <pc:sldMkLst xmlns:pc="http://schemas.microsoft.com/office/powerpoint/2013/main/command">
      <pc:docMk/>
      <pc:sldMk cId="706047404" sldId="303"/>
    </pc:sldMkLst>
    <p188:txBody>
      <a:bodyPr/>
      <a:lstStyle/>
      <a:p>
        <a:r>
          <a:rPr lang="en-AU"/>
          <a:t>re do buisness need and scope
</a:t>
        </a:r>
      </a:p>
    </p188:txBody>
  </p188:cm>
  <p188:cm id="{51A31DE7-AE55-4463-B7C3-8875ACB28A78}" authorId="{40A5DFDA-5CC7-2000-BFAB-7A132380A200}" status="resolved" created="2023-05-24T02:05:01.059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06047404" sldId="303"/>
      <ac:spMk id="2" creationId="{00000000-0000-0000-0000-000000000000}"/>
    </ac:deMkLst>
    <p188:txBody>
      <a:bodyPr/>
      <a:lstStyle/>
      <a:p>
        <a:r>
          <a:rPr lang="en-AU"/>
          <a:t>adjust sprint 2 to include jabra and ethan</a:t>
        </a:r>
      </a:p>
    </p188:txBody>
  </p188:cm>
  <p188:cm id="{26001FA5-C9FD-478F-8324-2B845253D683}" authorId="{40A5DFDA-5CC7-2000-BFAB-7A132380A200}" status="resolved" created="2023-05-24T02:05:41.626" complete="100000">
    <pc:sldMkLst xmlns:pc="http://schemas.microsoft.com/office/powerpoint/2013/main/command">
      <pc:docMk/>
      <pc:sldMk cId="706047404" sldId="303"/>
    </pc:sldMkLst>
    <p188:txBody>
      <a:bodyPr/>
      <a:lstStyle/>
      <a:p>
        <a:r>
          <a:rPr lang="en-AU"/>
          <a:t>adjust approval conditions remove porfolio and move monkey to buisness systems
</a:t>
        </a:r>
      </a:p>
    </p188:txBody>
  </p188:cm>
</p188:cmLst>
</file>

<file path=ppt/comments/modernComment_13C_775F24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89D1843-1BD9-40F4-AC84-42FB10585FFB}" authorId="{40A5DFDA-5CC7-2000-BFAB-7A132380A200}" status="resolved" created="2023-05-22T06:34:36.735" complete="100000">
    <pc:sldMkLst xmlns:pc="http://schemas.microsoft.com/office/powerpoint/2013/main/command">
      <pc:docMk/>
      <pc:sldMk cId="2002724009" sldId="316"/>
    </pc:sldMkLst>
    <p188:txBody>
      <a:bodyPr/>
      <a:lstStyle/>
      <a:p>
        <a:r>
          <a:rPr lang="en-AU"/>
          <a:t>Abbreviate high level
Include other sprints
Include dependancies</a:t>
        </a:r>
      </a:p>
    </p188:txBody>
  </p188:cm>
</p188:cmLst>
</file>

<file path=ppt/comments/modernComment_137_4A07B5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4F1B2A8-37A6-4028-9AA0-924558CA2DD1}" authorId="{40A5DFDA-5CC7-2000-BFAB-7A132380A200}" status="resolved" created="2023-05-22T06:33:50.470" complete="100000">
    <pc:sldMkLst xmlns:pc="http://schemas.microsoft.com/office/powerpoint/2013/main/command">
      <pc:docMk/>
      <pc:sldMk cId="1242019225" sldId="311"/>
    </pc:sldMkLst>
    <p188:txBody>
      <a:bodyPr/>
      <a:lstStyle/>
      <a:p>
        <a:r>
          <a:rPr lang="en-AU"/>
          <a:t>Issues management log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4C063-0DAC-48D2-81AC-C1E8F4FA1644}" type="datetimeFigureOut">
              <a:rPr lang="en-AU" smtClean="0"/>
              <a:t>26/05/2023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A8F14D-BABA-4297-9944-8AC3DCD9DE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480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8F14D-BABA-4297-9944-8AC3DCD9DE6F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745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0729"/>
            <a:ext cx="105156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1" y="6542089"/>
            <a:ext cx="1932516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26/05/2023</a:t>
            </a:fld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790518" y="6542089"/>
            <a:ext cx="1229783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1838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9409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2800" y="3702378"/>
            <a:ext cx="9144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2800" y="5424836"/>
            <a:ext cx="9144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26/05/2023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6865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0729"/>
            <a:ext cx="105156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1" y="6542089"/>
            <a:ext cx="1932516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26/05/2023</a:t>
            </a:fld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790518" y="6542089"/>
            <a:ext cx="1229783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2325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930401" y="3892551"/>
            <a:ext cx="333163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66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984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26/05/2023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755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microsoft.com/office/2018/10/relationships/comments" Target="../comments/modernComment_12F_2A156DAC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C_775F24A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8/10/relationships/comments" Target="../comments/modernComment_137_4A07B59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5565" y="118140"/>
            <a:ext cx="5780870" cy="409161"/>
          </a:xfrm>
        </p:spPr>
        <p:txBody>
          <a:bodyPr/>
          <a:lstStyle/>
          <a:p>
            <a:r>
              <a:rPr lang="en-AU" dirty="0"/>
              <a:t>Snow Asset Management Integration Project</a:t>
            </a:r>
            <a:endParaRPr lang="en-AU" sz="11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EF91EC4-D9E0-D6BD-1466-C3CAB9A272CA}"/>
              </a:ext>
            </a:extLst>
          </p:cNvPr>
          <p:cNvGrpSpPr/>
          <p:nvPr/>
        </p:nvGrpSpPr>
        <p:grpSpPr>
          <a:xfrm>
            <a:off x="225514" y="624753"/>
            <a:ext cx="11603518" cy="5227511"/>
            <a:chOff x="225514" y="416860"/>
            <a:chExt cx="10339429" cy="540514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0348E2-0941-4277-9193-50D50D3F569B}"/>
                </a:ext>
              </a:extLst>
            </p:cNvPr>
            <p:cNvSpPr/>
            <p:nvPr/>
          </p:nvSpPr>
          <p:spPr bwMode="auto">
            <a:xfrm>
              <a:off x="225514" y="754924"/>
              <a:ext cx="3523921" cy="1838116"/>
            </a:xfrm>
            <a:prstGeom prst="rect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Service Now asset management is not accurately displaying the state of the ICT assets. </a:t>
              </a:r>
              <a:br>
                <a:rPr lang="en-US" sz="1000" dirty="0">
                  <a:solidFill>
                    <a:schemeClr val="tx1"/>
                  </a:solidFill>
                </a:rPr>
              </a:br>
              <a:r>
                <a:rPr lang="en-US" sz="1000" dirty="0">
                  <a:solidFill>
                    <a:schemeClr val="tx1"/>
                  </a:solidFill>
                </a:rPr>
                <a:t>This affects the accuracy of reporting, as well as creates issues for assigning hardware and tracking assets.</a:t>
              </a:r>
            </a:p>
            <a:p>
              <a:r>
                <a:rPr lang="en-US" sz="1000" dirty="0">
                  <a:solidFill>
                    <a:schemeClr val="tx1"/>
                  </a:solidFill>
                </a:rPr>
                <a:t> </a:t>
              </a:r>
            </a:p>
            <a:p>
              <a:r>
                <a:rPr lang="en-US" sz="1000" dirty="0">
                  <a:solidFill>
                    <a:schemeClr val="tx1"/>
                  </a:solidFill>
                </a:rPr>
                <a:t>The result of this project, shall update SNOW Asset management on a regular basis to address these issues.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71B0FC-BFDF-49D6-99C0-CE1CD83C76DD}"/>
                </a:ext>
              </a:extLst>
            </p:cNvPr>
            <p:cNvSpPr/>
            <p:nvPr/>
          </p:nvSpPr>
          <p:spPr bwMode="auto">
            <a:xfrm>
              <a:off x="225514" y="422973"/>
              <a:ext cx="3523921" cy="268625"/>
            </a:xfrm>
            <a:prstGeom prst="rect">
              <a:avLst/>
            </a:prstGeom>
            <a:solidFill>
              <a:srgbClr val="00B0D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ctr" anchorCtr="0"/>
            <a:lstStyle/>
            <a:p>
              <a:pPr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1200" b="1" dirty="0">
                  <a:solidFill>
                    <a:srgbClr val="FFFFFF"/>
                  </a:solidFill>
                  <a:latin typeface="Roboto Condensed Light"/>
                </a:rPr>
                <a:t>Business Need, Objectives &amp; Benefits</a:t>
              </a: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6DAF16B1-792A-4E8E-893D-A43BAECF5866}"/>
                </a:ext>
              </a:extLst>
            </p:cNvPr>
            <p:cNvSpPr/>
            <p:nvPr/>
          </p:nvSpPr>
          <p:spPr bwMode="auto">
            <a:xfrm>
              <a:off x="7411408" y="421524"/>
              <a:ext cx="3111903" cy="268625"/>
            </a:xfrm>
            <a:prstGeom prst="rect">
              <a:avLst/>
            </a:prstGeom>
            <a:solidFill>
              <a:srgbClr val="00B0D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ctr" anchorCtr="0"/>
            <a:lstStyle/>
            <a:p>
              <a:pPr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1200" b="1">
                  <a:solidFill>
                    <a:srgbClr val="FFFFFF"/>
                  </a:solidFill>
                  <a:latin typeface="Roboto Condensed Light"/>
                </a:rPr>
                <a:t>Key Stakeholders</a:t>
              </a: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A56859B0-368B-4C06-B39E-98269D0EBB8B}"/>
                </a:ext>
              </a:extLst>
            </p:cNvPr>
            <p:cNvSpPr/>
            <p:nvPr/>
          </p:nvSpPr>
          <p:spPr bwMode="auto">
            <a:xfrm>
              <a:off x="7411408" y="726320"/>
              <a:ext cx="1480890" cy="1866720"/>
            </a:xfrm>
            <a:prstGeom prst="rect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algn="just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900" b="1" dirty="0">
                  <a:solidFill>
                    <a:srgbClr val="292934"/>
                  </a:solidFill>
                  <a:latin typeface="Roboto Condensed Light"/>
                </a:rPr>
                <a:t>Executive</a:t>
              </a:r>
              <a:r>
                <a:rPr lang="en-AU" sz="900" dirty="0">
                  <a:solidFill>
                    <a:srgbClr val="292934"/>
                  </a:solidFill>
                  <a:latin typeface="Roboto Condensed Light"/>
                </a:rPr>
                <a:t>:		&lt;GM&gt;</a:t>
              </a:r>
            </a:p>
            <a:p>
              <a:pPr algn="just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900" b="1" dirty="0">
                  <a:solidFill>
                    <a:srgbClr val="292934"/>
                  </a:solidFill>
                  <a:latin typeface="Roboto Condensed Light"/>
                </a:rPr>
                <a:t>Business Lead</a:t>
              </a:r>
              <a:r>
                <a:rPr lang="en-AU" sz="900" dirty="0">
                  <a:solidFill>
                    <a:srgbClr val="292934"/>
                  </a:solidFill>
                  <a:latin typeface="Roboto Condensed Light"/>
                </a:rPr>
                <a:t>:		&lt;Mathew Gallehawk&gt;</a:t>
              </a:r>
            </a:p>
            <a:p>
              <a:pPr algn="just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900" b="1" dirty="0">
                  <a:solidFill>
                    <a:srgbClr val="292934"/>
                  </a:solidFill>
                  <a:latin typeface="Roboto Condensed Light"/>
                </a:rPr>
                <a:t>Contributing Division(s): 	</a:t>
              </a:r>
            </a:p>
            <a:p>
              <a:pPr algn="just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900" dirty="0">
                  <a:solidFill>
                    <a:srgbClr val="292934"/>
                  </a:solidFill>
                  <a:latin typeface="Roboto Condensed Light"/>
                </a:rPr>
                <a:t>&lt;ServiceDesk, Business systems&gt;</a:t>
              </a:r>
            </a:p>
            <a:p>
              <a:pPr algn="just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900" b="1" dirty="0">
                  <a:solidFill>
                    <a:srgbClr val="292934"/>
                  </a:solidFill>
                  <a:latin typeface="Roboto Condensed Light"/>
                </a:rPr>
                <a:t>Team member</a:t>
              </a:r>
              <a:r>
                <a:rPr lang="en-AU" sz="900" dirty="0">
                  <a:solidFill>
                    <a:srgbClr val="292934"/>
                  </a:solidFill>
                  <a:latin typeface="Roboto Condensed Light"/>
                </a:rPr>
                <a:t>:		&lt;Name&gt;</a:t>
              </a:r>
            </a:p>
            <a:p>
              <a:pPr algn="just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600" dirty="0">
                  <a:solidFill>
                    <a:srgbClr val="292934"/>
                  </a:solidFill>
                  <a:latin typeface="Roboto Condensed Light"/>
                </a:rPr>
                <a:t>	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75A28A0-C0CF-4BA8-84A6-59AB5CE4DE78}"/>
                </a:ext>
              </a:extLst>
            </p:cNvPr>
            <p:cNvSpPr/>
            <p:nvPr/>
          </p:nvSpPr>
          <p:spPr bwMode="auto">
            <a:xfrm>
              <a:off x="225514" y="2643267"/>
              <a:ext cx="3523920" cy="209256"/>
            </a:xfrm>
            <a:prstGeom prst="rect">
              <a:avLst/>
            </a:prstGeom>
            <a:solidFill>
              <a:srgbClr val="00B0D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ctr" anchorCtr="0"/>
            <a:lstStyle/>
            <a:p>
              <a:pPr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1200" b="1">
                  <a:solidFill>
                    <a:srgbClr val="FFFFFF"/>
                  </a:solidFill>
                  <a:latin typeface="Roboto Condensed Light"/>
                </a:rPr>
                <a:t>Planning Considerations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BCBB94-621E-4A5D-A9CC-E2AA6A224536}"/>
                </a:ext>
              </a:extLst>
            </p:cNvPr>
            <p:cNvSpPr/>
            <p:nvPr/>
          </p:nvSpPr>
          <p:spPr bwMode="auto">
            <a:xfrm>
              <a:off x="3818461" y="416860"/>
              <a:ext cx="3523920" cy="268625"/>
            </a:xfrm>
            <a:prstGeom prst="rect">
              <a:avLst/>
            </a:prstGeom>
            <a:solidFill>
              <a:srgbClr val="00B0D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ctr" anchorCtr="0"/>
            <a:lstStyle/>
            <a:p>
              <a:pPr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1200" b="1" dirty="0">
                  <a:solidFill>
                    <a:srgbClr val="FFFFFF"/>
                  </a:solidFill>
                  <a:latin typeface="Roboto Condensed Light"/>
                </a:rPr>
                <a:t>Delivery Approach / Scope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307DA12-BC88-45FB-AB29-5D6C931A90A7}"/>
                </a:ext>
              </a:extLst>
            </p:cNvPr>
            <p:cNvSpPr/>
            <p:nvPr/>
          </p:nvSpPr>
          <p:spPr bwMode="auto">
            <a:xfrm>
              <a:off x="225514" y="2915849"/>
              <a:ext cx="3523921" cy="2906157"/>
            </a:xfrm>
            <a:prstGeom prst="rect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Estimated Start period 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Within 3mths.</a:t>
              </a:r>
            </a:p>
            <a:p>
              <a:pPr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Estimated Cost. 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Is the internal </a:t>
              </a:r>
              <a:r>
                <a:rPr lang="en-AU" sz="1000" dirty="0" err="1">
                  <a:solidFill>
                    <a:srgbClr val="292934"/>
                  </a:solidFill>
                  <a:latin typeface="Roboto Condensed Light"/>
                </a:rPr>
                <a:t>labor</a:t>
              </a: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 only,</a:t>
              </a:r>
            </a:p>
            <a:p>
              <a:pPr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Assumptions 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Business Systems will provide ongoing support for the product.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Intune is the primary source of import data.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Solution will be an adaption to a current process. </a:t>
              </a:r>
            </a:p>
            <a:p>
              <a:pPr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Dependencies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Incorporation of monitors is reliant on ‘HP Monitors Fleet Management’ project.</a:t>
              </a:r>
            </a:p>
            <a:p>
              <a:pPr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Risk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Risk of corrupting data on the current asset management system.  Mitigated by testing in the Development environment coupled with peer review and rollback options.</a:t>
              </a:r>
            </a:p>
            <a:p>
              <a:pPr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Constraints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Service Desk Duties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Quality of Asset Data / Data Sources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endParaRPr lang="en-AU" sz="1000" dirty="0">
                <a:solidFill>
                  <a:srgbClr val="292934"/>
                </a:solidFill>
                <a:latin typeface="Roboto Condensed Light"/>
              </a:endParaRPr>
            </a:p>
            <a:p>
              <a:pPr marL="171450" indent="-17145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endParaRPr lang="en-AU" sz="1000" dirty="0">
                <a:solidFill>
                  <a:srgbClr val="292934"/>
                </a:solidFill>
                <a:latin typeface="Roboto Condensed Ligh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2B5F796-2812-4AA7-8386-3F1516DEB3E2}"/>
                </a:ext>
              </a:extLst>
            </p:cNvPr>
            <p:cNvSpPr/>
            <p:nvPr/>
          </p:nvSpPr>
          <p:spPr bwMode="auto">
            <a:xfrm>
              <a:off x="3819186" y="740729"/>
              <a:ext cx="3523195" cy="3698379"/>
            </a:xfrm>
            <a:prstGeom prst="rect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Sprint 1 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Prototype script that generates the required output to update Snow Asset Management.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Add functionality to manage Phones and computers.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Add functionality to adjust mandatory fields in snow.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Add error handling and portability.</a:t>
              </a:r>
            </a:p>
            <a:p>
              <a:pPr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defRPr/>
              </a:pPr>
              <a:endParaRPr lang="en-AU" sz="1000" dirty="0">
                <a:solidFill>
                  <a:srgbClr val="292934"/>
                </a:solidFill>
                <a:latin typeface="Roboto Condensed Light"/>
              </a:endParaRPr>
            </a:p>
            <a:p>
              <a:pPr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Sprint 2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Add functionality to include Monitors.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Add functionality to include Headsets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Add functionality to incorporate Ethen Group export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endParaRPr lang="en-AU" sz="1000" dirty="0">
                <a:solidFill>
                  <a:srgbClr val="292934"/>
                </a:solidFill>
                <a:latin typeface="Roboto Condensed Light"/>
              </a:endParaRPr>
            </a:p>
            <a:p>
              <a:pPr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Sprint 3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AU" sz="1000" dirty="0">
                  <a:solidFill>
                    <a:srgbClr val="292934"/>
                  </a:solidFill>
                </a:rPr>
                <a:t>Add functionality to update Purchase Orders and Costs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Add functionality to include peripherals and other devices from alternative data sources.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Create Training and support material.</a:t>
              </a:r>
            </a:p>
            <a:p>
              <a:pPr marL="171450" indent="-171450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endParaRPr lang="en-AU" sz="1000" dirty="0">
                <a:solidFill>
                  <a:srgbClr val="292934"/>
                </a:solidFill>
                <a:latin typeface="Roboto Condensed Light"/>
              </a:endParaRPr>
            </a:p>
            <a:p>
              <a:pPr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defRPr/>
              </a:pPr>
              <a:endParaRPr lang="en-AU" sz="1000" dirty="0">
                <a:solidFill>
                  <a:srgbClr val="292934"/>
                </a:solidFill>
                <a:latin typeface="Roboto Condensed Light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8438A9C-EB05-4FBB-84AE-23B055BDFE77}"/>
                </a:ext>
              </a:extLst>
            </p:cNvPr>
            <p:cNvSpPr/>
            <p:nvPr/>
          </p:nvSpPr>
          <p:spPr bwMode="auto">
            <a:xfrm>
              <a:off x="7426767" y="2649305"/>
              <a:ext cx="3096543" cy="203218"/>
            </a:xfrm>
            <a:prstGeom prst="rect">
              <a:avLst/>
            </a:prstGeom>
            <a:solidFill>
              <a:srgbClr val="00B0D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ctr" anchorCtr="0"/>
            <a:lstStyle/>
            <a:p>
              <a:pPr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1200" b="1">
                  <a:solidFill>
                    <a:srgbClr val="FFFFFF"/>
                  </a:solidFill>
                  <a:latin typeface="Roboto Condensed Light"/>
                </a:rPr>
                <a:t>Strategic Objectives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C02FC07-ABF3-4DC3-AEAC-CA1C0D94D7D3}"/>
                </a:ext>
              </a:extLst>
            </p:cNvPr>
            <p:cNvSpPr/>
            <p:nvPr/>
          </p:nvSpPr>
          <p:spPr bwMode="auto">
            <a:xfrm>
              <a:off x="7411408" y="3900298"/>
              <a:ext cx="3111902" cy="220502"/>
            </a:xfrm>
            <a:prstGeom prst="rect">
              <a:avLst/>
            </a:prstGeom>
            <a:solidFill>
              <a:srgbClr val="00B0D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ctr" anchorCtr="0"/>
            <a:lstStyle/>
            <a:p>
              <a:pPr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1200" b="1">
                  <a:solidFill>
                    <a:srgbClr val="FFFFFF"/>
                  </a:solidFill>
                  <a:latin typeface="Roboto Condensed Light"/>
                </a:rPr>
                <a:t>Delivery Parameters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35DB517-4846-4ABF-B886-3872404A019E}"/>
                </a:ext>
              </a:extLst>
            </p:cNvPr>
            <p:cNvSpPr/>
            <p:nvPr/>
          </p:nvSpPr>
          <p:spPr bwMode="auto">
            <a:xfrm>
              <a:off x="3818461" y="4495521"/>
              <a:ext cx="3523195" cy="251576"/>
            </a:xfrm>
            <a:prstGeom prst="rect">
              <a:avLst/>
            </a:prstGeom>
            <a:solidFill>
              <a:srgbClr val="00B0D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ctr" anchorCtr="0"/>
            <a:lstStyle/>
            <a:p>
              <a:pPr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defRPr/>
              </a:pPr>
              <a:r>
                <a:rPr lang="en-AU" sz="1200" b="1">
                  <a:solidFill>
                    <a:srgbClr val="FFFFFF"/>
                  </a:solidFill>
                  <a:latin typeface="Roboto Condensed Light"/>
                </a:rPr>
                <a:t>Approval Conditions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BFB0AB0-9B20-4334-A4D8-DFE8F054D1A3}"/>
                </a:ext>
              </a:extLst>
            </p:cNvPr>
            <p:cNvSpPr/>
            <p:nvPr/>
          </p:nvSpPr>
          <p:spPr bwMode="auto">
            <a:xfrm>
              <a:off x="3818461" y="4826730"/>
              <a:ext cx="3536326" cy="995276"/>
            </a:xfrm>
            <a:prstGeom prst="rect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171450" indent="-171450" defTabSz="449263" fontAlgn="base"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AU" sz="1000" dirty="0">
                  <a:solidFill>
                    <a:srgbClr val="292934"/>
                  </a:solidFill>
                  <a:latin typeface="Roboto Condensed Light"/>
                </a:rPr>
                <a:t>Will require Change Request. Pending Business Systems peer-review.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0FC6B59-A52C-4781-8189-1B1515307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2350" y="3003586"/>
              <a:ext cx="3192593" cy="479750"/>
            </a:xfrm>
            <a:prstGeom prst="rect">
              <a:avLst/>
            </a:prstGeom>
            <a:solidFill>
              <a:srgbClr val="DAF1F6"/>
            </a:solidFill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9A13A35-0A25-4CFE-9F9A-2FAD43587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54787" y="3350997"/>
              <a:ext cx="807772" cy="442123"/>
            </a:xfrm>
            <a:prstGeom prst="rect">
              <a:avLst/>
            </a:prstGeom>
            <a:solidFill>
              <a:srgbClr val="DAF1F6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C307914-64A1-42B1-8E31-BD18743F2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67849" y="3398619"/>
              <a:ext cx="848303" cy="395088"/>
            </a:xfrm>
            <a:prstGeom prst="rect">
              <a:avLst/>
            </a:prstGeom>
            <a:solidFill>
              <a:srgbClr val="DAF1F6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D219E5F-1A57-451C-9DBA-A8FAA21A2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16154" y="3413834"/>
              <a:ext cx="695195" cy="432716"/>
            </a:xfrm>
            <a:prstGeom prst="rect">
              <a:avLst/>
            </a:prstGeom>
            <a:solidFill>
              <a:srgbClr val="DAF1F6"/>
            </a:solidFill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719AEB-D26C-44D2-89AB-6E2F9573B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11349" y="3436048"/>
              <a:ext cx="853593" cy="329240"/>
            </a:xfrm>
            <a:prstGeom prst="rect">
              <a:avLst/>
            </a:prstGeom>
            <a:solidFill>
              <a:srgbClr val="DAF1F6"/>
            </a:solidFill>
          </p:spPr>
        </p:pic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A011B5E-2B49-4D56-8AE8-769641809DAD}"/>
                </a:ext>
              </a:extLst>
            </p:cNvPr>
            <p:cNvSpPr/>
            <p:nvPr/>
          </p:nvSpPr>
          <p:spPr>
            <a:xfrm>
              <a:off x="7926881" y="3106403"/>
              <a:ext cx="115952" cy="9421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</a:pPr>
              <a:endParaRPr lang="en-AU">
                <a:solidFill>
                  <a:prstClr val="white"/>
                </a:solidFill>
                <a:latin typeface="Roboto Condensed Light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9AE0FE3-4780-4BE1-B9E7-50AD257804A9}"/>
                </a:ext>
              </a:extLst>
            </p:cNvPr>
            <p:cNvSpPr/>
            <p:nvPr/>
          </p:nvSpPr>
          <p:spPr>
            <a:xfrm>
              <a:off x="8786931" y="3106402"/>
              <a:ext cx="115952" cy="9421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</a:pPr>
              <a:endParaRPr lang="en-AU">
                <a:solidFill>
                  <a:prstClr val="white"/>
                </a:solidFill>
                <a:latin typeface="Roboto Condensed Light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091940F-E849-4689-AF15-B9379DF6F13D}"/>
                </a:ext>
              </a:extLst>
            </p:cNvPr>
            <p:cNvSpPr/>
            <p:nvPr/>
          </p:nvSpPr>
          <p:spPr>
            <a:xfrm>
              <a:off x="9558544" y="3111651"/>
              <a:ext cx="115952" cy="9421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</a:pPr>
              <a:endParaRPr lang="en-AU">
                <a:solidFill>
                  <a:prstClr val="white"/>
                </a:solidFill>
                <a:latin typeface="Roboto Condensed Light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5F531D6-62AE-41C6-AB79-FD3E6DEE46B6}"/>
                </a:ext>
              </a:extLst>
            </p:cNvPr>
            <p:cNvSpPr/>
            <p:nvPr/>
          </p:nvSpPr>
          <p:spPr>
            <a:xfrm>
              <a:off x="10361401" y="3101407"/>
              <a:ext cx="115952" cy="9421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</a:pPr>
              <a:endParaRPr lang="en-AU">
                <a:solidFill>
                  <a:prstClr val="white"/>
                </a:solidFill>
                <a:latin typeface="Roboto Condensed Light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DC70AE0-2C4D-D255-9346-81C5FDBB1137}"/>
                </a:ext>
              </a:extLst>
            </p:cNvPr>
            <p:cNvGrpSpPr/>
            <p:nvPr/>
          </p:nvGrpSpPr>
          <p:grpSpPr>
            <a:xfrm>
              <a:off x="7808916" y="4906477"/>
              <a:ext cx="2459307" cy="289632"/>
              <a:chOff x="3367373" y="2044599"/>
              <a:chExt cx="2459307" cy="289632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E632577-54DB-C517-607B-139DC667EA8D}"/>
                  </a:ext>
                </a:extLst>
              </p:cNvPr>
              <p:cNvSpPr/>
              <p:nvPr/>
            </p:nvSpPr>
            <p:spPr>
              <a:xfrm>
                <a:off x="3872798" y="2044599"/>
                <a:ext cx="510303" cy="289632"/>
              </a:xfrm>
              <a:prstGeom prst="rect">
                <a:avLst/>
              </a:prstGeom>
              <a:solidFill>
                <a:srgbClr val="66CBDA">
                  <a:alpha val="2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AF007DB-F7B9-FB6B-2EFD-EA6A6AC7179D}"/>
                  </a:ext>
                </a:extLst>
              </p:cNvPr>
              <p:cNvSpPr/>
              <p:nvPr/>
            </p:nvSpPr>
            <p:spPr>
              <a:xfrm>
                <a:off x="4375295" y="2044599"/>
                <a:ext cx="484359" cy="289632"/>
              </a:xfrm>
              <a:prstGeom prst="rect">
                <a:avLst/>
              </a:prstGeom>
              <a:solidFill>
                <a:srgbClr val="66CBDA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3B1004F-4993-2B73-A7C2-B19A797B41EF}"/>
                  </a:ext>
                </a:extLst>
              </p:cNvPr>
              <p:cNvSpPr/>
              <p:nvPr/>
            </p:nvSpPr>
            <p:spPr>
              <a:xfrm>
                <a:off x="4858808" y="2044599"/>
                <a:ext cx="484359" cy="289632"/>
              </a:xfrm>
              <a:prstGeom prst="rect">
                <a:avLst/>
              </a:prstGeom>
              <a:solidFill>
                <a:srgbClr val="66CBDA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080088C-104A-3A83-378B-A992D986178D}"/>
                  </a:ext>
                </a:extLst>
              </p:cNvPr>
              <p:cNvSpPr/>
              <p:nvPr/>
            </p:nvSpPr>
            <p:spPr>
              <a:xfrm>
                <a:off x="5316377" y="2044599"/>
                <a:ext cx="510303" cy="2896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r>
                  <a:rPr kumimoji="0" lang="en-AU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Roboto Condensed Light"/>
                    <a:ea typeface="+mn-ea"/>
                    <a:cs typeface="+mn-cs"/>
                  </a:rPr>
                  <a:t>&gt; 2M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5AFD793-68DE-A13C-6304-B64A088A3A2D}"/>
                  </a:ext>
                </a:extLst>
              </p:cNvPr>
              <p:cNvSpPr/>
              <p:nvPr/>
            </p:nvSpPr>
            <p:spPr>
              <a:xfrm>
                <a:off x="3367373" y="2044599"/>
                <a:ext cx="510303" cy="2896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r>
                  <a:rPr kumimoji="0" lang="en-AU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Roboto Condensed Light"/>
                    <a:ea typeface="+mn-ea"/>
                    <a:cs typeface="+mn-cs"/>
                  </a:rPr>
                  <a:t>&lt; 250k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520AE8F-26AC-72BB-8407-278919B376F7}"/>
                </a:ext>
              </a:extLst>
            </p:cNvPr>
            <p:cNvGrpSpPr/>
            <p:nvPr/>
          </p:nvGrpSpPr>
          <p:grpSpPr>
            <a:xfrm>
              <a:off x="7801295" y="5261766"/>
              <a:ext cx="2466265" cy="289632"/>
              <a:chOff x="3359752" y="2399888"/>
              <a:chExt cx="2466265" cy="289632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85C4DAA-5469-8594-11E5-D46B16649F4C}"/>
                  </a:ext>
                </a:extLst>
              </p:cNvPr>
              <p:cNvSpPr/>
              <p:nvPr/>
            </p:nvSpPr>
            <p:spPr>
              <a:xfrm>
                <a:off x="3865177" y="2399888"/>
                <a:ext cx="510302" cy="289632"/>
              </a:xfrm>
              <a:prstGeom prst="rect">
                <a:avLst/>
              </a:prstGeom>
              <a:solidFill>
                <a:srgbClr val="66CBDA">
                  <a:alpha val="2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CCDF3AB-5A61-7C45-A2E6-45A91AFD6A69}"/>
                  </a:ext>
                </a:extLst>
              </p:cNvPr>
              <p:cNvSpPr/>
              <p:nvPr/>
            </p:nvSpPr>
            <p:spPr>
              <a:xfrm>
                <a:off x="4374632" y="2399888"/>
                <a:ext cx="484359" cy="289632"/>
              </a:xfrm>
              <a:prstGeom prst="rect">
                <a:avLst/>
              </a:prstGeom>
              <a:solidFill>
                <a:srgbClr val="66CBDA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064A5B4-60E0-82F5-E3DC-5E8460ACAFD1}"/>
                  </a:ext>
                </a:extLst>
              </p:cNvPr>
              <p:cNvSpPr/>
              <p:nvPr/>
            </p:nvSpPr>
            <p:spPr>
              <a:xfrm>
                <a:off x="4858145" y="2399888"/>
                <a:ext cx="484359" cy="289632"/>
              </a:xfrm>
              <a:prstGeom prst="rect">
                <a:avLst/>
              </a:prstGeom>
              <a:solidFill>
                <a:srgbClr val="66CBDA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DC9E4A9-A13D-AADA-BF48-D201AC91BEAD}"/>
                  </a:ext>
                </a:extLst>
              </p:cNvPr>
              <p:cNvSpPr/>
              <p:nvPr/>
            </p:nvSpPr>
            <p:spPr>
              <a:xfrm>
                <a:off x="5315715" y="2399888"/>
                <a:ext cx="510302" cy="2896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r>
                  <a:rPr kumimoji="0" lang="en-AU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Roboto Condensed Light"/>
                    <a:ea typeface="+mn-ea"/>
                    <a:cs typeface="+mn-cs"/>
                  </a:rPr>
                  <a:t>&gt; 24m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30DABA7-3726-EB0A-9D32-FA577F04BED7}"/>
                  </a:ext>
                </a:extLst>
              </p:cNvPr>
              <p:cNvSpPr/>
              <p:nvPr/>
            </p:nvSpPr>
            <p:spPr>
              <a:xfrm>
                <a:off x="3359752" y="2399888"/>
                <a:ext cx="510303" cy="2896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r>
                  <a:rPr kumimoji="0" lang="en-AU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Roboto Condensed Light"/>
                    <a:ea typeface="+mn-ea"/>
                    <a:cs typeface="+mn-cs"/>
                  </a:rPr>
                  <a:t>&lt; 6m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210C43B-E85C-CAC1-9925-8BC19D85795B}"/>
                </a:ext>
              </a:extLst>
            </p:cNvPr>
            <p:cNvGrpSpPr/>
            <p:nvPr/>
          </p:nvGrpSpPr>
          <p:grpSpPr>
            <a:xfrm>
              <a:off x="7801295" y="4556728"/>
              <a:ext cx="2466265" cy="284093"/>
              <a:chOff x="3359752" y="1694850"/>
              <a:chExt cx="2466265" cy="284093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41B55C7-E39E-8AC4-0EDB-19DE26EEF8D9}"/>
                  </a:ext>
                </a:extLst>
              </p:cNvPr>
              <p:cNvSpPr/>
              <p:nvPr/>
            </p:nvSpPr>
            <p:spPr>
              <a:xfrm>
                <a:off x="3865177" y="1694850"/>
                <a:ext cx="510302" cy="284093"/>
              </a:xfrm>
              <a:prstGeom prst="rect">
                <a:avLst/>
              </a:prstGeom>
              <a:solidFill>
                <a:srgbClr val="66CBDA">
                  <a:alpha val="2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33AE96B-0D5F-9154-93A9-148C9F03316C}"/>
                  </a:ext>
                </a:extLst>
              </p:cNvPr>
              <p:cNvSpPr/>
              <p:nvPr/>
            </p:nvSpPr>
            <p:spPr>
              <a:xfrm>
                <a:off x="4374632" y="1694850"/>
                <a:ext cx="484359" cy="284093"/>
              </a:xfrm>
              <a:prstGeom prst="rect">
                <a:avLst/>
              </a:prstGeom>
              <a:solidFill>
                <a:srgbClr val="66CBDA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4AACA3C-C740-244E-DD17-2713C17289B6}"/>
                  </a:ext>
                </a:extLst>
              </p:cNvPr>
              <p:cNvSpPr/>
              <p:nvPr/>
            </p:nvSpPr>
            <p:spPr>
              <a:xfrm>
                <a:off x="4858145" y="1694850"/>
                <a:ext cx="484359" cy="284093"/>
              </a:xfrm>
              <a:prstGeom prst="rect">
                <a:avLst/>
              </a:prstGeom>
              <a:solidFill>
                <a:srgbClr val="66CBDA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8C47A39-D58D-C7BD-4537-F58FDD08F353}"/>
                  </a:ext>
                </a:extLst>
              </p:cNvPr>
              <p:cNvSpPr/>
              <p:nvPr/>
            </p:nvSpPr>
            <p:spPr>
              <a:xfrm>
                <a:off x="5315715" y="1694850"/>
                <a:ext cx="510302" cy="28409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r>
                  <a:rPr kumimoji="0" lang="en-AU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Roboto Condensed Light"/>
                    <a:ea typeface="+mn-ea"/>
                    <a:cs typeface="+mn-cs"/>
                  </a:rPr>
                  <a:t>High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8A329CE-F885-6BD6-CC90-16740C0994A1}"/>
                  </a:ext>
                </a:extLst>
              </p:cNvPr>
              <p:cNvSpPr/>
              <p:nvPr/>
            </p:nvSpPr>
            <p:spPr>
              <a:xfrm>
                <a:off x="3359752" y="1694850"/>
                <a:ext cx="510303" cy="28409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r>
                  <a:rPr kumimoji="0" lang="en-AU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Roboto Condensed Light"/>
                    <a:ea typeface="+mn-ea"/>
                    <a:cs typeface="+mn-cs"/>
                  </a:rPr>
                  <a:t>Low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203D9FA-3FF5-12C0-DC71-A4ECE805F677}"/>
                </a:ext>
              </a:extLst>
            </p:cNvPr>
            <p:cNvGrpSpPr/>
            <p:nvPr/>
          </p:nvGrpSpPr>
          <p:grpSpPr>
            <a:xfrm>
              <a:off x="7803741" y="4212668"/>
              <a:ext cx="2464032" cy="278404"/>
              <a:chOff x="3362198" y="1350790"/>
              <a:chExt cx="2464032" cy="278404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55DB6BF-3AC2-F3C3-ADE2-2B74E982D630}"/>
                  </a:ext>
                </a:extLst>
              </p:cNvPr>
              <p:cNvSpPr/>
              <p:nvPr/>
            </p:nvSpPr>
            <p:spPr>
              <a:xfrm>
                <a:off x="3867165" y="1350790"/>
                <a:ext cx="509841" cy="278404"/>
              </a:xfrm>
              <a:prstGeom prst="rect">
                <a:avLst/>
              </a:prstGeom>
              <a:solidFill>
                <a:srgbClr val="66CBDA">
                  <a:alpha val="2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189FA39-D4A7-E0B1-59BE-7EB394C9E330}"/>
                  </a:ext>
                </a:extLst>
              </p:cNvPr>
              <p:cNvSpPr/>
              <p:nvPr/>
            </p:nvSpPr>
            <p:spPr>
              <a:xfrm>
                <a:off x="4376159" y="1350790"/>
                <a:ext cx="483921" cy="278404"/>
              </a:xfrm>
              <a:prstGeom prst="rect">
                <a:avLst/>
              </a:prstGeom>
              <a:solidFill>
                <a:srgbClr val="66CBDA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421B18D-B2CE-CCC6-CAA2-6A2FEF3F73D7}"/>
                  </a:ext>
                </a:extLst>
              </p:cNvPr>
              <p:cNvSpPr/>
              <p:nvPr/>
            </p:nvSpPr>
            <p:spPr>
              <a:xfrm>
                <a:off x="4859234" y="1350790"/>
                <a:ext cx="483921" cy="278404"/>
              </a:xfrm>
              <a:prstGeom prst="rect">
                <a:avLst/>
              </a:prstGeom>
              <a:solidFill>
                <a:srgbClr val="66CBDA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9EA46E4-93C5-3202-43A0-371D3FFF09F6}"/>
                  </a:ext>
                </a:extLst>
              </p:cNvPr>
              <p:cNvSpPr/>
              <p:nvPr/>
            </p:nvSpPr>
            <p:spPr>
              <a:xfrm>
                <a:off x="5316389" y="1350790"/>
                <a:ext cx="509841" cy="2784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r>
                  <a:rPr kumimoji="0" lang="en-AU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Roboto Condensed Light"/>
                    <a:ea typeface="+mn-ea"/>
                    <a:cs typeface="+mn-cs"/>
                  </a:rPr>
                  <a:t>High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77B1F73-A60F-3692-6F42-B7A5398489CC}"/>
                  </a:ext>
                </a:extLst>
              </p:cNvPr>
              <p:cNvSpPr/>
              <p:nvPr/>
            </p:nvSpPr>
            <p:spPr>
              <a:xfrm>
                <a:off x="3362198" y="1350790"/>
                <a:ext cx="509841" cy="2784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ctr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r>
                  <a:rPr kumimoji="0" lang="en-AU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Roboto Condensed Light"/>
                    <a:ea typeface="+mn-ea"/>
                    <a:cs typeface="+mn-cs"/>
                  </a:rPr>
                  <a:t>Low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4CD706C-D77E-E348-764D-88EE8EF96928}"/>
                </a:ext>
              </a:extLst>
            </p:cNvPr>
            <p:cNvGrpSpPr/>
            <p:nvPr/>
          </p:nvGrpSpPr>
          <p:grpSpPr>
            <a:xfrm>
              <a:off x="7433154" y="4906477"/>
              <a:ext cx="270000" cy="270000"/>
              <a:chOff x="4788024" y="6539628"/>
              <a:chExt cx="270000" cy="270000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5112F8D-4916-2098-4F0C-2623F68642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8024" y="6539628"/>
                <a:ext cx="270000" cy="270000"/>
              </a:xfrm>
              <a:prstGeom prst="ellipse">
                <a:avLst/>
              </a:prstGeom>
              <a:solidFill>
                <a:srgbClr val="66CBDA">
                  <a:alpha val="25000"/>
                </a:srgb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833" tIns="54417" rIns="108833" bIns="54417" rtlCol="0" anchor="t"/>
              <a:lstStyle/>
              <a:p>
                <a:pPr marL="0" marR="0" lvl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40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IE" sz="1000" b="0" i="0" u="none" strike="noStrike" kern="1200" cap="none" spc="0" normalizeH="0" baseline="0" noProof="0">
                  <a:ln>
                    <a:noFill/>
                  </a:ln>
                  <a:solidFill>
                    <a:srgbClr val="292934"/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A60A26E9-E3E2-57C1-D204-76CD0F43A76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820154" y="6571758"/>
                <a:ext cx="205740" cy="205740"/>
                <a:chOff x="7074248" y="3718960"/>
                <a:chExt cx="914400" cy="914400"/>
              </a:xfrm>
            </p:grpSpPr>
            <p:pic>
              <p:nvPicPr>
                <p:cNvPr id="49" name="Graphic 48" descr="Laptop">
                  <a:extLst>
                    <a:ext uri="{FF2B5EF4-FFF2-40B4-BE49-F238E27FC236}">
                      <a16:creationId xmlns:a16="http://schemas.microsoft.com/office/drawing/2014/main" id="{F523D405-E9BF-4102-BE4E-92ED902885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74248" y="3718960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50" name="Graphic 49" descr="Dollar">
                  <a:extLst>
                    <a:ext uri="{FF2B5EF4-FFF2-40B4-BE49-F238E27FC236}">
                      <a16:creationId xmlns:a16="http://schemas.microsoft.com/office/drawing/2014/main" id="{16BD6E8B-0A7C-2A45-F967-EA1C032630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74654" y="3978081"/>
                  <a:ext cx="304360" cy="30436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D0330D8-2A30-1C3D-701C-C46B4312CD8D}"/>
                </a:ext>
              </a:extLst>
            </p:cNvPr>
            <p:cNvGrpSpPr/>
            <p:nvPr/>
          </p:nvGrpSpPr>
          <p:grpSpPr>
            <a:xfrm>
              <a:off x="7433154" y="4556728"/>
              <a:ext cx="270000" cy="270000"/>
              <a:chOff x="3513524" y="6539628"/>
              <a:chExt cx="270000" cy="27000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8257716-99B8-9153-8B94-6255770C7E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524" y="6539628"/>
                <a:ext cx="270000" cy="270000"/>
              </a:xfrm>
              <a:prstGeom prst="ellipse">
                <a:avLst/>
              </a:prstGeom>
              <a:solidFill>
                <a:srgbClr val="66CBDA">
                  <a:alpha val="25000"/>
                </a:srgb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833" tIns="54417" rIns="108833" bIns="54417" rtlCol="0" anchor="t"/>
              <a:lstStyle/>
              <a:p>
                <a:pPr marL="0" marR="0" lvl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40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IE" sz="1000" b="0" i="0" u="none" strike="noStrike" kern="1200" cap="none" spc="0" normalizeH="0" baseline="0" noProof="0">
                  <a:ln>
                    <a:noFill/>
                  </a:ln>
                  <a:solidFill>
                    <a:srgbClr val="292934"/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pic>
            <p:nvPicPr>
              <p:cNvPr id="53" name="Graphic 52" descr="Meeting">
                <a:extLst>
                  <a:ext uri="{FF2B5EF4-FFF2-40B4-BE49-F238E27FC236}">
                    <a16:creationId xmlns:a16="http://schemas.microsoft.com/office/drawing/2014/main" id="{0E007609-8C4A-CC21-C0F5-9306ED59F9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534224" y="6560328"/>
                <a:ext cx="228600" cy="228600"/>
              </a:xfrm>
              <a:prstGeom prst="rect">
                <a:avLst/>
              </a:prstGeom>
            </p:spPr>
          </p:pic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7712BED-DFBD-8AB7-D471-4A41E63785CC}"/>
                </a:ext>
              </a:extLst>
            </p:cNvPr>
            <p:cNvGrpSpPr/>
            <p:nvPr/>
          </p:nvGrpSpPr>
          <p:grpSpPr>
            <a:xfrm>
              <a:off x="7433154" y="4212668"/>
              <a:ext cx="270000" cy="270000"/>
              <a:chOff x="2195736" y="6525344"/>
              <a:chExt cx="270000" cy="27000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552EC26-F078-4918-DC03-C4AC90752D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5736" y="6525344"/>
                <a:ext cx="270000" cy="270000"/>
              </a:xfrm>
              <a:prstGeom prst="ellipse">
                <a:avLst/>
              </a:prstGeom>
              <a:solidFill>
                <a:srgbClr val="66CBDA">
                  <a:alpha val="25000"/>
                </a:srgb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833" tIns="54417" rIns="108833" bIns="54417" rtlCol="0" anchor="t"/>
              <a:lstStyle/>
              <a:p>
                <a:pPr marL="0" marR="0" lvl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40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IE" sz="1000" b="0" i="0" u="none" strike="noStrike" kern="1200" cap="none" spc="0" normalizeH="0" baseline="0" noProof="0">
                  <a:ln>
                    <a:noFill/>
                  </a:ln>
                  <a:solidFill>
                    <a:srgbClr val="292934"/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pic>
            <p:nvPicPr>
              <p:cNvPr id="56" name="Graphic 55" descr="Warning">
                <a:extLst>
                  <a:ext uri="{FF2B5EF4-FFF2-40B4-BE49-F238E27FC236}">
                    <a16:creationId xmlns:a16="http://schemas.microsoft.com/office/drawing/2014/main" id="{48D62DF5-5008-52F1-0B3E-BE01010902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2239296" y="6568904"/>
                <a:ext cx="182880" cy="182880"/>
              </a:xfrm>
              <a:prstGeom prst="rect">
                <a:avLst/>
              </a:prstGeom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0CE89D1-4DC4-8569-FE4A-B9D14E314DE3}"/>
                </a:ext>
              </a:extLst>
            </p:cNvPr>
            <p:cNvGrpSpPr/>
            <p:nvPr/>
          </p:nvGrpSpPr>
          <p:grpSpPr>
            <a:xfrm>
              <a:off x="7433154" y="5261766"/>
              <a:ext cx="270000" cy="270000"/>
              <a:chOff x="6804248" y="6525344"/>
              <a:chExt cx="270000" cy="270000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B40B801-367B-7758-6070-B1A4969475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04248" y="6525344"/>
                <a:ext cx="270000" cy="270000"/>
              </a:xfrm>
              <a:prstGeom prst="ellipse">
                <a:avLst/>
              </a:prstGeom>
              <a:solidFill>
                <a:srgbClr val="66CBDA">
                  <a:alpha val="25000"/>
                </a:srgb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833" tIns="54417" rIns="108833" bIns="54417" rtlCol="0" anchor="t"/>
              <a:lstStyle/>
              <a:p>
                <a:pPr marL="0" marR="0" lvl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40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  <a:defRPr/>
                </a:pPr>
                <a:endParaRPr kumimoji="0" lang="en-IE" sz="1000" b="0" i="0" u="none" strike="noStrike" kern="1200" cap="none" spc="0" normalizeH="0" baseline="0" noProof="0">
                  <a:ln>
                    <a:noFill/>
                  </a:ln>
                  <a:solidFill>
                    <a:srgbClr val="292934"/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endParaRPr>
              </a:p>
            </p:txBody>
          </p:sp>
          <p:pic>
            <p:nvPicPr>
              <p:cNvPr id="59" name="Graphic 58" descr="Stopwatch">
                <a:extLst>
                  <a:ext uri="{FF2B5EF4-FFF2-40B4-BE49-F238E27FC236}">
                    <a16:creationId xmlns:a16="http://schemas.microsoft.com/office/drawing/2014/main" id="{507F4279-B67D-F2BD-0724-640A16D2C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6824948" y="6546044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5C8758E-A4AD-B33D-EA5C-A9D0E1195792}"/>
                </a:ext>
              </a:extLst>
            </p:cNvPr>
            <p:cNvSpPr/>
            <p:nvPr/>
          </p:nvSpPr>
          <p:spPr>
            <a:xfrm>
              <a:off x="8527016" y="4324739"/>
              <a:ext cx="75575" cy="7781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B673644-5817-55C2-5508-B4359586A639}"/>
                </a:ext>
              </a:extLst>
            </p:cNvPr>
            <p:cNvSpPr/>
            <p:nvPr/>
          </p:nvSpPr>
          <p:spPr>
            <a:xfrm>
              <a:off x="8527016" y="4649094"/>
              <a:ext cx="75575" cy="7781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867D9BC-1CCD-58D5-AFFA-D566402274CF}"/>
                </a:ext>
              </a:extLst>
            </p:cNvPr>
            <p:cNvSpPr/>
            <p:nvPr/>
          </p:nvSpPr>
          <p:spPr>
            <a:xfrm>
              <a:off x="8541197" y="4982865"/>
              <a:ext cx="75575" cy="7781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C87A2C2-9F74-333F-BFB4-616293E93D71}"/>
                </a:ext>
              </a:extLst>
            </p:cNvPr>
            <p:cNvSpPr/>
            <p:nvPr/>
          </p:nvSpPr>
          <p:spPr>
            <a:xfrm>
              <a:off x="8527016" y="5347787"/>
              <a:ext cx="75575" cy="7781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1575A0AA-BA1D-474B-B788-9DECA0859473}"/>
              </a:ext>
            </a:extLst>
          </p:cNvPr>
          <p:cNvSpPr/>
          <p:nvPr/>
        </p:nvSpPr>
        <p:spPr bwMode="auto">
          <a:xfrm>
            <a:off x="10007641" y="918336"/>
            <a:ext cx="1774668" cy="1805372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algn="just" defTabSz="449263" fontAlgn="base"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defRPr/>
            </a:pPr>
            <a:r>
              <a:rPr lang="en-AU" sz="900" b="1" dirty="0">
                <a:solidFill>
                  <a:srgbClr val="292934"/>
                </a:solidFill>
                <a:latin typeface="Roboto Condensed Light"/>
              </a:rPr>
              <a:t>Responsibility</a:t>
            </a:r>
            <a:r>
              <a:rPr lang="en-AU" sz="900" dirty="0">
                <a:solidFill>
                  <a:srgbClr val="292934"/>
                </a:solidFill>
                <a:latin typeface="Roboto Condensed Light"/>
              </a:rPr>
              <a:t>:	 &lt;Mathew Gallehawk&gt;</a:t>
            </a:r>
          </a:p>
          <a:p>
            <a:pPr algn="just" defTabSz="449263" fontAlgn="base"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defRPr/>
            </a:pPr>
            <a:r>
              <a:rPr lang="en-AU" sz="900" b="1" dirty="0">
                <a:solidFill>
                  <a:srgbClr val="292934"/>
                </a:solidFill>
                <a:latin typeface="Roboto Condensed Light"/>
              </a:rPr>
              <a:t>Accountability</a:t>
            </a:r>
            <a:r>
              <a:rPr lang="en-AU" sz="900" dirty="0">
                <a:solidFill>
                  <a:srgbClr val="292934"/>
                </a:solidFill>
                <a:latin typeface="Roboto Condensed Light"/>
              </a:rPr>
              <a:t>:	 &lt;Business systems&gt;</a:t>
            </a:r>
          </a:p>
          <a:p>
            <a:pPr algn="just" defTabSz="449263" fontAlgn="base"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defRPr/>
            </a:pPr>
            <a:r>
              <a:rPr lang="en-AU" sz="900" b="1" dirty="0">
                <a:solidFill>
                  <a:srgbClr val="292934"/>
                </a:solidFill>
                <a:latin typeface="Roboto Condensed Light"/>
              </a:rPr>
              <a:t>Consulted:	 </a:t>
            </a:r>
            <a:r>
              <a:rPr lang="en-AU" sz="900" dirty="0">
                <a:solidFill>
                  <a:srgbClr val="292934"/>
                </a:solidFill>
                <a:latin typeface="Roboto Condensed Light"/>
              </a:rPr>
              <a:t>&lt;Business systems&gt;</a:t>
            </a:r>
            <a:endParaRPr lang="en-AU" sz="900" b="1" dirty="0">
              <a:solidFill>
                <a:srgbClr val="292934"/>
              </a:solidFill>
              <a:latin typeface="Roboto Condensed Light"/>
            </a:endParaRPr>
          </a:p>
          <a:p>
            <a:pPr algn="just" defTabSz="449263" fontAlgn="base"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defRPr/>
            </a:pPr>
            <a:r>
              <a:rPr lang="en-AU" sz="900" b="1" dirty="0">
                <a:solidFill>
                  <a:srgbClr val="292934"/>
                </a:solidFill>
                <a:latin typeface="Roboto Condensed Light"/>
              </a:rPr>
              <a:t>Informed:	</a:t>
            </a:r>
            <a:r>
              <a:rPr lang="en-AU" sz="900" dirty="0">
                <a:solidFill>
                  <a:srgbClr val="292934"/>
                </a:solidFill>
                <a:latin typeface="Roboto Condensed Light"/>
              </a:rPr>
              <a:t> &lt;Business systems, Service Desk&gt;</a:t>
            </a:r>
          </a:p>
        </p:txBody>
      </p:sp>
    </p:spTree>
    <p:extLst>
      <p:ext uri="{BB962C8B-B14F-4D97-AF65-F5344CB8AC3E}">
        <p14:creationId xmlns:p14="http://schemas.microsoft.com/office/powerpoint/2010/main" val="7060474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4D0BF-F1AF-E87B-CDFC-FF9FE4849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365126"/>
            <a:ext cx="3648074" cy="471587"/>
          </a:xfrm>
        </p:spPr>
        <p:txBody>
          <a:bodyPr/>
          <a:lstStyle/>
          <a:p>
            <a:r>
              <a:rPr lang="en-AU" dirty="0"/>
              <a:t>Sprint 1 Overview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02CEB80-8753-340E-6554-43F007E40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027251"/>
              </p:ext>
            </p:extLst>
          </p:nvPr>
        </p:nvGraphicFramePr>
        <p:xfrm>
          <a:off x="361952" y="836712"/>
          <a:ext cx="3648074" cy="5271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06">
                  <a:extLst>
                    <a:ext uri="{9D8B030D-6E8A-4147-A177-3AD203B41FA5}">
                      <a16:colId xmlns:a16="http://schemas.microsoft.com/office/drawing/2014/main" val="4132253562"/>
                    </a:ext>
                  </a:extLst>
                </a:gridCol>
                <a:gridCol w="2595468">
                  <a:extLst>
                    <a:ext uri="{9D8B030D-6E8A-4147-A177-3AD203B41FA5}">
                      <a16:colId xmlns:a16="http://schemas.microsoft.com/office/drawing/2014/main" val="948196162"/>
                    </a:ext>
                  </a:extLst>
                </a:gridCol>
              </a:tblGrid>
              <a:tr h="246555">
                <a:tc>
                  <a:txBody>
                    <a:bodyPr/>
                    <a:lstStyle/>
                    <a:p>
                      <a:r>
                        <a:rPr lang="en-AU" sz="900" dirty="0"/>
                        <a:t>Deliverable</a:t>
                      </a:r>
                    </a:p>
                  </a:txBody>
                  <a:tcPr>
                    <a:solidFill>
                      <a:srgbClr val="00B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900" dirty="0"/>
                        <a:t>Requirements</a:t>
                      </a:r>
                    </a:p>
                  </a:txBody>
                  <a:tcPr>
                    <a:solidFill>
                      <a:srgbClr val="00B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48695"/>
                  </a:ext>
                </a:extLst>
              </a:tr>
              <a:tr h="6850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/>
                        <a:t>Create a script that Generates spreadsheets required for Snow.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Script takes in Intune export fields and outputs SNOW bulk upload list and snow model update list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Focus is on Phones and Computers for this sprint.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Script to create objects of computers and phones from Intune export file.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18669"/>
                  </a:ext>
                </a:extLst>
              </a:tr>
              <a:tr h="6798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/>
                        <a:t>Add functionality to populate last logged-in and date.</a:t>
                      </a:r>
                    </a:p>
                    <a:p>
                      <a:endParaRPr lang="en-AU" sz="900" dirty="0"/>
                    </a:p>
                  </a:txBody>
                  <a:tcPr>
                    <a:solidFill>
                      <a:srgbClr val="ABE2EB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This functionality was formerly supplied by SCCM, has not been populated since the deactivation of SCCM.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Not “Required for successful upload to SNOW.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Stake holder would prefer this functionality from Microsoft if possible. </a:t>
                      </a:r>
                    </a:p>
                  </a:txBody>
                  <a:tcPr>
                    <a:solidFill>
                      <a:srgbClr val="AB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930914"/>
                  </a:ext>
                </a:extLst>
              </a:tr>
              <a:tr h="8664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/>
                        <a:t>Add error handling and portability.</a:t>
                      </a:r>
                    </a:p>
                    <a:p>
                      <a:endParaRPr lang="en-AU" sz="900" dirty="0"/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Terminate the app gracefully with an error message if the required export sheets are not present.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Clean up old sheets so that old data does not get re-populated.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Close all connections to </a:t>
                      </a:r>
                      <a:r>
                        <a:rPr lang="en-AU" sz="900" dirty="0" err="1"/>
                        <a:t>AzureAd</a:t>
                      </a:r>
                      <a:r>
                        <a:rPr lang="en-AU" sz="900" dirty="0"/>
                        <a:t> on close.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Script and required folders should just unpack on a pc and work.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210639"/>
                  </a:ext>
                </a:extLst>
              </a:tr>
              <a:tr h="866416">
                <a:tc>
                  <a:txBody>
                    <a:bodyPr/>
                    <a:lstStyle/>
                    <a:p>
                      <a:endParaRPr lang="en-AU" sz="900" dirty="0"/>
                    </a:p>
                  </a:txBody>
                  <a:tcPr>
                    <a:solidFill>
                      <a:srgbClr val="ABE2EB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900" dirty="0"/>
                    </a:p>
                  </a:txBody>
                  <a:tcPr>
                    <a:solidFill>
                      <a:srgbClr val="AB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795114"/>
                  </a:ext>
                </a:extLst>
              </a:tr>
              <a:tr h="866416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900" dirty="0"/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898392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CB85B179-B1CB-415B-A0D1-9058DC5E532B}"/>
              </a:ext>
            </a:extLst>
          </p:cNvPr>
          <p:cNvSpPr txBox="1">
            <a:spLocks/>
          </p:cNvSpPr>
          <p:nvPr/>
        </p:nvSpPr>
        <p:spPr>
          <a:xfrm>
            <a:off x="4152901" y="365126"/>
            <a:ext cx="3648074" cy="471587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</a:lstStyle>
          <a:p>
            <a:r>
              <a:rPr lang="en-AU" dirty="0"/>
              <a:t>Sprint 2 Overview</a:t>
            </a:r>
          </a:p>
        </p:txBody>
      </p:sp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D3080BE6-B0DB-42C3-BA36-1B7984283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441783"/>
              </p:ext>
            </p:extLst>
          </p:nvPr>
        </p:nvGraphicFramePr>
        <p:xfrm>
          <a:off x="4152901" y="854274"/>
          <a:ext cx="3648074" cy="5273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06">
                  <a:extLst>
                    <a:ext uri="{9D8B030D-6E8A-4147-A177-3AD203B41FA5}">
                      <a16:colId xmlns:a16="http://schemas.microsoft.com/office/drawing/2014/main" val="4132253562"/>
                    </a:ext>
                  </a:extLst>
                </a:gridCol>
                <a:gridCol w="2595468">
                  <a:extLst>
                    <a:ext uri="{9D8B030D-6E8A-4147-A177-3AD203B41FA5}">
                      <a16:colId xmlns:a16="http://schemas.microsoft.com/office/drawing/2014/main" val="948196162"/>
                    </a:ext>
                  </a:extLst>
                </a:gridCol>
              </a:tblGrid>
              <a:tr h="225376">
                <a:tc>
                  <a:txBody>
                    <a:bodyPr/>
                    <a:lstStyle/>
                    <a:p>
                      <a:r>
                        <a:rPr lang="en-AU" sz="900" dirty="0"/>
                        <a:t>Deliverable</a:t>
                      </a:r>
                    </a:p>
                  </a:txBody>
                  <a:tcPr>
                    <a:solidFill>
                      <a:srgbClr val="00B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900" dirty="0"/>
                        <a:t>Requirements</a:t>
                      </a:r>
                    </a:p>
                  </a:txBody>
                  <a:tcPr>
                    <a:solidFill>
                      <a:srgbClr val="00B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48695"/>
                  </a:ext>
                </a:extLst>
              </a:tr>
              <a:tr h="10202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/>
                        <a:t>Integrate Monitors 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 corporate or personal device.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Assign an asset tag.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Match the monitors to users.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AU" sz="900" dirty="0"/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18669"/>
                  </a:ext>
                </a:extLst>
              </a:tr>
              <a:tr h="1065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/>
                        <a:t>Integrate Headsets</a:t>
                      </a:r>
                    </a:p>
                  </a:txBody>
                  <a:tcPr>
                    <a:solidFill>
                      <a:srgbClr val="ABE2EB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 corporate or personal device.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Assign an asset tag.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Match the monitors to users.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AU" sz="900" dirty="0"/>
                    </a:p>
                  </a:txBody>
                  <a:tcPr>
                    <a:solidFill>
                      <a:srgbClr val="AB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662594"/>
                  </a:ext>
                </a:extLst>
              </a:tr>
              <a:tr h="11719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/>
                        <a:t>Integrate Ethan Group report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Rationalise data accurately.</a:t>
                      </a:r>
                      <a:br>
                        <a:rPr lang="en-AU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AU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AU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AU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AU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AU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endParaRPr lang="en-AU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AU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47701"/>
                  </a:ext>
                </a:extLst>
              </a:tr>
              <a:tr h="84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/>
                    </a:p>
                  </a:txBody>
                  <a:tcPr>
                    <a:solidFill>
                      <a:srgbClr val="ABE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AU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AB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803339"/>
                  </a:ext>
                </a:extLst>
              </a:tr>
              <a:tr h="9243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/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AU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803384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54A2D92-7D05-4BBF-95AE-F4BA18679506}"/>
              </a:ext>
            </a:extLst>
          </p:cNvPr>
          <p:cNvSpPr txBox="1">
            <a:spLocks/>
          </p:cNvSpPr>
          <p:nvPr/>
        </p:nvSpPr>
        <p:spPr>
          <a:xfrm>
            <a:off x="7943850" y="365126"/>
            <a:ext cx="3648074" cy="471587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</a:lstStyle>
          <a:p>
            <a:r>
              <a:rPr lang="en-AU" dirty="0"/>
              <a:t>Sprint 3 Overview</a:t>
            </a:r>
          </a:p>
        </p:txBody>
      </p: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37523912-6262-49F1-A4D9-2E9122416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461059"/>
              </p:ext>
            </p:extLst>
          </p:nvPr>
        </p:nvGraphicFramePr>
        <p:xfrm>
          <a:off x="7947659" y="832856"/>
          <a:ext cx="3644265" cy="5278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132253562"/>
                    </a:ext>
                  </a:extLst>
                </a:gridCol>
                <a:gridCol w="2577465">
                  <a:extLst>
                    <a:ext uri="{9D8B030D-6E8A-4147-A177-3AD203B41FA5}">
                      <a16:colId xmlns:a16="http://schemas.microsoft.com/office/drawing/2014/main" val="948196162"/>
                    </a:ext>
                  </a:extLst>
                </a:gridCol>
              </a:tblGrid>
              <a:tr h="147339">
                <a:tc>
                  <a:txBody>
                    <a:bodyPr/>
                    <a:lstStyle/>
                    <a:p>
                      <a:r>
                        <a:rPr lang="en-AU" sz="900" dirty="0"/>
                        <a:t>Deliverable</a:t>
                      </a:r>
                    </a:p>
                  </a:txBody>
                  <a:tcPr>
                    <a:solidFill>
                      <a:srgbClr val="00B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900" dirty="0"/>
                        <a:t>Requirements</a:t>
                      </a:r>
                    </a:p>
                  </a:txBody>
                  <a:tcPr>
                    <a:solidFill>
                      <a:srgbClr val="00B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48695"/>
                  </a:ext>
                </a:extLst>
              </a:tr>
              <a:tr h="890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/>
                        <a:t>Integrate peripherals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Generate model category for new devices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Generate an asset tag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Populates all required fields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Populates  PO and 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AU" sz="9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AU" sz="9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AU" sz="900" dirty="0"/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18669"/>
                  </a:ext>
                </a:extLst>
              </a:tr>
              <a:tr h="10433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/>
                        <a:t>Integrate Network Infrastructure</a:t>
                      </a:r>
                    </a:p>
                    <a:p>
                      <a:endParaRPr lang="en-AU" sz="900" dirty="0"/>
                    </a:p>
                  </a:txBody>
                  <a:tcPr>
                    <a:solidFill>
                      <a:srgbClr val="ABE2EB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Generate model category for new devices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Generate an asset tag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Populates all required fields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Populates  PO and 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AU" sz="900" dirty="0"/>
                    </a:p>
                  </a:txBody>
                  <a:tcPr>
                    <a:solidFill>
                      <a:srgbClr val="AB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930914"/>
                  </a:ext>
                </a:extLst>
              </a:tr>
              <a:tr h="102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/>
                        <a:t>Integrate Audio Visual equipment</a:t>
                      </a:r>
                    </a:p>
                    <a:p>
                      <a:endParaRPr lang="en-AU" sz="900" dirty="0"/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Generate model category for new devices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Generate an asset tag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Populates all required fields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Populates  PO and cost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9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9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9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900" dirty="0"/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210639"/>
                  </a:ext>
                </a:extLst>
              </a:tr>
              <a:tr h="854637">
                <a:tc>
                  <a:txBody>
                    <a:bodyPr/>
                    <a:lstStyle/>
                    <a:p>
                      <a:r>
                        <a:rPr lang="en-AU" sz="900" dirty="0"/>
                        <a:t>Integrate PO and cost for devices </a:t>
                      </a:r>
                    </a:p>
                  </a:txBody>
                  <a:tcPr>
                    <a:solidFill>
                      <a:srgbClr val="ABE2EB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Populate PO number field for all devices possible.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Populate cost field for all devices possible.</a:t>
                      </a:r>
                    </a:p>
                  </a:txBody>
                  <a:tcPr>
                    <a:solidFill>
                      <a:srgbClr val="AB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427930"/>
                  </a:ext>
                </a:extLst>
              </a:tr>
              <a:tr h="912024">
                <a:tc>
                  <a:txBody>
                    <a:bodyPr/>
                    <a:lstStyle/>
                    <a:p>
                      <a:r>
                        <a:rPr lang="en-AU" sz="900" dirty="0"/>
                        <a:t>Create Training and support material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Document technical support.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900" dirty="0"/>
                        <a:t>Document end-user setup and requirements.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368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7240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5F7B025-22DB-4619-ADC6-8DD9028556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493866"/>
              </p:ext>
            </p:extLst>
          </p:nvPr>
        </p:nvGraphicFramePr>
        <p:xfrm>
          <a:off x="647700" y="639763"/>
          <a:ext cx="11260138" cy="461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2579461" imgH="3860697" progId="Excel.Sheet.12">
                  <p:embed/>
                </p:oleObj>
              </mc:Choice>
              <mc:Fallback>
                <p:oleObj name="Worksheet" r:id="rId3" imgW="12579461" imgH="3860697" progId="Excel.Sheet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A5F7B025-22DB-4619-ADC6-8DD9028556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7700" y="639763"/>
                        <a:ext cx="11260138" cy="4618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20192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7F32-9F14-F07B-16D5-5AB73181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Sprint 1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B7070-1AB2-189D-9056-23A83CB6C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44725"/>
            <a:ext cx="10515599" cy="746423"/>
          </a:xfrm>
        </p:spPr>
        <p:txBody>
          <a:bodyPr/>
          <a:lstStyle/>
          <a:p>
            <a:pPr marL="0" indent="0">
              <a:buNone/>
            </a:pPr>
            <a:r>
              <a:rPr lang="en-AU"/>
              <a:t>The script output files were tested in the Development Snow environment. </a:t>
            </a:r>
            <a:br>
              <a:rPr lang="en-AU"/>
            </a:br>
            <a:r>
              <a:rPr lang="en-AU"/>
              <a:t>Results were reviewed by Vijay the technical expert for ServiceNow.</a:t>
            </a:r>
          </a:p>
          <a:p>
            <a:endParaRPr lang="en-AU"/>
          </a:p>
          <a:p>
            <a:endParaRPr lang="en-AU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666C4F-9C00-D7B0-A007-CA414DB1D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29831"/>
              </p:ext>
            </p:extLst>
          </p:nvPr>
        </p:nvGraphicFramePr>
        <p:xfrm>
          <a:off x="838199" y="1691148"/>
          <a:ext cx="10515600" cy="3618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195079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15035715"/>
                    </a:ext>
                  </a:extLst>
                </a:gridCol>
              </a:tblGrid>
              <a:tr h="416404">
                <a:tc>
                  <a:txBody>
                    <a:bodyPr/>
                    <a:lstStyle/>
                    <a:p>
                      <a:r>
                        <a:rPr lang="en-AU" sz="1200"/>
                        <a:t>Wins</a:t>
                      </a:r>
                    </a:p>
                  </a:txBody>
                  <a:tcPr>
                    <a:solidFill>
                      <a:srgbClr val="00B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Losses</a:t>
                      </a:r>
                    </a:p>
                  </a:txBody>
                  <a:tcPr>
                    <a:solidFill>
                      <a:srgbClr val="00B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655741"/>
                  </a:ext>
                </a:extLst>
              </a:tr>
              <a:tr h="513374">
                <a:tc>
                  <a:txBody>
                    <a:bodyPr/>
                    <a:lstStyle/>
                    <a:p>
                      <a:r>
                        <a:rPr lang="en-AU" sz="1200"/>
                        <a:t>Created non-existent hardware models and migrated the incorrectly assigned devices to appropriate fields.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Phone naming is not managed in Intune and will not be unique enough needs addressing. (Mitigated)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077320"/>
                  </a:ext>
                </a:extLst>
              </a:tr>
              <a:tr h="365138">
                <a:tc>
                  <a:txBody>
                    <a:bodyPr/>
                    <a:lstStyle/>
                    <a:p>
                      <a:r>
                        <a:rPr lang="en-AU" sz="1200" dirty="0"/>
                        <a:t>Updates records of existing devices in SNOW, not duplicate.</a:t>
                      </a:r>
                    </a:p>
                  </a:txBody>
                  <a:tcPr>
                    <a:solidFill>
                      <a:srgbClr val="ABE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dirty="0"/>
                        <a:t>Concerns about the amount of Service Desk support required to map category types of laptop/workstations standard /advanced etc as without updating code new models will either be a Phone or a Computer.</a:t>
                      </a:r>
                    </a:p>
                  </a:txBody>
                  <a:tcPr>
                    <a:solidFill>
                      <a:srgbClr val="AB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810489"/>
                  </a:ext>
                </a:extLst>
              </a:tr>
              <a:tr h="528039">
                <a:tc>
                  <a:txBody>
                    <a:bodyPr/>
                    <a:lstStyle/>
                    <a:p>
                      <a:r>
                        <a:rPr lang="en-AU" sz="1200" dirty="0"/>
                        <a:t>Updating a blank field does not remove existing data.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Still Utilising Sophos to populate “Last Logged in” and “Last Log in date’ fields.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24247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lang="en-AU" sz="1200"/>
                        <a:t>All currently used fields, auto populated fields and Last user and last logged-on fields populate where data is available.</a:t>
                      </a:r>
                    </a:p>
                  </a:txBody>
                  <a:tcPr>
                    <a:solidFill>
                      <a:srgbClr val="ABE2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>
                    <a:solidFill>
                      <a:srgbClr val="AB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895157"/>
                  </a:ext>
                </a:extLst>
              </a:tr>
              <a:tr h="51337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AU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Does not upload personal devices or devices that have not deployed correctly.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253037"/>
                  </a:ext>
                </a:extLst>
              </a:tr>
              <a:tr h="41640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AU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Adds new assets correctly.</a:t>
                      </a:r>
                    </a:p>
                  </a:txBody>
                  <a:tcPr>
                    <a:solidFill>
                      <a:srgbClr val="ABE2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>
                    <a:solidFill>
                      <a:srgbClr val="AB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922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188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0A8D-ACCB-96DA-B166-4E98F4233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9866" y="121298"/>
            <a:ext cx="2512267" cy="471587"/>
          </a:xfrm>
        </p:spPr>
        <p:txBody>
          <a:bodyPr/>
          <a:lstStyle/>
          <a:p>
            <a:r>
              <a:rPr lang="en-AU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A4749-E190-F8D6-A832-C5BBA0018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40" y="592885"/>
            <a:ext cx="4876800" cy="3486495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 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2BFDD147-53EA-DDB2-F6DD-EB9847F70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310265"/>
              </p:ext>
            </p:extLst>
          </p:nvPr>
        </p:nvGraphicFramePr>
        <p:xfrm>
          <a:off x="367002" y="1074585"/>
          <a:ext cx="11457994" cy="4253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2138">
                  <a:extLst>
                    <a:ext uri="{9D8B030D-6E8A-4147-A177-3AD203B41FA5}">
                      <a16:colId xmlns:a16="http://schemas.microsoft.com/office/drawing/2014/main" val="4132253562"/>
                    </a:ext>
                  </a:extLst>
                </a:gridCol>
                <a:gridCol w="5795856">
                  <a:extLst>
                    <a:ext uri="{9D8B030D-6E8A-4147-A177-3AD203B41FA5}">
                      <a16:colId xmlns:a16="http://schemas.microsoft.com/office/drawing/2014/main" val="948196162"/>
                    </a:ext>
                  </a:extLst>
                </a:gridCol>
              </a:tblGrid>
              <a:tr h="368427">
                <a:tc>
                  <a:txBody>
                    <a:bodyPr/>
                    <a:lstStyle/>
                    <a:p>
                      <a:r>
                        <a:rPr lang="en-AU" sz="1100" dirty="0"/>
                        <a:t>Recommendations</a:t>
                      </a:r>
                    </a:p>
                  </a:txBody>
                  <a:tcPr>
                    <a:solidFill>
                      <a:srgbClr val="00B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Responsibility</a:t>
                      </a:r>
                    </a:p>
                  </a:txBody>
                  <a:tcPr>
                    <a:solidFill>
                      <a:srgbClr val="00B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48695"/>
                  </a:ext>
                </a:extLst>
              </a:tr>
              <a:tr h="836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/>
                        <a:t>Request for approval for Sprint 1 to be deployed to production.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100"/>
                        <a:t>Vijay to review testing and move the current code to production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100"/>
                        <a:t>“Last Login data” current supply from Sophos  for sprint 1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1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100" dirty="0"/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Business Systems ServiceNow Admin &amp; PowerShell developer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18669"/>
                  </a:ext>
                </a:extLst>
              </a:tr>
              <a:tr h="845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dirty="0"/>
                        <a:t>Move continued development to Business systems.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100" dirty="0"/>
                        <a:t>Approval for Sprint 2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100" dirty="0"/>
                        <a:t>Approval for sprint 3</a:t>
                      </a:r>
                    </a:p>
                    <a:p>
                      <a:endParaRPr lang="en-AU" sz="1100" dirty="0"/>
                    </a:p>
                  </a:txBody>
                  <a:tcPr>
                    <a:solidFill>
                      <a:srgbClr val="ABE2EB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Business Systems ServiceNow Admin &amp; PowerShell developer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AU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AB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930914"/>
                  </a:ext>
                </a:extLst>
              </a:tr>
              <a:tr h="10578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dirty="0"/>
                        <a:t>Infrastructure to develop solutions to replace Sophos for “last logged-in” fields.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100" dirty="0"/>
                        <a:t>Source of truth must be Intune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100" dirty="0"/>
                        <a:t>Infrastructure team to supply report with requested data 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Infrastructure department</a:t>
                      </a:r>
                    </a:p>
                  </a:txBody>
                  <a:tcPr>
                    <a:solidFill>
                      <a:srgbClr val="D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210639"/>
                  </a:ext>
                </a:extLst>
              </a:tr>
              <a:tr h="1052255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>
                    <a:solidFill>
                      <a:srgbClr val="ABE2EB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AU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AB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795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162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7130040-a85f-40f6-8ab2-b11de916c767">
      <UserInfo>
        <DisplayName>Darren Daly</DisplayName>
        <AccountId>28</AccountId>
        <AccountType/>
      </UserInfo>
    </SharedWithUsers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Props1.xml><?xml version="1.0" encoding="utf-8"?>
<ds:datastoreItem xmlns:ds="http://schemas.openxmlformats.org/officeDocument/2006/customXml" ds:itemID="{EBAC86B1-C81E-4A5F-BBC7-74FD42D3E855}">
  <ds:schemaRefs>
    <ds:schemaRef ds:uri="3924b71c-c110-48ea-bc51-2f03443883fd"/>
    <ds:schemaRef ds:uri="a7130040-a85f-40f6-8ab2-b11de916c7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1DDEDE-BD51-4831-967D-565931B3D1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FAD522-046C-47B6-8D08-F56CFEA41CFA}">
  <ds:schemaRefs>
    <ds:schemaRef ds:uri="3924b71c-c110-48ea-bc51-2f03443883fd"/>
    <ds:schemaRef ds:uri="a7130040-a85f-40f6-8ab2-b11de916c767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958</Words>
  <Application>Microsoft Office PowerPoint</Application>
  <PresentationFormat>Widescreen</PresentationFormat>
  <Paragraphs>146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Calibri</vt:lpstr>
      <vt:lpstr>Calibri Light</vt:lpstr>
      <vt:lpstr>DINOT</vt:lpstr>
      <vt:lpstr>Roboto Condensed</vt:lpstr>
      <vt:lpstr>Roboto Condensed Light</vt:lpstr>
      <vt:lpstr>Times New Roman</vt:lpstr>
      <vt:lpstr>Office Theme</vt:lpstr>
      <vt:lpstr>1_Office Theme</vt:lpstr>
      <vt:lpstr>Worksheet</vt:lpstr>
      <vt:lpstr>Snow Asset Management Integration Project</vt:lpstr>
      <vt:lpstr>Sprint 1 Overview</vt:lpstr>
      <vt:lpstr>PowerPoint Presentation</vt:lpstr>
      <vt:lpstr>Sprint 1 Testing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 Gallehawk</dc:creator>
  <cp:lastModifiedBy>Mat Gallehawk</cp:lastModifiedBy>
  <cp:revision>10</cp:revision>
  <dcterms:created xsi:type="dcterms:W3CDTF">2023-05-17T00:36:09Z</dcterms:created>
  <dcterms:modified xsi:type="dcterms:W3CDTF">2023-05-26T01:53:18Z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0x010100EF4EA6FF5D9B274F9B14E2D5A664A837</vt:lpwstr>
  </property>
  <property fmtid="{D5CDD505-2E9C-101B-9397-08002B2CF9AE}" pid="3" name="MediaServiceImageTags">
    <vt:lpwstr/>
  </property>
</Properties>
</file>