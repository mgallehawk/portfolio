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4"/>
  </p:sldMasterIdLst>
  <p:notesMasterIdLst>
    <p:notesMasterId r:id="rId16"/>
  </p:notesMasterIdLst>
  <p:sldIdLst>
    <p:sldId id="287" r:id="rId5"/>
    <p:sldId id="381" r:id="rId6"/>
    <p:sldId id="395" r:id="rId7"/>
    <p:sldId id="387" r:id="rId8"/>
    <p:sldId id="393" r:id="rId9"/>
    <p:sldId id="388" r:id="rId10"/>
    <p:sldId id="398" r:id="rId11"/>
    <p:sldId id="397" r:id="rId12"/>
    <p:sldId id="399" r:id="rId13"/>
    <p:sldId id="400" r:id="rId14"/>
    <p:sldId id="306" r:id="rId15"/>
  </p:sldIdLst>
  <p:sldSz cx="9144000" cy="6858000" type="screen4x3"/>
  <p:notesSz cx="6796088" cy="9928225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5C4997-7FF8-9C08-50BF-F106406D0064}" name="Bruce Absolom" initials="BA" userId="S::bruce_absolom@gjames.com.au::808d7019-8e88-44db-97ed-d1a624fa3c95" providerId="AD"/>
  <p188:author id="{40A5DFDA-5CC7-2000-BFAB-7A132380A200}" name="Mat Gallehawk" initials="MG" userId="S::mathew_gallehawk@gjames.com.au::93dd6677-ad92-4f4d-8ebe-555150310a9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FFFF"/>
    <a:srgbClr val="74D2E7"/>
    <a:srgbClr val="00BBDC"/>
    <a:srgbClr val="CCFFFF"/>
    <a:srgbClr val="C9C9C9"/>
    <a:srgbClr val="D5D5D5"/>
    <a:srgbClr val="C4C4C4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0"/>
            <a:ext cx="6796088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450" y="4716463"/>
            <a:ext cx="5437188" cy="446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49688" y="942975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995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1077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25/01/2023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25/01/2023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25/01/2023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flatworldknowledge.lardbucket.org/books/public-speaking-practice-and-ethics/s09-finding-a-purpose-and-selectin.html" TargetMode="Externa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s://www.wallpaperflare.com/two-round-black-analog-watches-macbook-pro-wristwatch-desk-setup-wallpaper-awkqy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www.campbellpropertymanagement.com/blog/2020/10/05/dont-get-hooked-how-to-spot-a-phishing-email-scam/" TargetMode="External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11" Type="http://schemas.openxmlformats.org/officeDocument/2006/relationships/hyperlink" Target="https://openclipart.org/detail/289283/password-reset" TargetMode="External"/><Relationship Id="rId5" Type="http://schemas.openxmlformats.org/officeDocument/2006/relationships/image" Target="../media/image7.png"/><Relationship Id="rId15" Type="http://schemas.openxmlformats.org/officeDocument/2006/relationships/hyperlink" Target="https://www.ibtimes.com/7-rocket-launch-photos-historic-nasa-missions-2653621" TargetMode="External"/><Relationship Id="rId10" Type="http://schemas.openxmlformats.org/officeDocument/2006/relationships/image" Target="../media/image9.png"/><Relationship Id="rId4" Type="http://schemas.microsoft.com/office/2007/relationships/hdphoto" Target="../media/hdphoto2.wdp"/><Relationship Id="rId9" Type="http://schemas.openxmlformats.org/officeDocument/2006/relationships/hyperlink" Target="https://commons.wikimedia.org/wiki/File:Gnome-dev-removable-usb.svg" TargetMode="External"/><Relationship Id="rId1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9B5B-2B42-4899-9C33-3CAA42A16ACB}"/>
              </a:ext>
            </a:extLst>
          </p:cNvPr>
          <p:cNvSpPr txBox="1">
            <a:spLocks/>
          </p:cNvSpPr>
          <p:nvPr/>
        </p:nvSpPr>
        <p:spPr>
          <a:xfrm>
            <a:off x="1672988" y="3248122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Plan 2022/23</a:t>
            </a:r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Objectives</a:t>
            </a:r>
          </a:p>
          <a:p>
            <a:pPr defTabSz="914400">
              <a:buClrTx/>
              <a:buSzTx/>
              <a:buFontTx/>
              <a:defRPr/>
            </a:pPr>
            <a:endParaRPr lang="en-A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7147EC-B486-4DBF-BF93-B38E58DA3CF7}"/>
              </a:ext>
            </a:extLst>
          </p:cNvPr>
          <p:cNvSpPr txBox="1"/>
          <p:nvPr/>
        </p:nvSpPr>
        <p:spPr>
          <a:xfrm>
            <a:off x="162471" y="1319245"/>
            <a:ext cx="8317167" cy="2241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an ever-evolving threat landscape we find it critical that we develop and align our enterprise to protect ourselves against 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Cyber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threats.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Failing to do so will put our business in severe risk of being compromised with the potential for large manufacturing outages and safety risks for our machine operators.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user 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awareness training assists us to mitigate many of the key risks by identifying and dealing with threats in a consistent manner.</a:t>
            </a:r>
            <a:endParaRPr lang="en-AU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CB548FD8-25D5-4B15-88CC-CA1FF93817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9" b="97879" l="826" r="90918">
                        <a14:foregroundMark x1="12627" y1="89688" x2="5051" y2="87684"/>
                        <a14:foregroundMark x1="32831" y1="88686" x2="12627" y2="97879"/>
                        <a14:foregroundMark x1="32831" y1="87684" x2="4225" y2="91750"/>
                        <a14:foregroundMark x1="26906" y1="93813" x2="826" y2="94814"/>
                        <a14:foregroundMark x1="90044" y1="45787" x2="90918" y2="631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131007" y="3789040"/>
            <a:ext cx="372362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4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FAAB6-AECC-4A2B-81B7-0C038B99B6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11"/>
          <a:stretch/>
        </p:blipFill>
        <p:spPr>
          <a:xfrm>
            <a:off x="251520" y="836712"/>
            <a:ext cx="8821684" cy="6036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E9AB3F-FDE4-4C29-A0FC-0F1081D31B70}"/>
              </a:ext>
            </a:extLst>
          </p:cNvPr>
          <p:cNvSpPr txBox="1"/>
          <p:nvPr/>
        </p:nvSpPr>
        <p:spPr>
          <a:xfrm>
            <a:off x="539552" y="260648"/>
            <a:ext cx="369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Current Threat levels (March extract)</a:t>
            </a:r>
          </a:p>
        </p:txBody>
      </p:sp>
    </p:spTree>
    <p:extLst>
      <p:ext uri="{BB962C8B-B14F-4D97-AF65-F5344CB8AC3E}">
        <p14:creationId xmlns:p14="http://schemas.microsoft.com/office/powerpoint/2010/main" val="345108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4CD861B6-9728-4339-98C9-6BA8E39AF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9275" y="1325883"/>
            <a:ext cx="5630313" cy="48852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Phases</a:t>
            </a:r>
            <a:endParaRPr lang="en-AU"/>
          </a:p>
        </p:txBody>
      </p:sp>
      <p:sp>
        <p:nvSpPr>
          <p:cNvPr id="2" name="Flowchart: Card 1">
            <a:extLst>
              <a:ext uri="{FF2B5EF4-FFF2-40B4-BE49-F238E27FC236}">
                <a16:creationId xmlns:a16="http://schemas.microsoft.com/office/drawing/2014/main" id="{062F38BC-5121-4BED-9C93-3B0A6850F1DE}"/>
              </a:ext>
            </a:extLst>
          </p:cNvPr>
          <p:cNvSpPr/>
          <p:nvPr/>
        </p:nvSpPr>
        <p:spPr>
          <a:xfrm>
            <a:off x="4842360" y="3768500"/>
            <a:ext cx="2781946" cy="2409987"/>
          </a:xfrm>
          <a:prstGeom prst="flowChartPunchedCard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C1767A89-BABA-4D8E-A1A3-1C65F07817B6}"/>
              </a:ext>
            </a:extLst>
          </p:cNvPr>
          <p:cNvSpPr/>
          <p:nvPr/>
        </p:nvSpPr>
        <p:spPr>
          <a:xfrm rot="10800000">
            <a:off x="2029932" y="1337447"/>
            <a:ext cx="2781946" cy="2409987"/>
          </a:xfrm>
          <a:prstGeom prst="flowChartPunchedCard">
            <a:avLst/>
          </a:prstGeom>
          <a:solidFill>
            <a:srgbClr val="74D2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568F4A87-4B64-406C-93FA-504C8C96CF0C}"/>
              </a:ext>
            </a:extLst>
          </p:cNvPr>
          <p:cNvSpPr/>
          <p:nvPr/>
        </p:nvSpPr>
        <p:spPr>
          <a:xfrm flipV="1">
            <a:off x="4852176" y="1352293"/>
            <a:ext cx="2781946" cy="2409987"/>
          </a:xfrm>
          <a:prstGeom prst="flowChartPunchedCard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Flowchart: Card 8">
            <a:extLst>
              <a:ext uri="{FF2B5EF4-FFF2-40B4-BE49-F238E27FC236}">
                <a16:creationId xmlns:a16="http://schemas.microsoft.com/office/drawing/2014/main" id="{2C0350E2-7E2B-4BA3-87FA-C15FF09BCEA4}"/>
              </a:ext>
            </a:extLst>
          </p:cNvPr>
          <p:cNvSpPr/>
          <p:nvPr/>
        </p:nvSpPr>
        <p:spPr>
          <a:xfrm rot="10800000" flipV="1">
            <a:off x="2044753" y="3768501"/>
            <a:ext cx="2781946" cy="2409987"/>
          </a:xfrm>
          <a:prstGeom prst="flowChartPunchedCard">
            <a:avLst/>
          </a:prstGeom>
          <a:solidFill>
            <a:srgbClr val="00BB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D8FF2-DFE5-468E-8A92-6EA7489AEB37}"/>
              </a:ext>
            </a:extLst>
          </p:cNvPr>
          <p:cNvSpPr txBox="1"/>
          <p:nvPr/>
        </p:nvSpPr>
        <p:spPr>
          <a:xfrm>
            <a:off x="2029931" y="1337175"/>
            <a:ext cx="260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Part 1</a:t>
            </a:r>
          </a:p>
          <a:p>
            <a:r>
              <a:rPr lang="en-AU">
                <a:solidFill>
                  <a:schemeClr val="tx1"/>
                </a:solidFill>
              </a:rPr>
              <a:t>Topic: Email/SMS Security</a:t>
            </a:r>
          </a:p>
        </p:txBody>
      </p:sp>
      <p:pic>
        <p:nvPicPr>
          <p:cNvPr id="10" name="Picture 9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9DD13D65-51B2-482D-8586-DDE7B97097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844" l="8724" r="91797">
                        <a14:foregroundMark x1="10807" y1="76758" x2="8854" y2="79883"/>
                        <a14:foregroundMark x1="11589" y1="72266" x2="12500" y2="69336"/>
                        <a14:foregroundMark x1="89453" y1="77344" x2="91797" y2="794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035131" y="1909194"/>
            <a:ext cx="2576560" cy="17177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088C8-15FD-4C05-8FD2-8A434AFA29A4}"/>
              </a:ext>
            </a:extLst>
          </p:cNvPr>
          <p:cNvSpPr txBox="1"/>
          <p:nvPr/>
        </p:nvSpPr>
        <p:spPr>
          <a:xfrm>
            <a:off x="5154083" y="1337174"/>
            <a:ext cx="2480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>
                <a:solidFill>
                  <a:schemeClr val="tx1"/>
                </a:solidFill>
              </a:rPr>
              <a:t>Part 2</a:t>
            </a:r>
          </a:p>
          <a:p>
            <a:pPr algn="r"/>
            <a:r>
              <a:rPr lang="en-AU">
                <a:solidFill>
                  <a:schemeClr val="tx1"/>
                </a:solidFill>
              </a:rPr>
              <a:t>Topic: Removable Media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9EF28-AB82-4410-A792-5E4AFE39F2A1}"/>
              </a:ext>
            </a:extLst>
          </p:cNvPr>
          <p:cNvSpPr txBox="1"/>
          <p:nvPr/>
        </p:nvSpPr>
        <p:spPr>
          <a:xfrm>
            <a:off x="2029931" y="3793384"/>
            <a:ext cx="21630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Part 3</a:t>
            </a:r>
          </a:p>
          <a:p>
            <a:r>
              <a:rPr lang="en-AU">
                <a:solidFill>
                  <a:schemeClr val="tx1"/>
                </a:solidFill>
              </a:rPr>
              <a:t>Topic: Password and </a:t>
            </a:r>
          </a:p>
          <a:p>
            <a:r>
              <a:rPr lang="en-AU">
                <a:solidFill>
                  <a:schemeClr val="tx1"/>
                </a:solidFill>
              </a:rPr>
              <a:t>           Authentication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A2AF0-E297-4269-AF20-46526B085DAF}"/>
              </a:ext>
            </a:extLst>
          </p:cNvPr>
          <p:cNvSpPr txBox="1"/>
          <p:nvPr/>
        </p:nvSpPr>
        <p:spPr>
          <a:xfrm>
            <a:off x="5292080" y="3793383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>
                <a:solidFill>
                  <a:schemeClr val="tx1"/>
                </a:solidFill>
              </a:rPr>
              <a:t>Part 4</a:t>
            </a:r>
          </a:p>
          <a:p>
            <a:pPr algn="r"/>
            <a:r>
              <a:rPr lang="en-AU">
                <a:solidFill>
                  <a:schemeClr val="tx1"/>
                </a:solidFill>
              </a:rPr>
              <a:t>Topic: Physical Security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E5C904-3C93-48FB-8542-3843C27E92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471895" y="1956685"/>
            <a:ext cx="1600139" cy="1600139"/>
          </a:xfrm>
          <a:prstGeom prst="rect">
            <a:avLst/>
          </a:prstGeom>
        </p:spPr>
      </p:pic>
      <p:pic>
        <p:nvPicPr>
          <p:cNvPr id="32" name="Picture 31" descr="A crescent moon in a black sky&#10;&#10;Description automatically generated with low confidence">
            <a:extLst>
              <a:ext uri="{FF2B5EF4-FFF2-40B4-BE49-F238E27FC236}">
                <a16:creationId xmlns:a16="http://schemas.microsoft.com/office/drawing/2014/main" id="{93E8061C-AB61-4EF4-BBD0-ED763DD52AC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2736974" y="4762663"/>
            <a:ext cx="1172873" cy="1045323"/>
          </a:xfrm>
          <a:prstGeom prst="rect">
            <a:avLst/>
          </a:prstGeom>
        </p:spPr>
      </p:pic>
      <p:pic>
        <p:nvPicPr>
          <p:cNvPr id="33" name="Picture 32" descr="A picture containing text, indoor, table, computer&#10;&#10;Description automatically generated">
            <a:extLst>
              <a:ext uri="{FF2B5EF4-FFF2-40B4-BE49-F238E27FC236}">
                <a16:creationId xmlns:a16="http://schemas.microsoft.com/office/drawing/2014/main" id="{3744BE7E-FBCB-4980-A992-45FF6B2AD33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5292080" y="4509120"/>
            <a:ext cx="1959770" cy="1306513"/>
          </a:xfrm>
          <a:prstGeom prst="ellipse">
            <a:avLst/>
          </a:prstGeom>
        </p:spPr>
      </p:pic>
      <p:pic>
        <p:nvPicPr>
          <p:cNvPr id="8" name="Picture 7" descr="A rocket taking off&#10;&#10;Description automatically generated with medium confidence">
            <a:extLst>
              <a:ext uri="{FF2B5EF4-FFF2-40B4-BE49-F238E27FC236}">
                <a16:creationId xmlns:a16="http://schemas.microsoft.com/office/drawing/2014/main" id="{BB75A5D4-F1AD-451A-B863-4E7D349607F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475285" y="2038536"/>
            <a:ext cx="1275587" cy="27809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99103B-2C94-4E1C-B7EE-A5A78881C4C7}"/>
              </a:ext>
            </a:extLst>
          </p:cNvPr>
          <p:cNvSpPr txBox="1"/>
          <p:nvPr/>
        </p:nvSpPr>
        <p:spPr>
          <a:xfrm>
            <a:off x="614409" y="479304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Launch</a:t>
            </a:r>
          </a:p>
        </p:txBody>
      </p:sp>
    </p:spTree>
    <p:extLst>
      <p:ext uri="{BB962C8B-B14F-4D97-AF65-F5344CB8AC3E}">
        <p14:creationId xmlns:p14="http://schemas.microsoft.com/office/powerpoint/2010/main" val="3740176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D264-5503-483B-A74D-B37BC9941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72816"/>
            <a:ext cx="7886700" cy="4404147"/>
          </a:xfrm>
        </p:spPr>
        <p:txBody>
          <a:bodyPr/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539552" y="144497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Part 1 Continued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A4D314-B723-DF40-EA68-EA77355E0C88}"/>
              </a:ext>
            </a:extLst>
          </p:cNvPr>
          <p:cNvSpPr txBox="1">
            <a:spLocks/>
          </p:cNvSpPr>
          <p:nvPr/>
        </p:nvSpPr>
        <p:spPr bwMode="auto">
          <a:xfrm>
            <a:off x="539552" y="1484784"/>
            <a:ext cx="7886700" cy="440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ClrTx/>
              <a:buSzTx/>
            </a:pPr>
            <a:r>
              <a:rPr lang="en-AU" sz="1600" dirty="0"/>
              <a:t>Commenced November 2022.</a:t>
            </a:r>
          </a:p>
          <a:p>
            <a:pPr defTabSz="914400">
              <a:buClrTx/>
              <a:buSzTx/>
            </a:pPr>
            <a:r>
              <a:rPr lang="en-AU" sz="1600" dirty="0"/>
              <a:t>Released monthly phishing simulations.</a:t>
            </a:r>
          </a:p>
          <a:p>
            <a:pPr defTabSz="914400">
              <a:buClrTx/>
              <a:buSzTx/>
            </a:pPr>
            <a:r>
              <a:rPr lang="en-AU" sz="1600" dirty="0"/>
              <a:t>Received well by employees.</a:t>
            </a:r>
          </a:p>
          <a:p>
            <a:pPr defTabSz="914400">
              <a:buClrTx/>
              <a:buSzTx/>
            </a:pPr>
            <a:r>
              <a:rPr lang="en-AU" sz="1600" dirty="0"/>
              <a:t>Attacks Covered:</a:t>
            </a:r>
          </a:p>
          <a:p>
            <a:pPr lvl="1" defTabSz="914400">
              <a:buClrTx/>
              <a:buSzTx/>
            </a:pPr>
            <a:r>
              <a:rPr lang="en-AU" sz="1400" dirty="0"/>
              <a:t>Credential harvesting.</a:t>
            </a:r>
          </a:p>
          <a:p>
            <a:pPr lvl="1" defTabSz="914400">
              <a:buClrTx/>
              <a:buSzTx/>
            </a:pPr>
            <a:r>
              <a:rPr lang="en-AU" sz="1400" dirty="0"/>
              <a:t>Malware dropping.</a:t>
            </a:r>
          </a:p>
          <a:p>
            <a:pPr defTabSz="914400">
              <a:buClrTx/>
              <a:buSzTx/>
            </a:pPr>
            <a:r>
              <a:rPr lang="en-AU" sz="1600" dirty="0"/>
              <a:t>Training covered:</a:t>
            </a:r>
          </a:p>
          <a:p>
            <a:pPr lvl="1" defTabSz="914400">
              <a:buClrTx/>
              <a:buSzTx/>
            </a:pPr>
            <a:r>
              <a:rPr lang="en-AU" sz="1400" dirty="0"/>
              <a:t>Email address &amp; URL scrutiny</a:t>
            </a:r>
          </a:p>
          <a:p>
            <a:pPr lvl="1" defTabSz="914400">
              <a:buClrTx/>
              <a:buSzTx/>
            </a:pPr>
            <a:r>
              <a:rPr lang="en-AU" sz="1400" dirty="0"/>
              <a:t>Email attachment safety.</a:t>
            </a:r>
          </a:p>
          <a:p>
            <a:pPr lvl="1" defTabSz="914400">
              <a:buClrTx/>
              <a:buSzTx/>
            </a:pPr>
            <a:r>
              <a:rPr lang="en-AU" sz="1400" dirty="0"/>
              <a:t>Email inconsistency red flags.</a:t>
            </a:r>
          </a:p>
          <a:p>
            <a:pPr defTabSz="914400">
              <a:buClrTx/>
              <a:buSzTx/>
            </a:pPr>
            <a:r>
              <a:rPr lang="en-AU" sz="1600" dirty="0"/>
              <a:t>Training vectors:</a:t>
            </a:r>
          </a:p>
          <a:p>
            <a:pPr lvl="1" defTabSz="914400">
              <a:buClrTx/>
              <a:buSzTx/>
            </a:pPr>
            <a:r>
              <a:rPr lang="en-AU" sz="1400" dirty="0"/>
              <a:t>Toolbox talks</a:t>
            </a:r>
          </a:p>
          <a:p>
            <a:pPr lvl="1" defTabSz="914400">
              <a:buClrTx/>
              <a:buSzTx/>
            </a:pPr>
            <a:r>
              <a:rPr lang="en-AU" sz="1400" dirty="0"/>
              <a:t>SharePoint training.</a:t>
            </a:r>
          </a:p>
          <a:p>
            <a:pPr lvl="1" defTabSz="914400">
              <a:buClrTx/>
              <a:buSzTx/>
            </a:pPr>
            <a:r>
              <a:rPr lang="en-AU" sz="1400" dirty="0"/>
              <a:t>Microsoft tailored training. (Simulation response)</a:t>
            </a:r>
          </a:p>
          <a:p>
            <a:pPr marL="457200" lvl="1" indent="0" defTabSz="914400">
              <a:buClrTx/>
              <a:buSzTx/>
              <a:buNone/>
            </a:pPr>
            <a:endParaRPr lang="en-AU" sz="1400" dirty="0"/>
          </a:p>
          <a:p>
            <a:pPr lvl="1" defTabSz="914400">
              <a:buClrTx/>
              <a:buSzTx/>
            </a:pPr>
            <a:endParaRPr lang="en-AU" sz="1400" dirty="0"/>
          </a:p>
          <a:p>
            <a:pPr lvl="1" defTabSz="914400">
              <a:buClrTx/>
              <a:buSzTx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7593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717748" y="286540"/>
            <a:ext cx="6858000" cy="682529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Results 2022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DCA9FB-08CB-916B-C2F3-0170616D0F3D}"/>
              </a:ext>
            </a:extLst>
          </p:cNvPr>
          <p:cNvSpPr txBox="1">
            <a:spLocks/>
          </p:cNvSpPr>
          <p:nvPr/>
        </p:nvSpPr>
        <p:spPr bwMode="auto">
          <a:xfrm>
            <a:off x="539552" y="1226926"/>
            <a:ext cx="7886700" cy="440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914400">
              <a:buClrTx/>
              <a:buSzTx/>
            </a:pPr>
            <a:r>
              <a:rPr lang="en-AU" sz="1400" dirty="0"/>
              <a:t>First Simulation:</a:t>
            </a:r>
          </a:p>
          <a:p>
            <a:pPr lvl="2" defTabSz="914400">
              <a:buClrTx/>
              <a:buSzTx/>
            </a:pPr>
            <a:r>
              <a:rPr lang="en-AU" sz="1200" dirty="0"/>
              <a:t>33 Users clicked the malicious link.</a:t>
            </a:r>
          </a:p>
          <a:p>
            <a:pPr lvl="2" defTabSz="914400">
              <a:buClrTx/>
              <a:buSzTx/>
            </a:pPr>
            <a:r>
              <a:rPr lang="en-AU" sz="1200" dirty="0"/>
              <a:t>16 Users supplied credentials.</a:t>
            </a:r>
          </a:p>
          <a:p>
            <a:pPr lvl="2" defTabSz="914400">
              <a:buClrTx/>
              <a:buSzTx/>
            </a:pPr>
            <a:r>
              <a:rPr lang="en-AU" sz="1200" dirty="0"/>
              <a:t>27 Users completed ‘Mass Market Phishing’ training.</a:t>
            </a:r>
          </a:p>
          <a:p>
            <a:pPr lvl="2" defTabSz="914400">
              <a:buClrTx/>
              <a:buSzTx/>
            </a:pPr>
            <a:r>
              <a:rPr lang="en-AU" sz="1200" dirty="0"/>
              <a:t>13 Users completed ‘Web Phishing’ training.</a:t>
            </a:r>
          </a:p>
          <a:p>
            <a:pPr lvl="1" defTabSz="914400">
              <a:buClrTx/>
              <a:buSzTx/>
            </a:pPr>
            <a:r>
              <a:rPr lang="en-AU" sz="1400" dirty="0"/>
              <a:t>Second Simulation:</a:t>
            </a:r>
          </a:p>
          <a:p>
            <a:pPr lvl="2" defTabSz="914400">
              <a:buClrTx/>
              <a:buSzTx/>
            </a:pPr>
            <a:r>
              <a:rPr lang="en-AU" sz="1200" dirty="0"/>
              <a:t>16 Users clicked the malicious link.</a:t>
            </a:r>
          </a:p>
          <a:p>
            <a:pPr lvl="2" defTabSz="914400">
              <a:buClrTx/>
              <a:buSzTx/>
            </a:pPr>
            <a:r>
              <a:rPr lang="en-AU" sz="1200" dirty="0"/>
              <a:t>2 Users supplied credentials.</a:t>
            </a:r>
          </a:p>
          <a:p>
            <a:pPr lvl="2" defTabSz="914400">
              <a:buClrTx/>
              <a:buSzTx/>
            </a:pPr>
            <a:r>
              <a:rPr lang="en-AU" sz="1200" dirty="0"/>
              <a:t>12 Users completed ‘Mass Market Phishing’ training.</a:t>
            </a:r>
          </a:p>
          <a:p>
            <a:pPr lvl="2" defTabSz="914400">
              <a:buClrTx/>
              <a:buSzTx/>
            </a:pPr>
            <a:r>
              <a:rPr lang="en-AU" sz="1200" dirty="0"/>
              <a:t>1 User completed ‘Web Phishing’ training</a:t>
            </a:r>
          </a:p>
          <a:p>
            <a:pPr lvl="1" defTabSz="914400">
              <a:buClrTx/>
              <a:buSzTx/>
            </a:pPr>
            <a:r>
              <a:rPr lang="en-AU" sz="1400" dirty="0"/>
              <a:t>Third Simulation:</a:t>
            </a:r>
          </a:p>
          <a:p>
            <a:pPr lvl="2" defTabSz="914400">
              <a:buClrTx/>
              <a:buSzTx/>
            </a:pPr>
            <a:r>
              <a:rPr lang="en-AU" sz="1200" dirty="0"/>
              <a:t>13 Users downloaded the Malicious attachment file.</a:t>
            </a:r>
          </a:p>
          <a:p>
            <a:pPr lvl="2" defTabSz="914400">
              <a:buClrTx/>
              <a:buSzTx/>
            </a:pPr>
            <a:r>
              <a:rPr lang="en-AU" sz="1200" dirty="0"/>
              <a:t>11 Users completed ‘Malware’, ‘Ransomware’ and ‘Phishing Six Clues That Should Raise Your Suspicions’ trainings.</a:t>
            </a:r>
          </a:p>
          <a:p>
            <a:pPr lvl="2" defTabSz="914400">
              <a:buClrTx/>
              <a:buSzTx/>
            </a:pP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419196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717748" y="286540"/>
            <a:ext cx="6858000" cy="682529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Moving Forward With Part 1 In 2023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DCA9FB-08CB-916B-C2F3-0170616D0F3D}"/>
              </a:ext>
            </a:extLst>
          </p:cNvPr>
          <p:cNvSpPr txBox="1">
            <a:spLocks/>
          </p:cNvSpPr>
          <p:nvPr/>
        </p:nvSpPr>
        <p:spPr bwMode="auto">
          <a:xfrm>
            <a:off x="539552" y="1226927"/>
            <a:ext cx="7886700" cy="33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914400">
              <a:buClrTx/>
              <a:buSzTx/>
            </a:pPr>
            <a:r>
              <a:rPr lang="en-AU" sz="1400" dirty="0"/>
              <a:t>Monthly Releases.</a:t>
            </a:r>
          </a:p>
          <a:p>
            <a:pPr lvl="1" defTabSz="914400">
              <a:buClrTx/>
              <a:buSzTx/>
            </a:pPr>
            <a:r>
              <a:rPr lang="en-AU" sz="1400" dirty="0"/>
              <a:t>Increased detection difficulty.</a:t>
            </a:r>
          </a:p>
          <a:p>
            <a:pPr lvl="1" defTabSz="914400">
              <a:buClrTx/>
              <a:buSzTx/>
            </a:pPr>
            <a:r>
              <a:rPr lang="en-AU" sz="1400" dirty="0"/>
              <a:t>Reinforce concepts from 2022.</a:t>
            </a:r>
          </a:p>
          <a:p>
            <a:pPr lvl="1" defTabSz="914400">
              <a:buClrTx/>
              <a:buSzTx/>
            </a:pPr>
            <a:r>
              <a:rPr lang="en-AU" sz="1400" dirty="0"/>
              <a:t>Diversify the Microsoft assigned training.</a:t>
            </a:r>
          </a:p>
          <a:p>
            <a:pPr lvl="1" defTabSz="914400">
              <a:buClrTx/>
              <a:buSzTx/>
            </a:pPr>
            <a:r>
              <a:rPr lang="en-AU" sz="1400" dirty="0"/>
              <a:t>Attack vectors:</a:t>
            </a:r>
          </a:p>
          <a:p>
            <a:pPr lvl="2" defTabSz="914400">
              <a:buClrTx/>
              <a:buSzTx/>
            </a:pPr>
            <a:r>
              <a:rPr lang="en-AU" sz="1200" dirty="0"/>
              <a:t>Compromised business partners.</a:t>
            </a:r>
          </a:p>
          <a:p>
            <a:pPr lvl="2" defTabSz="914400">
              <a:buClrTx/>
              <a:buSzTx/>
            </a:pPr>
            <a:r>
              <a:rPr lang="en-AU" sz="1200" dirty="0"/>
              <a:t>Compromised internal.</a:t>
            </a:r>
          </a:p>
          <a:p>
            <a:pPr lvl="2" defTabSz="914400">
              <a:buClrTx/>
              <a:buSzTx/>
            </a:pPr>
            <a:r>
              <a:rPr lang="en-AU" sz="1200" dirty="0"/>
              <a:t>External service providers.</a:t>
            </a:r>
          </a:p>
          <a:p>
            <a:pPr lvl="1" defTabSz="914400">
              <a:buClrTx/>
              <a:buSzTx/>
            </a:pPr>
            <a:r>
              <a:rPr lang="en-AU" sz="1400" dirty="0"/>
              <a:t>Attack types:</a:t>
            </a:r>
          </a:p>
          <a:p>
            <a:pPr lvl="2" defTabSz="914400">
              <a:buClrTx/>
              <a:buSzTx/>
            </a:pPr>
            <a:r>
              <a:rPr lang="en-AU" sz="1200" dirty="0"/>
              <a:t>Credential harvesting.</a:t>
            </a:r>
          </a:p>
          <a:p>
            <a:pPr lvl="2" defTabSz="914400">
              <a:buClrTx/>
              <a:buSzTx/>
            </a:pPr>
            <a:r>
              <a:rPr lang="en-AU" sz="1200" dirty="0"/>
              <a:t>Malware attachments.</a:t>
            </a:r>
          </a:p>
          <a:p>
            <a:pPr lvl="2" defTabSz="914400">
              <a:buClrTx/>
              <a:buSzTx/>
            </a:pPr>
            <a:r>
              <a:rPr lang="en-AU" sz="1200" dirty="0"/>
              <a:t>Malicious URLs.</a:t>
            </a:r>
          </a:p>
          <a:p>
            <a:pPr marL="457200" lvl="1" indent="0" defTabSz="914400">
              <a:buClrTx/>
              <a:buSzTx/>
              <a:buNone/>
            </a:pPr>
            <a:endParaRPr lang="en-AU" sz="1400" dirty="0"/>
          </a:p>
          <a:p>
            <a:pPr lvl="2" defTabSz="914400">
              <a:buClrTx/>
              <a:buSzTx/>
            </a:pPr>
            <a:endParaRPr lang="en-AU" sz="1200" dirty="0"/>
          </a:p>
          <a:p>
            <a:pPr lvl="1" defTabSz="914400">
              <a:buClrTx/>
              <a:buSzTx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569370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January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Attack: Drive-by URL</a:t>
            </a:r>
          </a:p>
          <a:p>
            <a:r>
              <a:rPr lang="en-AU" dirty="0"/>
              <a:t>This simulation will depict a compromised / impersonated IT account.</a:t>
            </a:r>
          </a:p>
          <a:p>
            <a:r>
              <a:rPr lang="en-AU" dirty="0"/>
              <a:t>The situation for the user: Email implies that the users password is about to change and they must click a link to keep it.</a:t>
            </a:r>
          </a:p>
          <a:p>
            <a:r>
              <a:rPr lang="en-AU" dirty="0"/>
              <a:t>The situation for the attacker: The user follows the link and adds their credentials which the attacker now has.</a:t>
            </a:r>
          </a:p>
          <a:p>
            <a:pPr marL="0" indent="0">
              <a:buNone/>
            </a:pPr>
            <a:r>
              <a:rPr lang="en-AU" dirty="0"/>
              <a:t>Ques:</a:t>
            </a:r>
          </a:p>
          <a:p>
            <a:r>
              <a:rPr lang="en-AU" dirty="0"/>
              <a:t>Users will have the external banner to indicate that the email may be deceptive.</a:t>
            </a:r>
          </a:p>
          <a:p>
            <a:r>
              <a:rPr lang="en-AU" dirty="0"/>
              <a:t>Users should be able to identify that this process is not standard business practice.</a:t>
            </a:r>
          </a:p>
          <a:p>
            <a:r>
              <a:rPr lang="en-AU" dirty="0"/>
              <a:t>Users should be able to spot irregularities with the URL.</a:t>
            </a:r>
          </a:p>
          <a:p>
            <a:r>
              <a:rPr lang="en-AU" dirty="0"/>
              <a:t>Users should be able to spot irregularities with Email and Signature.</a:t>
            </a:r>
          </a:p>
        </p:txBody>
      </p:sp>
    </p:spTree>
    <p:extLst>
      <p:ext uri="{BB962C8B-B14F-4D97-AF65-F5344CB8AC3E}">
        <p14:creationId xmlns:p14="http://schemas.microsoft.com/office/powerpoint/2010/main" val="3196026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February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12928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March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64574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9421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7130040-a85f-40f6-8ab2-b11de916c767">
      <UserInfo>
        <DisplayName>Bruce Absolom</DisplayName>
        <AccountId>11</AccountId>
        <AccountType/>
      </UserInfo>
      <UserInfo>
        <DisplayName>Darren Daly</DisplayName>
        <AccountId>28</AccountId>
        <AccountType/>
      </UserInfo>
      <UserInfo>
        <DisplayName>Alison Johns</DisplayName>
        <AccountId>44</AccountId>
        <AccountType/>
      </UserInfo>
      <UserInfo>
        <DisplayName>Dan Guthrie</DisplayName>
        <AccountId>27</AccountId>
        <AccountType/>
      </UserInfo>
      <UserInfo>
        <DisplayName>Mat Gallehawk</DisplayName>
        <AccountId>54</AccountId>
        <AccountType/>
      </UserInfo>
    </SharedWithUsers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0A8F3F-4980-4BD9-9808-62A9D016BE4E}">
  <ds:schemaRefs>
    <ds:schemaRef ds:uri="3924b71c-c110-48ea-bc51-2f03443883fd"/>
    <ds:schemaRef ds:uri="a7130040-a85f-40f6-8ab2-b11de916c7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42B31D-4610-48D4-A236-4AD04B87836E}">
  <ds:schemaRefs>
    <ds:schemaRef ds:uri="3924b71c-c110-48ea-bc51-2f03443883fd"/>
    <ds:schemaRef ds:uri="a7130040-a85f-40f6-8ab2-b11de916c76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3B03469-525B-4B93-B6B9-C34AFC4DAF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466</Words>
  <Application>Microsoft Office PowerPoint</Application>
  <PresentationFormat>On-screen Show (4:3)</PresentationFormat>
  <Paragraphs>79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DINOT</vt:lpstr>
      <vt:lpstr>Roboto Condensed</vt:lpstr>
      <vt:lpstr>Roboto Condensed Light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January </vt:lpstr>
      <vt:lpstr>February  </vt:lpstr>
      <vt:lpstr>March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 Gallehawk</dc:creator>
  <cp:lastModifiedBy>Mat Gallehawk</cp:lastModifiedBy>
  <cp:revision>2</cp:revision>
  <cp:lastPrinted>2015-02-02T00:57:34Z</cp:lastPrinted>
  <dcterms:created xsi:type="dcterms:W3CDTF">2022-10-04T02:01:26Z</dcterms:created>
  <dcterms:modified xsi:type="dcterms:W3CDTF">2023-01-25T04:43:16Z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  <property fmtid="{D5CDD505-2E9C-101B-9397-08002B2CF9AE}" pid="3" name="MediaServiceImageTags">
    <vt:lpwstr/>
  </property>
</Properties>
</file>