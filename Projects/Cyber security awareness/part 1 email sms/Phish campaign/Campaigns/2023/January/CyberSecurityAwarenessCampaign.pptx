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20_0.xml" ContentType="application/vnd.ms-powerpoint.comments+xml"/>
  <Override PartName="/ppt/comments/modernComment_139_BBEC0E71.xml" ContentType="application/vnd.ms-powerpoint.comments+xml"/>
  <Override PartName="/ppt/comments/modernComment_13D_B1E146F2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2" r:id="rId4"/>
  </p:sldMasterIdLst>
  <p:notesMasterIdLst>
    <p:notesMasterId r:id="rId31"/>
  </p:notesMasterIdLst>
  <p:sldIdLst>
    <p:sldId id="287" r:id="rId5"/>
    <p:sldId id="381" r:id="rId6"/>
    <p:sldId id="395" r:id="rId7"/>
    <p:sldId id="387" r:id="rId8"/>
    <p:sldId id="393" r:id="rId9"/>
    <p:sldId id="388" r:id="rId10"/>
    <p:sldId id="389" r:id="rId11"/>
    <p:sldId id="391" r:id="rId12"/>
    <p:sldId id="288" r:id="rId13"/>
    <p:sldId id="297" r:id="rId14"/>
    <p:sldId id="298" r:id="rId15"/>
    <p:sldId id="299" r:id="rId16"/>
    <p:sldId id="307" r:id="rId17"/>
    <p:sldId id="310" r:id="rId18"/>
    <p:sldId id="397" r:id="rId19"/>
    <p:sldId id="396" r:id="rId20"/>
    <p:sldId id="311" r:id="rId21"/>
    <p:sldId id="312" r:id="rId22"/>
    <p:sldId id="313" r:id="rId23"/>
    <p:sldId id="318" r:id="rId24"/>
    <p:sldId id="315" r:id="rId25"/>
    <p:sldId id="316" r:id="rId26"/>
    <p:sldId id="317" r:id="rId27"/>
    <p:sldId id="319" r:id="rId28"/>
    <p:sldId id="394" r:id="rId29"/>
    <p:sldId id="306" r:id="rId30"/>
  </p:sldIdLst>
  <p:sldSz cx="9144000" cy="6858000" type="screen4x3"/>
  <p:notesSz cx="6796088" cy="9928225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1pPr>
    <a:lvl2pPr marL="742950" indent="-28575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2pPr>
    <a:lvl3pPr marL="11430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3pPr>
    <a:lvl4pPr marL="16002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4pPr>
    <a:lvl5pPr marL="2057400" indent="-228600" algn="l" defTabSz="449263" rtl="0" fontAlgn="base">
      <a:spcBef>
        <a:spcPct val="0"/>
      </a:spcBef>
      <a:spcAft>
        <a:spcPct val="0"/>
      </a:spcAft>
      <a:buClr>
        <a:srgbClr val="000000"/>
      </a:buClr>
      <a:buSzPct val="100000"/>
      <a:buFont typeface="Times New Roman" pitchFamily="16" charset="0"/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5pPr>
    <a:lvl6pPr marL="22860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6pPr>
    <a:lvl7pPr marL="27432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7pPr>
    <a:lvl8pPr marL="32004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8pPr>
    <a:lvl9pPr marL="3657600" algn="l" defTabSz="914400" rtl="0" eaLnBrk="1" latinLnBrk="0" hangingPunct="1">
      <a:defRPr kern="1200">
        <a:solidFill>
          <a:schemeClr val="bg1"/>
        </a:solidFill>
        <a:latin typeface="Calibri" pitchFamily="32" charset="0"/>
        <a:ea typeface="Microsoft YaHei" charset="-122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A5C4997-7FF8-9C08-50BF-F106406D0064}" name="Bruce Absolom" initials="BA" userId="S::bruce_absolom@gjames.com.au::808d7019-8e88-44db-97ed-d1a624fa3c95" providerId="AD"/>
  <p188:author id="{40A5DFDA-5CC7-2000-BFAB-7A132380A200}" name="Mat Gallehawk" initials="MG" userId="S::mathew_gallehawk@gjames.com.au::93dd6677-ad92-4f4d-8ebe-555150310a9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6FFFF"/>
    <a:srgbClr val="74D2E7"/>
    <a:srgbClr val="00BBDC"/>
    <a:srgbClr val="CCFFFF"/>
    <a:srgbClr val="C9C9C9"/>
    <a:srgbClr val="D5D5D5"/>
    <a:srgbClr val="C4C4C4"/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comments/modernComment_13D_B1E146F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8014473-D569-4F2D-96B6-67F51F0BE574}" authorId="{0A5C4997-7FF8-9C08-50BF-F106406D0064}" created="2022-10-17T22:20:34.86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984330994" sldId="317"/>
      <ac:spMk id="3" creationId="{D7B837D7-EA76-4DCE-A319-CA73C9382C6C}"/>
    </ac:deMkLst>
    <p188:txBody>
      <a:bodyPr/>
      <a:lstStyle/>
      <a:p>
        <a:r>
          <a:rPr lang="en-AU"/>
          <a:t>I'd add this..... I know it's not email only but ransomware is very dangerous. </a:t>
        </a:r>
      </a:p>
    </p188:txBody>
  </p188:cm>
</p188:cmLst>
</file>

<file path=ppt/comments/modernComment_12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DFBE4D6-4BC4-44A5-BAB9-0E894087B474}" authorId="{40A5DFDA-5CC7-2000-BFAB-7A132380A200}" created="2022-10-17T05:58:31.00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88"/>
      <ac:spMk id="2" creationId="{00000000-0000-0000-0000-000000000000}"/>
    </ac:deMkLst>
    <p188:replyLst>
      <p188:reply id="{0E456E9E-6293-4DB4-860A-791DF12118A8}" authorId="{0A5C4997-7FF8-9C08-50BF-F106406D0064}" created="2022-10-17T22:09:46.983">
        <p188:txBody>
          <a:bodyPr/>
          <a:lstStyle/>
          <a:p>
            <a:r>
              <a:rPr lang="en-AU"/>
              <a:t>[@Mat Gallehawk] I think one idea is that after the training we send an SMS to everyone with a link to another fake/education site.     
</a:t>
            </a:r>
          </a:p>
        </p188:txBody>
      </p188:reply>
    </p188:replyLst>
    <p188:txBody>
      <a:bodyPr/>
      <a:lstStyle/>
      <a:p>
        <a:r>
          <a:rPr lang="en-AU"/>
          <a:t>Have to think of something to include SMS security into the program</a:t>
        </a:r>
      </a:p>
    </p188:txBody>
  </p188:cm>
</p188:cmLst>
</file>

<file path=ppt/comments/modernComment_139_BBEC0E7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466F678-7622-4452-B2C8-235BF778DF29}" authorId="{0A5C4997-7FF8-9C08-50BF-F106406D0064}" created="2022-10-17T22:15:55.96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152809585" sldId="313"/>
      <ac:spMk id="3" creationId="{D7B837D7-EA76-4DCE-A319-CA73C9382C6C}"/>
      <ac:txMk cp="234" len="135">
        <ac:context len="370" hash="4233756256"/>
      </ac:txMk>
    </ac:txMkLst>
    <p188:pos x="7712542" y="1512306"/>
    <p188:txBody>
      <a:bodyPr/>
      <a:lstStyle/>
      <a:p>
        <a:r>
          <a:rPr lang="en-AU"/>
          <a:t>[@Darren Daly] Is this what you want?  There are a lot of single email targets.  Instead of deleting, do you want people to inform the SD every time?
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AutoShape 1"/>
          <p:cNvSpPr>
            <a:spLocks noChangeArrowheads="1"/>
          </p:cNvSpPr>
          <p:nvPr/>
        </p:nvSpPr>
        <p:spPr bwMode="auto">
          <a:xfrm>
            <a:off x="0" y="0"/>
            <a:ext cx="6796088" cy="9928225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9939" name="Text Box 2"/>
          <p:cNvSpPr txBox="1">
            <a:spLocks noChangeArrowheads="1"/>
          </p:cNvSpPr>
          <p:nvPr/>
        </p:nvSpPr>
        <p:spPr bwMode="auto">
          <a:xfrm>
            <a:off x="0" y="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3849688" y="0"/>
            <a:ext cx="2944812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ea typeface="+mn-ea"/>
                <a:cs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9941" name="Rectangle 4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917575" y="744538"/>
            <a:ext cx="4960938" cy="3721100"/>
          </a:xfrm>
          <a:prstGeom prst="rect">
            <a:avLst/>
          </a:prstGeom>
          <a:noFill/>
          <a:ln w="12600" cap="sq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/>
          </p:nvPr>
        </p:nvSpPr>
        <p:spPr bwMode="auto">
          <a:xfrm>
            <a:off x="679450" y="4716463"/>
            <a:ext cx="5437188" cy="4465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39943" name="Text Box 6"/>
          <p:cNvSpPr txBox="1">
            <a:spLocks noChangeArrowheads="1"/>
          </p:cNvSpPr>
          <p:nvPr/>
        </p:nvSpPr>
        <p:spPr bwMode="auto">
          <a:xfrm>
            <a:off x="0" y="9429750"/>
            <a:ext cx="2946400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/>
          </p:nvPr>
        </p:nvSpPr>
        <p:spPr bwMode="auto">
          <a:xfrm>
            <a:off x="3849688" y="9429750"/>
            <a:ext cx="2944812" cy="495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200">
                <a:solidFill>
                  <a:srgbClr val="000000"/>
                </a:solidFill>
                <a:ea typeface="+mn-ea"/>
                <a:cs typeface="Arial" charset="0"/>
              </a:defRPr>
            </a:lvl1pPr>
          </a:lstStyle>
          <a:p>
            <a:pPr>
              <a:defRPr/>
            </a:pPr>
            <a:fld id="{B2648A16-E134-4B8A-8E0B-E67E8027D83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678125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6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B2648A16-E134-4B8A-8E0B-E67E8027D834}" type="slidenum">
              <a:rPr lang="en-AU" smtClean="0"/>
              <a:pPr>
                <a:defRPr/>
              </a:pPr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59956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>
              <a:defRPr/>
            </a:pPr>
            <a:fld id="{B2648A16-E134-4B8A-8E0B-E67E8027D834}" type="slidenum">
              <a:rPr lang="en-AU" smtClean="0"/>
              <a:pPr>
                <a:defRPr/>
              </a:pPr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11077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iting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506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64600" y="3702378"/>
            <a:ext cx="6858000" cy="610422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4600" y="5424835"/>
            <a:ext cx="6858000" cy="39876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90D6ED98-98A9-431F-A354-964E57644AAB}" type="datetimeFigureOut">
              <a:rPr lang="en-AU"/>
              <a:pPr>
                <a:defRPr/>
              </a:pPr>
              <a:t>19/10/2022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0971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471587"/>
          </a:xfrm>
        </p:spPr>
        <p:txBody>
          <a:bodyPr/>
          <a:lstStyle>
            <a:lvl1pPr>
              <a:defRPr sz="2400" b="1">
                <a:latin typeface="+mj-lt"/>
                <a:cs typeface="DINOT-Bold" panose="020B0804020101020102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80728"/>
            <a:ext cx="7886700" cy="5196235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4438" y="6542088"/>
            <a:ext cx="1449387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fld id="{7D784D61-7083-48BD-845D-71EFBFC88A37}" type="datetimeFigureOut">
              <a:rPr lang="en-AU"/>
              <a:pPr>
                <a:defRPr/>
              </a:pPr>
              <a:t>19/10/2022</a:t>
            </a:fld>
            <a:endParaRPr lang="en-A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92888" y="6542088"/>
            <a:ext cx="922337" cy="160337"/>
          </a:xfrm>
        </p:spPr>
        <p:txBody>
          <a:bodyPr/>
          <a:lstStyle>
            <a:lvl1pPr defTabSz="449263"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lvl1pPr>
          </a:lstStyle>
          <a:p>
            <a:pPr>
              <a:defRPr/>
            </a:pPr>
            <a:r>
              <a:rPr lang="en-AU"/>
              <a:t>Slide </a:t>
            </a:r>
            <a:fld id="{C855FA6A-73C9-40CD-8885-046E95F4DBE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7863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 userDrawn="1"/>
        </p:nvSpPr>
        <p:spPr bwMode="auto">
          <a:xfrm>
            <a:off x="1447800" y="3892550"/>
            <a:ext cx="24987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DINOT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DINOT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DINOT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DINOT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DINOT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buNone/>
              <a:defRPr/>
            </a:pPr>
            <a:r>
              <a:rPr lang="en-US" sz="4000">
                <a:solidFill>
                  <a:prstClr val="black"/>
                </a:solidFill>
                <a:latin typeface="+mj-lt"/>
                <a:ea typeface="+mn-ea"/>
                <a:cs typeface="Arial" pitchFamily="34" charset="0"/>
              </a:rPr>
              <a:t>Thank You</a:t>
            </a:r>
            <a:endParaRPr lang="en-AU" sz="4000">
              <a:solidFill>
                <a:prstClr val="black"/>
              </a:solidFill>
              <a:latin typeface="+mj-lt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2257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Placeholder 1"/>
          <p:cNvSpPr>
            <a:spLocks noGrp="1"/>
          </p:cNvSpPr>
          <p:nvPr>
            <p:ph type="title"/>
          </p:nvPr>
        </p:nvSpPr>
        <p:spPr bwMode="auto"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205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AC8ABA3-2CFE-4914-BD55-C3414EA44363}" type="datetimeFigureOut">
              <a:rPr lang="en-AU"/>
              <a:pPr>
                <a:defRPr/>
              </a:pPr>
              <a:t>19/10/2022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defTabSz="91440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EA4CD63-EB59-409A-A92C-0520842419CE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DINOT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flatworldknowledge.lardbucket.org/books/public-speaking-practice-and-ethics/s09-finding-a-purpose-and-selectin.html" TargetMode="Externa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hyperlink" Target="https://www.wallpaperflare.com/two-round-black-analog-watches-macbook-pro-wristwatch-desk-setup-wallpaper-awkqy" TargetMode="External"/><Relationship Id="rId3" Type="http://schemas.openxmlformats.org/officeDocument/2006/relationships/image" Target="../media/image6.png"/><Relationship Id="rId7" Type="http://schemas.openxmlformats.org/officeDocument/2006/relationships/hyperlink" Target="https://www.campbellpropertymanagement.com/blog/2020/10/05/dont-get-hooked-how-to-spot-a-phishing-email-scam/" TargetMode="External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microsoft.com/office/2007/relationships/hdphoto" Target="../media/hdphoto3.wdp"/><Relationship Id="rId11" Type="http://schemas.openxmlformats.org/officeDocument/2006/relationships/hyperlink" Target="https://openclipart.org/detail/289283/password-reset" TargetMode="External"/><Relationship Id="rId5" Type="http://schemas.openxmlformats.org/officeDocument/2006/relationships/image" Target="../media/image7.png"/><Relationship Id="rId15" Type="http://schemas.openxmlformats.org/officeDocument/2006/relationships/hyperlink" Target="https://www.ibtimes.com/7-rocket-launch-photos-historic-nasa-missions-2653621" TargetMode="External"/><Relationship Id="rId10" Type="http://schemas.openxmlformats.org/officeDocument/2006/relationships/image" Target="../media/image9.png"/><Relationship Id="rId4" Type="http://schemas.microsoft.com/office/2007/relationships/hdphoto" Target="../media/hdphoto2.wdp"/><Relationship Id="rId9" Type="http://schemas.openxmlformats.org/officeDocument/2006/relationships/hyperlink" Target="https://commons.wikimedia.org/wiki/File:Gnome-dev-removable-usb.svg" TargetMode="External"/><Relationship Id="rId1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btimes.com/7-rocket-launch-photos-historic-nasa-missions-2653621" TargetMode="Externa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microsoft.com/office/2018/10/relationships/comments" Target="../comments/modernComment_120_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39_BBEC0E71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3D_B1E146F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89B5B-2B42-4899-9C33-3CAA42A16ACB}"/>
              </a:ext>
            </a:extLst>
          </p:cNvPr>
          <p:cNvSpPr txBox="1">
            <a:spLocks/>
          </p:cNvSpPr>
          <p:nvPr/>
        </p:nvSpPr>
        <p:spPr>
          <a:xfrm>
            <a:off x="1672988" y="3248122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/>
              <a:t>Campaign Plan 2022/23</a:t>
            </a:r>
            <a:endParaRPr lang="en-A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7221BBE-0A07-402A-9652-98CBFE677FF4}"/>
              </a:ext>
            </a:extLst>
          </p:cNvPr>
          <p:cNvSpPr txBox="1">
            <a:spLocks/>
          </p:cNvSpPr>
          <p:nvPr/>
        </p:nvSpPr>
        <p:spPr>
          <a:xfrm>
            <a:off x="162471" y="153375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/>
              <a:t>Campaign Objectives</a:t>
            </a:r>
          </a:p>
          <a:p>
            <a:pPr defTabSz="914400">
              <a:buClrTx/>
              <a:buSzTx/>
              <a:buFontTx/>
              <a:defRPr/>
            </a:pPr>
            <a:endParaRPr lang="en-AU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37147EC-B486-4DBF-BF93-B38E58DA3CF7}"/>
              </a:ext>
            </a:extLst>
          </p:cNvPr>
          <p:cNvSpPr txBox="1"/>
          <p:nvPr/>
        </p:nvSpPr>
        <p:spPr>
          <a:xfrm>
            <a:off x="162471" y="1319245"/>
            <a:ext cx="8317167" cy="2241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With an ever-evolving threat landscape we find it critical that we develop and align our enterprise to protect ourselves against </a:t>
            </a:r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Cyber</a:t>
            </a:r>
            <a:r>
              <a:rPr lang="en-US" sz="1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threats.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 sz="1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Failing to do so will put our business in severe risk of being compromised with the potential for large manufacturing outages and safety risks for our machine operators.  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lang="en-US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Individual user </a:t>
            </a:r>
            <a:r>
              <a:rPr lang="en-US" sz="180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awareness training assists us to mitigate many of the key risks by identifying and dealing with threats in a consistent manner.</a:t>
            </a:r>
            <a:endParaRPr lang="en-AU">
              <a:solidFill>
                <a:schemeClr val="tx1"/>
              </a:solidFill>
            </a:endParaRPr>
          </a:p>
        </p:txBody>
      </p:sp>
      <p:pic>
        <p:nvPicPr>
          <p:cNvPr id="3" name="Picture 2" descr="A picture containing LEGO, toy&#10;&#10;Description automatically generated">
            <a:extLst>
              <a:ext uri="{FF2B5EF4-FFF2-40B4-BE49-F238E27FC236}">
                <a16:creationId xmlns:a16="http://schemas.microsoft.com/office/drawing/2014/main" id="{CB548FD8-25D5-4B15-88CC-CA1FF93817B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59" b="97879" l="826" r="90918">
                        <a14:foregroundMark x1="12627" y1="89688" x2="5051" y2="87684"/>
                        <a14:foregroundMark x1="32831" y1="88686" x2="12627" y2="97879"/>
                        <a14:foregroundMark x1="32831" y1="87684" x2="4225" y2="91750"/>
                        <a14:foregroundMark x1="26906" y1="93813" x2="826" y2="94814"/>
                        <a14:foregroundMark x1="90044" y1="45787" x2="90918" y2="6317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4131007" y="3789040"/>
            <a:ext cx="3723624" cy="306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3486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FFAAB6-AECC-4A2B-81B7-0C038B99B6D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11"/>
          <a:stretch/>
        </p:blipFill>
        <p:spPr>
          <a:xfrm>
            <a:off x="251520" y="836712"/>
            <a:ext cx="8821684" cy="60365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5E9AB3F-FDE4-4C29-A0FC-0F1081D31B70}"/>
              </a:ext>
            </a:extLst>
          </p:cNvPr>
          <p:cNvSpPr txBox="1"/>
          <p:nvPr/>
        </p:nvSpPr>
        <p:spPr>
          <a:xfrm>
            <a:off x="539552" y="260648"/>
            <a:ext cx="3697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>
                <a:solidFill>
                  <a:schemeClr val="tx1"/>
                </a:solidFill>
              </a:rPr>
              <a:t>Current Threat levels (March extract)</a:t>
            </a:r>
          </a:p>
        </p:txBody>
      </p:sp>
    </p:spTree>
    <p:extLst>
      <p:ext uri="{BB962C8B-B14F-4D97-AF65-F5344CB8AC3E}">
        <p14:creationId xmlns:p14="http://schemas.microsoft.com/office/powerpoint/2010/main" val="3451083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4CD861B6-9728-4339-98C9-6BA8E39AF0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19275" y="1325883"/>
            <a:ext cx="5630313" cy="4885237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7221BBE-0A07-402A-9652-98CBFE677FF4}"/>
              </a:ext>
            </a:extLst>
          </p:cNvPr>
          <p:cNvSpPr txBox="1">
            <a:spLocks/>
          </p:cNvSpPr>
          <p:nvPr/>
        </p:nvSpPr>
        <p:spPr>
          <a:xfrm>
            <a:off x="162471" y="153375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/>
              <a:t>Campaign Phases</a:t>
            </a:r>
            <a:endParaRPr lang="en-AU"/>
          </a:p>
        </p:txBody>
      </p:sp>
      <p:sp>
        <p:nvSpPr>
          <p:cNvPr id="2" name="Flowchart: Card 1">
            <a:extLst>
              <a:ext uri="{FF2B5EF4-FFF2-40B4-BE49-F238E27FC236}">
                <a16:creationId xmlns:a16="http://schemas.microsoft.com/office/drawing/2014/main" id="{062F38BC-5121-4BED-9C93-3B0A6850F1DE}"/>
              </a:ext>
            </a:extLst>
          </p:cNvPr>
          <p:cNvSpPr/>
          <p:nvPr/>
        </p:nvSpPr>
        <p:spPr>
          <a:xfrm>
            <a:off x="4842360" y="3768500"/>
            <a:ext cx="2781946" cy="2409987"/>
          </a:xfrm>
          <a:prstGeom prst="flowChartPunchedCard">
            <a:avLst/>
          </a:prstGeom>
          <a:solidFill>
            <a:srgbClr val="5B9BD5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Flowchart: Card 5">
            <a:extLst>
              <a:ext uri="{FF2B5EF4-FFF2-40B4-BE49-F238E27FC236}">
                <a16:creationId xmlns:a16="http://schemas.microsoft.com/office/drawing/2014/main" id="{C1767A89-BABA-4D8E-A1A3-1C65F07817B6}"/>
              </a:ext>
            </a:extLst>
          </p:cNvPr>
          <p:cNvSpPr/>
          <p:nvPr/>
        </p:nvSpPr>
        <p:spPr>
          <a:xfrm rot="10800000">
            <a:off x="2029932" y="1337447"/>
            <a:ext cx="2781946" cy="2409987"/>
          </a:xfrm>
          <a:prstGeom prst="flowChartPunchedCard">
            <a:avLst/>
          </a:prstGeom>
          <a:solidFill>
            <a:srgbClr val="74D2E7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Flowchart: Card 6">
            <a:extLst>
              <a:ext uri="{FF2B5EF4-FFF2-40B4-BE49-F238E27FC236}">
                <a16:creationId xmlns:a16="http://schemas.microsoft.com/office/drawing/2014/main" id="{568F4A87-4B64-406C-93FA-504C8C96CF0C}"/>
              </a:ext>
            </a:extLst>
          </p:cNvPr>
          <p:cNvSpPr/>
          <p:nvPr/>
        </p:nvSpPr>
        <p:spPr>
          <a:xfrm flipV="1">
            <a:off x="4852176" y="1352293"/>
            <a:ext cx="2781946" cy="2409987"/>
          </a:xfrm>
          <a:prstGeom prst="flowChartPunchedCard">
            <a:avLst/>
          </a:prstGeom>
          <a:solidFill>
            <a:srgbClr val="CC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Flowchart: Card 8">
            <a:extLst>
              <a:ext uri="{FF2B5EF4-FFF2-40B4-BE49-F238E27FC236}">
                <a16:creationId xmlns:a16="http://schemas.microsoft.com/office/drawing/2014/main" id="{2C0350E2-7E2B-4BA3-87FA-C15FF09BCEA4}"/>
              </a:ext>
            </a:extLst>
          </p:cNvPr>
          <p:cNvSpPr/>
          <p:nvPr/>
        </p:nvSpPr>
        <p:spPr>
          <a:xfrm rot="10800000" flipV="1">
            <a:off x="2044753" y="3768501"/>
            <a:ext cx="2781946" cy="2409987"/>
          </a:xfrm>
          <a:prstGeom prst="flowChartPunchedCard">
            <a:avLst/>
          </a:prstGeom>
          <a:solidFill>
            <a:srgbClr val="00BB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CD8FF2-DFE5-468E-8A92-6EA7489AEB37}"/>
              </a:ext>
            </a:extLst>
          </p:cNvPr>
          <p:cNvSpPr txBox="1"/>
          <p:nvPr/>
        </p:nvSpPr>
        <p:spPr>
          <a:xfrm>
            <a:off x="2029931" y="1337175"/>
            <a:ext cx="26055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>
                <a:solidFill>
                  <a:schemeClr val="tx1"/>
                </a:solidFill>
              </a:rPr>
              <a:t>Part 1</a:t>
            </a:r>
          </a:p>
          <a:p>
            <a:r>
              <a:rPr lang="en-AU">
                <a:solidFill>
                  <a:schemeClr val="tx1"/>
                </a:solidFill>
              </a:rPr>
              <a:t>Topic: Email/SMS Security</a:t>
            </a:r>
          </a:p>
        </p:txBody>
      </p:sp>
      <p:pic>
        <p:nvPicPr>
          <p:cNvPr id="10" name="Picture 9" descr="A picture containing text, electronics, computer&#10;&#10;Description automatically generated">
            <a:extLst>
              <a:ext uri="{FF2B5EF4-FFF2-40B4-BE49-F238E27FC236}">
                <a16:creationId xmlns:a16="http://schemas.microsoft.com/office/drawing/2014/main" id="{9DD13D65-51B2-482D-8586-DDE7B97097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61" b="89844" l="8724" r="91797">
                        <a14:foregroundMark x1="10807" y1="76758" x2="8854" y2="79883"/>
                        <a14:foregroundMark x1="11589" y1="72266" x2="12500" y2="69336"/>
                        <a14:foregroundMark x1="89453" y1="77344" x2="91797" y2="794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2035131" y="1909194"/>
            <a:ext cx="2576560" cy="17177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C088C8-15FD-4C05-8FD2-8A434AFA29A4}"/>
              </a:ext>
            </a:extLst>
          </p:cNvPr>
          <p:cNvSpPr txBox="1"/>
          <p:nvPr/>
        </p:nvSpPr>
        <p:spPr>
          <a:xfrm>
            <a:off x="5154083" y="1337174"/>
            <a:ext cx="24800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AU">
                <a:solidFill>
                  <a:schemeClr val="tx1"/>
                </a:solidFill>
              </a:rPr>
              <a:t>Part 2</a:t>
            </a:r>
          </a:p>
          <a:p>
            <a:pPr algn="r"/>
            <a:r>
              <a:rPr lang="en-AU">
                <a:solidFill>
                  <a:schemeClr val="tx1"/>
                </a:solidFill>
              </a:rPr>
              <a:t>Topic: Removable Media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29EF28-AB82-4410-A792-5E4AFE39F2A1}"/>
              </a:ext>
            </a:extLst>
          </p:cNvPr>
          <p:cNvSpPr txBox="1"/>
          <p:nvPr/>
        </p:nvSpPr>
        <p:spPr>
          <a:xfrm>
            <a:off x="2029931" y="3793384"/>
            <a:ext cx="21630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>
                <a:solidFill>
                  <a:schemeClr val="tx1"/>
                </a:solidFill>
              </a:rPr>
              <a:t>Part 3</a:t>
            </a:r>
          </a:p>
          <a:p>
            <a:r>
              <a:rPr lang="en-AU">
                <a:solidFill>
                  <a:schemeClr val="tx1"/>
                </a:solidFill>
              </a:rPr>
              <a:t>Topic: Password and </a:t>
            </a:r>
          </a:p>
          <a:p>
            <a:r>
              <a:rPr lang="en-AU">
                <a:solidFill>
                  <a:schemeClr val="tx1"/>
                </a:solidFill>
              </a:rPr>
              <a:t>           Authentication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8EA2AF0-E297-4269-AF20-46526B085DAF}"/>
              </a:ext>
            </a:extLst>
          </p:cNvPr>
          <p:cNvSpPr txBox="1"/>
          <p:nvPr/>
        </p:nvSpPr>
        <p:spPr>
          <a:xfrm>
            <a:off x="5292080" y="3793383"/>
            <a:ext cx="23342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AU">
                <a:solidFill>
                  <a:schemeClr val="tx1"/>
                </a:solidFill>
              </a:rPr>
              <a:t>Part 4</a:t>
            </a:r>
          </a:p>
          <a:p>
            <a:pPr algn="r"/>
            <a:r>
              <a:rPr lang="en-AU">
                <a:solidFill>
                  <a:schemeClr val="tx1"/>
                </a:solidFill>
              </a:rPr>
              <a:t>Topic: Physical Security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04E5C904-3C93-48FB-8542-3843C27E927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9"/>
              </a:ext>
            </a:extLst>
          </a:blip>
          <a:stretch>
            <a:fillRect/>
          </a:stretch>
        </p:blipFill>
        <p:spPr>
          <a:xfrm>
            <a:off x="5471895" y="1956685"/>
            <a:ext cx="1600139" cy="1600139"/>
          </a:xfrm>
          <a:prstGeom prst="rect">
            <a:avLst/>
          </a:prstGeom>
        </p:spPr>
      </p:pic>
      <p:pic>
        <p:nvPicPr>
          <p:cNvPr id="32" name="Picture 31" descr="A crescent moon in a black sky&#10;&#10;Description automatically generated with low confidence">
            <a:extLst>
              <a:ext uri="{FF2B5EF4-FFF2-40B4-BE49-F238E27FC236}">
                <a16:creationId xmlns:a16="http://schemas.microsoft.com/office/drawing/2014/main" id="{93E8061C-AB61-4EF4-BBD0-ED763DD52AC9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1"/>
              </a:ext>
            </a:extLst>
          </a:blip>
          <a:stretch>
            <a:fillRect/>
          </a:stretch>
        </p:blipFill>
        <p:spPr>
          <a:xfrm>
            <a:off x="2736974" y="4762663"/>
            <a:ext cx="1172873" cy="1045323"/>
          </a:xfrm>
          <a:prstGeom prst="rect">
            <a:avLst/>
          </a:prstGeom>
        </p:spPr>
      </p:pic>
      <p:pic>
        <p:nvPicPr>
          <p:cNvPr id="33" name="Picture 32" descr="A picture containing text, indoor, table, computer&#10;&#10;Description automatically generated">
            <a:extLst>
              <a:ext uri="{FF2B5EF4-FFF2-40B4-BE49-F238E27FC236}">
                <a16:creationId xmlns:a16="http://schemas.microsoft.com/office/drawing/2014/main" id="{3744BE7E-FBCB-4980-A992-45FF6B2AD336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5292080" y="4509120"/>
            <a:ext cx="1959770" cy="1306513"/>
          </a:xfrm>
          <a:prstGeom prst="ellipse">
            <a:avLst/>
          </a:prstGeom>
        </p:spPr>
      </p:pic>
      <p:pic>
        <p:nvPicPr>
          <p:cNvPr id="8" name="Picture 7" descr="A rocket taking off&#10;&#10;Description automatically generated with medium confidence">
            <a:extLst>
              <a:ext uri="{FF2B5EF4-FFF2-40B4-BE49-F238E27FC236}">
                <a16:creationId xmlns:a16="http://schemas.microsoft.com/office/drawing/2014/main" id="{BB75A5D4-F1AD-451A-B863-4E7D349607F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15"/>
              </a:ext>
            </a:extLst>
          </a:blip>
          <a:stretch>
            <a:fillRect/>
          </a:stretch>
        </p:blipFill>
        <p:spPr>
          <a:xfrm>
            <a:off x="475285" y="2038536"/>
            <a:ext cx="1275587" cy="278092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B99103B-2C94-4E1C-B7EE-A5A78881C4C7}"/>
              </a:ext>
            </a:extLst>
          </p:cNvPr>
          <p:cNvSpPr txBox="1"/>
          <p:nvPr/>
        </p:nvSpPr>
        <p:spPr>
          <a:xfrm>
            <a:off x="614409" y="4793044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>
                <a:solidFill>
                  <a:schemeClr val="tx1"/>
                </a:solidFill>
              </a:rPr>
              <a:t>Launch</a:t>
            </a:r>
          </a:p>
        </p:txBody>
      </p:sp>
    </p:spTree>
    <p:extLst>
      <p:ext uri="{BB962C8B-B14F-4D97-AF65-F5344CB8AC3E}">
        <p14:creationId xmlns:p14="http://schemas.microsoft.com/office/powerpoint/2010/main" val="3740176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7D264-5503-483B-A74D-B37BC9941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772816"/>
            <a:ext cx="7886700" cy="4404147"/>
          </a:xfrm>
        </p:spPr>
        <p:txBody>
          <a:bodyPr/>
          <a:lstStyle/>
          <a:p>
            <a:r>
              <a:rPr lang="en-AU"/>
              <a:t>October 2022 – Plan approval by GM’s &amp; MD</a:t>
            </a:r>
          </a:p>
          <a:p>
            <a:r>
              <a:rPr lang="en-AU"/>
              <a:t>October 2022 – Campaign Launch &amp; initial awareness / Toolbox talks</a:t>
            </a:r>
          </a:p>
          <a:p>
            <a:r>
              <a:rPr lang="en-AU"/>
              <a:t>Nov-Dec 2022 – Part 1 – Email/SMS Security Simulations &amp; Training</a:t>
            </a:r>
          </a:p>
          <a:p>
            <a:r>
              <a:rPr lang="en-AU"/>
              <a:t>Jan-Feb 2023 – Part 2 – Removable Media</a:t>
            </a:r>
          </a:p>
          <a:p>
            <a:r>
              <a:rPr lang="en-AU"/>
              <a:t>Mar-Apr 2023 – Part 3 – Passwords and Authentication</a:t>
            </a:r>
          </a:p>
          <a:p>
            <a:r>
              <a:rPr lang="en-AU"/>
              <a:t>May-Jun 2023 – Part 4 –  Physical Security</a:t>
            </a:r>
          </a:p>
          <a:p>
            <a:endParaRPr lang="en-AU"/>
          </a:p>
          <a:p>
            <a:endParaRPr lang="en-AU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5398F6-CE71-45F9-869B-2525FC77DD64}"/>
              </a:ext>
            </a:extLst>
          </p:cNvPr>
          <p:cNvSpPr txBox="1">
            <a:spLocks/>
          </p:cNvSpPr>
          <p:nvPr/>
        </p:nvSpPr>
        <p:spPr>
          <a:xfrm>
            <a:off x="162471" y="153375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/>
              <a:t>Campaign Timeline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59398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7D264-5503-483B-A74D-B37BC9941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552" y="1484784"/>
            <a:ext cx="7886700" cy="4404147"/>
          </a:xfrm>
        </p:spPr>
        <p:txBody>
          <a:bodyPr/>
          <a:lstStyle/>
          <a:p>
            <a:r>
              <a:rPr lang="en-AU" sz="1600"/>
              <a:t>Initial</a:t>
            </a:r>
          </a:p>
          <a:p>
            <a:pPr lvl="1"/>
            <a:r>
              <a:rPr lang="en-AU" sz="1400"/>
              <a:t>Preparation</a:t>
            </a:r>
          </a:p>
          <a:p>
            <a:pPr lvl="2"/>
            <a:r>
              <a:rPr lang="en-AU" sz="1400"/>
              <a:t>Management awareness and support for campaign</a:t>
            </a:r>
          </a:p>
          <a:p>
            <a:pPr lvl="2"/>
            <a:r>
              <a:rPr lang="en-AU" sz="1400"/>
              <a:t>Toolbox Talk documents</a:t>
            </a:r>
          </a:p>
          <a:p>
            <a:pPr lvl="2"/>
            <a:r>
              <a:rPr lang="en-AU" sz="1400"/>
              <a:t>Toolbox talk sessions to be conducted</a:t>
            </a:r>
          </a:p>
          <a:p>
            <a:pPr lvl="2"/>
            <a:r>
              <a:rPr lang="en-AU" sz="1400"/>
              <a:t>Lunch and Learn awareness sessions</a:t>
            </a:r>
          </a:p>
          <a:p>
            <a:pPr lvl="1"/>
            <a:r>
              <a:rPr lang="en-AU" sz="1400"/>
              <a:t>Microsoft Defender </a:t>
            </a:r>
          </a:p>
          <a:p>
            <a:pPr lvl="2"/>
            <a:r>
              <a:rPr lang="en-AU" sz="1400"/>
              <a:t>Email Phishing simulations</a:t>
            </a:r>
          </a:p>
          <a:p>
            <a:pPr lvl="2"/>
            <a:r>
              <a:rPr lang="en-AU" sz="1400"/>
              <a:t>Email Ransomware simulations</a:t>
            </a:r>
          </a:p>
          <a:p>
            <a:pPr lvl="2"/>
            <a:r>
              <a:rPr lang="en-AU" sz="1400"/>
              <a:t>Microsoft training</a:t>
            </a:r>
          </a:p>
          <a:p>
            <a:pPr lvl="2"/>
            <a:r>
              <a:rPr lang="en-AU" sz="1400"/>
              <a:t>Results reporting</a:t>
            </a:r>
          </a:p>
          <a:p>
            <a:r>
              <a:rPr lang="en-AU" sz="1600"/>
              <a:t>Later</a:t>
            </a:r>
          </a:p>
          <a:p>
            <a:pPr lvl="1"/>
            <a:r>
              <a:rPr lang="en-AU" sz="1400"/>
              <a:t>USB &amp; Physical security </a:t>
            </a:r>
          </a:p>
          <a:p>
            <a:pPr lvl="2"/>
            <a:r>
              <a:rPr lang="en-AU" sz="1400"/>
              <a:t>Education and exercises </a:t>
            </a:r>
          </a:p>
          <a:p>
            <a:pPr lvl="1"/>
            <a:r>
              <a:rPr lang="en-AU" sz="1400"/>
              <a:t>Management Training</a:t>
            </a:r>
          </a:p>
          <a:p>
            <a:pPr lvl="2"/>
            <a:r>
              <a:rPr lang="en-AU" sz="1400"/>
              <a:t>Situation simulations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5398F6-CE71-45F9-869B-2525FC77DD64}"/>
              </a:ext>
            </a:extLst>
          </p:cNvPr>
          <p:cNvSpPr txBox="1">
            <a:spLocks/>
          </p:cNvSpPr>
          <p:nvPr/>
        </p:nvSpPr>
        <p:spPr>
          <a:xfrm>
            <a:off x="162471" y="153375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/>
              <a:t>Key components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19666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Cyber Security Awareness</a:t>
            </a:r>
            <a:br>
              <a:rPr lang="en-US"/>
            </a:br>
            <a:r>
              <a:rPr lang="en-US"/>
              <a:t>Campaign Launch </a:t>
            </a:r>
            <a:endParaRPr lang="en-AU"/>
          </a:p>
        </p:txBody>
      </p:sp>
      <p:pic>
        <p:nvPicPr>
          <p:cNvPr id="6" name="Picture 5" descr="A rocket taking off&#10;&#10;Description automatically generated with medium confidence">
            <a:extLst>
              <a:ext uri="{FF2B5EF4-FFF2-40B4-BE49-F238E27FC236}">
                <a16:creationId xmlns:a16="http://schemas.microsoft.com/office/drawing/2014/main" id="{4312F513-7968-4E7C-A3E7-E15B6F7705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478548" y="2209128"/>
            <a:ext cx="1088104" cy="2986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79517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7D264-5503-483B-A74D-B37BC9941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340768"/>
            <a:ext cx="8746070" cy="4404147"/>
          </a:xfrm>
        </p:spPr>
        <p:txBody>
          <a:bodyPr/>
          <a:lstStyle/>
          <a:p>
            <a:r>
              <a:rPr lang="en-AU"/>
              <a:t>Oct 20 2022 – Toolbox Talk documents &amp; Training material published on intranet</a:t>
            </a:r>
          </a:p>
          <a:p>
            <a:pPr lvl="3"/>
            <a:r>
              <a:rPr lang="en-AU"/>
              <a:t>Mail message delivery to GM’s &amp; Branch Managers noting times for sessions below</a:t>
            </a:r>
          </a:p>
          <a:p>
            <a:r>
              <a:rPr lang="en-AU"/>
              <a:t>Oct 21 &amp; 24 2022 – Optional session for those delivering Toolbox Talks (ICT Hosted)</a:t>
            </a:r>
          </a:p>
          <a:p>
            <a:r>
              <a:rPr lang="en-AU"/>
              <a:t>Oct 21-30 2022 – Toolbox Talks conducted across the business</a:t>
            </a:r>
          </a:p>
          <a:p>
            <a:r>
              <a:rPr lang="en-AU"/>
              <a:t>Oct 28-30 2022 – Optional Lunch &amp; Learn sessions via Teams (ICT Hosted)</a:t>
            </a:r>
          </a:p>
          <a:p>
            <a:endParaRPr lang="en-AU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05398F6-CE71-45F9-869B-2525FC77DD64}"/>
              </a:ext>
            </a:extLst>
          </p:cNvPr>
          <p:cNvSpPr txBox="1">
            <a:spLocks/>
          </p:cNvSpPr>
          <p:nvPr/>
        </p:nvSpPr>
        <p:spPr>
          <a:xfrm>
            <a:off x="162471" y="153375"/>
            <a:ext cx="6858000" cy="1906566"/>
          </a:xfrm>
          <a:prstGeom prst="rect">
            <a:avLst/>
          </a:prstGeom>
        </p:spPr>
        <p:txBody>
          <a:bodyPr>
            <a:normAutofit/>
          </a:bodyPr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DINOT" pitchFamily="34" charset="0"/>
              </a:defRPr>
            </a:lvl9pPr>
          </a:lstStyle>
          <a:p>
            <a:pPr defTabSz="914400">
              <a:buClrTx/>
              <a:buSzTx/>
              <a:buFontTx/>
              <a:defRPr/>
            </a:pPr>
            <a:r>
              <a:rPr lang="en-AU" sz="3200" b="1"/>
              <a:t>Cyber Security Awareness</a:t>
            </a:r>
          </a:p>
          <a:p>
            <a:pPr defTabSz="914400">
              <a:buClrTx/>
              <a:buSzTx/>
              <a:buFontTx/>
              <a:defRPr/>
            </a:pPr>
            <a:r>
              <a:rPr lang="en-AU" sz="3200" b="1"/>
              <a:t>Campaign Launch</a:t>
            </a:r>
            <a:endParaRPr lang="en-AU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CB071F7-19B5-4BF8-B676-170619998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3289193"/>
            <a:ext cx="2232248" cy="311280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645991-23BB-488C-B599-27AFAA634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9989" y="3289193"/>
            <a:ext cx="2232248" cy="313857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59B473-818A-4650-80A5-4955E4911DE8}"/>
              </a:ext>
            </a:extLst>
          </p:cNvPr>
          <p:cNvSpPr txBox="1"/>
          <p:nvPr/>
        </p:nvSpPr>
        <p:spPr>
          <a:xfrm>
            <a:off x="2151689" y="6427767"/>
            <a:ext cx="48406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>
                <a:solidFill>
                  <a:schemeClr val="tx1"/>
                </a:solidFill>
              </a:rPr>
              <a:t>Note: Samples provided for review – We will publish on intranet</a:t>
            </a:r>
          </a:p>
        </p:txBody>
      </p:sp>
    </p:spTree>
    <p:extLst>
      <p:ext uri="{BB962C8B-B14F-4D97-AF65-F5344CB8AC3E}">
        <p14:creationId xmlns:p14="http://schemas.microsoft.com/office/powerpoint/2010/main" val="241829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Email/SMS Security Training</a:t>
            </a:r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9B61FA-5DEA-4B8C-A364-5D5DFBE79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4048" y="4509120"/>
            <a:ext cx="3360420" cy="187973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B2480C1-983B-4889-A0BC-C982D3E055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7888" y="260648"/>
            <a:ext cx="2656580" cy="2320106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9A5BC2D1-D297-438E-A8A8-4A1669E4BF07}"/>
              </a:ext>
            </a:extLst>
          </p:cNvPr>
          <p:cNvSpPr/>
          <p:nvPr/>
        </p:nvSpPr>
        <p:spPr>
          <a:xfrm>
            <a:off x="5707888" y="1420701"/>
            <a:ext cx="2656580" cy="1097823"/>
          </a:xfrm>
          <a:prstGeom prst="rect">
            <a:avLst/>
          </a:prstGeom>
          <a:solidFill>
            <a:schemeClr val="bg2">
              <a:alpha val="7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BEFD70-F31A-4F4E-8CF2-A790FFE79C38}"/>
              </a:ext>
            </a:extLst>
          </p:cNvPr>
          <p:cNvSpPr/>
          <p:nvPr/>
        </p:nvSpPr>
        <p:spPr>
          <a:xfrm>
            <a:off x="7036178" y="299077"/>
            <a:ext cx="1328290" cy="1097823"/>
          </a:xfrm>
          <a:prstGeom prst="rect">
            <a:avLst/>
          </a:prstGeom>
          <a:solidFill>
            <a:schemeClr val="bg2">
              <a:alpha val="7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>
                <a:latin typeface="+mj-lt"/>
              </a:rPr>
              <a:t>Microsoft Defender – Data available</a:t>
            </a:r>
            <a:endParaRPr lang="en-AU">
              <a:latin typeface="+mj-lt"/>
              <a:ea typeface="Roboto Condense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980728"/>
            <a:ext cx="7471742" cy="2808312"/>
          </a:xfrm>
        </p:spPr>
        <p:txBody>
          <a:bodyPr/>
          <a:lstStyle/>
          <a:p>
            <a:r>
              <a:rPr lang="en-AU" sz="1600"/>
              <a:t>Over the sample month, Microsoft Defender detected 183 email threats against G. James employees that made it through Network/end User defences</a:t>
            </a:r>
            <a:endParaRPr lang="en-AU" sz="1600">
              <a:ea typeface="Roboto Condensed Light"/>
              <a:cs typeface="Roboto Condensed Light"/>
            </a:endParaRPr>
          </a:p>
          <a:p>
            <a:r>
              <a:rPr lang="en-AU" sz="1600"/>
              <a:t>This is normal mass for Phishing attacks in business at the moment.</a:t>
            </a:r>
          </a:p>
          <a:p>
            <a:r>
              <a:rPr lang="en-AU" sz="1600"/>
              <a:t>Service Desk was alerted to this by employees.  We then had the email sender and URLs blocked, then deleted the emails on mass from the organisations mail boxes.</a:t>
            </a:r>
          </a:p>
          <a:p>
            <a:endParaRPr lang="en-AU" sz="1600"/>
          </a:p>
          <a:p>
            <a:pPr marL="0" indent="0">
              <a:buNone/>
            </a:pPr>
            <a:r>
              <a:rPr lang="en-AU" sz="1600">
                <a:ea typeface="+mn-lt"/>
                <a:cs typeface="+mn-lt"/>
              </a:rPr>
              <a:t>The below graph shows the volume and time frame of these attacks.</a:t>
            </a:r>
            <a:endParaRPr lang="en-AU" sz="1600">
              <a:ea typeface="Roboto Condensed Light"/>
              <a:cs typeface="Roboto Condensed Light"/>
            </a:endParaRPr>
          </a:p>
          <a:p>
            <a:pPr marL="0" indent="0">
              <a:buNone/>
            </a:pPr>
            <a:endParaRPr lang="en-AU" sz="1600"/>
          </a:p>
          <a:p>
            <a:pPr marL="0" indent="0">
              <a:buNone/>
            </a:pPr>
            <a:endParaRPr lang="en-AU"/>
          </a:p>
          <a:p>
            <a:endParaRPr lang="en-AU"/>
          </a:p>
          <a:p>
            <a:endParaRPr lang="en-AU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E6D1A0C-0ADE-4F10-9269-AEC31EABBD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730" y="3140968"/>
            <a:ext cx="8704540" cy="2522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85604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/>
              <a:t>Phishing Simulation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918" y="1052611"/>
            <a:ext cx="3951082" cy="2775967"/>
          </a:xfrm>
        </p:spPr>
        <p:txBody>
          <a:bodyPr/>
          <a:lstStyle/>
          <a:p>
            <a:pPr marL="0" indent="0">
              <a:buNone/>
            </a:pPr>
            <a:r>
              <a:rPr lang="en-AU" b="1"/>
              <a:t>First Month</a:t>
            </a:r>
          </a:p>
          <a:p>
            <a:pPr marL="0" indent="0">
              <a:buNone/>
            </a:pPr>
            <a:r>
              <a:rPr lang="en-AU" sz="1600">
                <a:ea typeface="Roboto Condensed Light"/>
                <a:cs typeface="Roboto Condensed Light"/>
              </a:rPr>
              <a:t>First month simulation will cover:</a:t>
            </a:r>
          </a:p>
          <a:p>
            <a:r>
              <a:rPr lang="en-AU" sz="1600"/>
              <a:t>What phishing is, and how to detect and react to it?</a:t>
            </a:r>
            <a:endParaRPr lang="en-AU"/>
          </a:p>
          <a:p>
            <a:r>
              <a:rPr lang="en-AU" sz="1600"/>
              <a:t>Why are phishing attacks targeting the business?</a:t>
            </a:r>
          </a:p>
          <a:p>
            <a:r>
              <a:rPr lang="en-AU" sz="1600"/>
              <a:t>What are the dangers of URLs’ (links) in Emails?</a:t>
            </a:r>
          </a:p>
          <a:p>
            <a:pPr marL="457200" lvl="1" indent="0">
              <a:buNone/>
            </a:pPr>
            <a:endParaRPr lang="en-AU" sz="1600"/>
          </a:p>
          <a:p>
            <a:endParaRPr lang="en-AU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AD9F871-7840-45CF-8899-D82D1C6D3998}"/>
              </a:ext>
            </a:extLst>
          </p:cNvPr>
          <p:cNvSpPr txBox="1">
            <a:spLocks/>
          </p:cNvSpPr>
          <p:nvPr/>
        </p:nvSpPr>
        <p:spPr bwMode="auto">
          <a:xfrm>
            <a:off x="628650" y="3900587"/>
            <a:ext cx="8246740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buClrTx/>
              <a:buSzTx/>
              <a:buNone/>
            </a:pPr>
            <a:r>
              <a:rPr lang="en-AU" b="1"/>
              <a:t>Note:</a:t>
            </a:r>
            <a:endParaRPr lang="en-AU" b="1">
              <a:ea typeface="Roboto Condensed Light"/>
              <a:cs typeface="Roboto Condensed Light"/>
            </a:endParaRPr>
          </a:p>
          <a:p>
            <a:pPr lvl="1" defTabSz="914400"/>
            <a:r>
              <a:rPr lang="en-AU" b="1">
                <a:ea typeface="+mn-lt"/>
                <a:cs typeface="+mn-lt"/>
              </a:rPr>
              <a:t>Training via Toolbox talks will be provided to the employees before the simulation</a:t>
            </a:r>
            <a:r>
              <a:rPr lang="en-AU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lvl="1" defTabSz="914400">
              <a:buClrTx/>
              <a:buSzTx/>
            </a:pPr>
            <a:r>
              <a:rPr lang="en-AU">
                <a:ea typeface="+mn-lt"/>
                <a:cs typeface="+mn-lt"/>
              </a:rPr>
              <a:t>Simulations will be sent to all computer employees.</a:t>
            </a:r>
            <a:endParaRPr lang="en-AU"/>
          </a:p>
          <a:p>
            <a:pPr lvl="1" defTabSz="914400">
              <a:buClrTx/>
              <a:buSzTx/>
            </a:pPr>
            <a:r>
              <a:rPr lang="en-AU"/>
              <a:t>No credentials gathered by the simulations are kept but summarised data reported.</a:t>
            </a:r>
            <a:endParaRPr lang="en-AU">
              <a:ea typeface="Roboto Condensed Light"/>
              <a:cs typeface="Roboto Condensed Light"/>
            </a:endParaRPr>
          </a:p>
          <a:p>
            <a:pPr lvl="1" defTabSz="914400">
              <a:buClrTx/>
              <a:buSzTx/>
            </a:pPr>
            <a:endParaRPr lang="en-AU"/>
          </a:p>
          <a:p>
            <a:pPr marL="0" indent="0" defTabSz="914400">
              <a:buClrTx/>
              <a:buSzTx/>
              <a:buNone/>
            </a:pPr>
            <a:endParaRPr lang="en-AU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36DA5BB-80C8-8BEE-EE80-62248775AE81}"/>
              </a:ext>
            </a:extLst>
          </p:cNvPr>
          <p:cNvSpPr txBox="1">
            <a:spLocks/>
          </p:cNvSpPr>
          <p:nvPr/>
        </p:nvSpPr>
        <p:spPr bwMode="auto">
          <a:xfrm>
            <a:off x="4499992" y="980603"/>
            <a:ext cx="4375398" cy="2775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buClrTx/>
              <a:buSzTx/>
              <a:buNone/>
            </a:pPr>
            <a:r>
              <a:rPr lang="en-AU" b="1"/>
              <a:t>Training</a:t>
            </a:r>
            <a:endParaRPr lang="en-AU" sz="1600" b="1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600"/>
              <a:t>Microsoft provides feedback at the end of the simulation, highlighting the elements of the email that should raise suspicion.</a:t>
            </a:r>
          </a:p>
          <a:p>
            <a:pPr defTabSz="914400">
              <a:buClrTx/>
              <a:buSzTx/>
            </a:pPr>
            <a:r>
              <a:rPr lang="en-AU" sz="1600"/>
              <a:t>Microsoft then assigns the user training. This is sent as an email to their inbox.</a:t>
            </a:r>
          </a:p>
          <a:p>
            <a:pPr defTabSz="914400">
              <a:buClrTx/>
              <a:buSzTx/>
            </a:pPr>
            <a:r>
              <a:rPr lang="en-AU" sz="1600"/>
              <a:t>The training provided by Microsoft is a concise interactive tutorial and is tailored to the simulation that they have undertaken.</a:t>
            </a:r>
          </a:p>
          <a:p>
            <a:pPr defTabSz="914400">
              <a:buClrTx/>
              <a:buSzTx/>
            </a:pPr>
            <a:endParaRPr lang="en-AU" sz="1600"/>
          </a:p>
        </p:txBody>
      </p:sp>
    </p:spTree>
    <p:extLst>
      <p:ext uri="{BB962C8B-B14F-4D97-AF65-F5344CB8AC3E}">
        <p14:creationId xmlns:p14="http://schemas.microsoft.com/office/powerpoint/2010/main" val="3065177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75AF1-D05B-4283-A256-C1D4A75B7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/>
              <a:t>Credential Harvest Simulations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2A0F2-9C53-4B4C-9047-008D5D9FF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00" y="943104"/>
            <a:ext cx="3871342" cy="3277983"/>
          </a:xfrm>
        </p:spPr>
        <p:txBody>
          <a:bodyPr/>
          <a:lstStyle/>
          <a:p>
            <a:pPr marL="0" indent="0" algn="ctr">
              <a:buNone/>
            </a:pPr>
            <a:r>
              <a:rPr lang="en-AU" sz="1600" b="1"/>
              <a:t>Planned simulations Adobe &amp; Netflix:</a:t>
            </a:r>
            <a:endParaRPr lang="en-AU" sz="1600" b="1">
              <a:ea typeface="Roboto Condensed Light"/>
              <a:cs typeface="Roboto Condensed Light"/>
            </a:endParaRPr>
          </a:p>
          <a:p>
            <a:pPr marL="0" indent="0">
              <a:buNone/>
            </a:pPr>
            <a:r>
              <a:rPr lang="en-AU" sz="1600">
                <a:ea typeface="Roboto Condensed Light"/>
                <a:cs typeface="Roboto Condensed Light"/>
              </a:rPr>
              <a:t>Things to look out for:</a:t>
            </a:r>
          </a:p>
          <a:p>
            <a:r>
              <a:rPr lang="en-AU" sz="1400"/>
              <a:t>Is the email received, warranted or inappropriate?</a:t>
            </a:r>
            <a:endParaRPr lang="en-AU" sz="1400">
              <a:ea typeface="Roboto Condensed Light"/>
              <a:cs typeface="Roboto Condensed Light"/>
            </a:endParaRPr>
          </a:p>
          <a:p>
            <a:r>
              <a:rPr lang="en-AU" sz="1400"/>
              <a:t>Are there inconsistencies regarding spelling, logos, URLs’ and email addresses?</a:t>
            </a:r>
            <a:endParaRPr lang="en-AU" sz="1400">
              <a:ea typeface="Roboto Condensed Light"/>
              <a:cs typeface="Roboto Condensed Light"/>
            </a:endParaRPr>
          </a:p>
          <a:p>
            <a:r>
              <a:rPr lang="en-AU" sz="1400"/>
              <a:t>Is there an implied sense of urgency portrayed in the email?</a:t>
            </a:r>
            <a:endParaRPr lang="en-AU" sz="1400">
              <a:ea typeface="Roboto Condensed Light"/>
              <a:cs typeface="Roboto Condensed Light"/>
            </a:endParaRPr>
          </a:p>
          <a:p>
            <a:r>
              <a:rPr lang="en-AU" sz="1400"/>
              <a:t>Does the URL or email address make sense and is that the address it will link to?</a:t>
            </a:r>
            <a:endParaRPr lang="en-AU" sz="1400">
              <a:ea typeface="Roboto Condensed Light"/>
              <a:cs typeface="Roboto Condensed Light"/>
            </a:endParaRPr>
          </a:p>
          <a:p>
            <a:pPr marL="0" indent="0">
              <a:buNone/>
            </a:pPr>
            <a:endParaRPr lang="en-AU" sz="1600"/>
          </a:p>
          <a:p>
            <a:endParaRPr lang="en-AU" sz="16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E3FADE-8BDA-4287-A55B-FDB5DF887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8506" y="366757"/>
            <a:ext cx="428819" cy="423177"/>
          </a:xfrm>
          <a:prstGeom prst="rect">
            <a:avLst/>
          </a:prstGeom>
          <a:effectLst>
            <a:softEdge rad="1270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0A078B-9B70-4877-81A0-15DE318934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0413" y="363714"/>
            <a:ext cx="428819" cy="41565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9994491-6AC3-451F-A508-31DE0350372E}"/>
              </a:ext>
            </a:extLst>
          </p:cNvPr>
          <p:cNvSpPr/>
          <p:nvPr/>
        </p:nvSpPr>
        <p:spPr>
          <a:xfrm>
            <a:off x="188699" y="5035615"/>
            <a:ext cx="1800200" cy="5040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U" sz="1100">
                <a:solidFill>
                  <a:schemeClr val="tx1"/>
                </a:solidFill>
              </a:rPr>
              <a:t>Provide training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CE97A6D-CF1F-44DC-BCBA-D68AE6F14879}"/>
              </a:ext>
            </a:extLst>
          </p:cNvPr>
          <p:cNvSpPr/>
          <p:nvPr/>
        </p:nvSpPr>
        <p:spPr>
          <a:xfrm>
            <a:off x="2454677" y="5035690"/>
            <a:ext cx="1800225" cy="5032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U" sz="1100">
                <a:solidFill>
                  <a:schemeClr val="tx1"/>
                </a:solidFill>
              </a:rPr>
              <a:t>Send first Phishing email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CF41D9-E981-486F-B61D-CCCD48CB5B04}"/>
              </a:ext>
            </a:extLst>
          </p:cNvPr>
          <p:cNvSpPr/>
          <p:nvPr/>
        </p:nvSpPr>
        <p:spPr>
          <a:xfrm>
            <a:off x="4720039" y="5035690"/>
            <a:ext cx="1800225" cy="5032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U" sz="1100">
                <a:solidFill>
                  <a:schemeClr val="tx1"/>
                </a:solidFill>
              </a:rPr>
              <a:t>Send second Phishing email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40E896-3979-404F-9805-0B2BF3CF4ED8}"/>
              </a:ext>
            </a:extLst>
          </p:cNvPr>
          <p:cNvSpPr/>
          <p:nvPr/>
        </p:nvSpPr>
        <p:spPr>
          <a:xfrm>
            <a:off x="6985402" y="5035690"/>
            <a:ext cx="1800225" cy="5032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U" sz="1100">
                <a:solidFill>
                  <a:schemeClr val="tx1"/>
                </a:solidFill>
              </a:rPr>
              <a:t>Review results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3C264E4-603C-46DA-B0AD-49DA18B96D2F}"/>
              </a:ext>
            </a:extLst>
          </p:cNvPr>
          <p:cNvSpPr/>
          <p:nvPr/>
        </p:nvSpPr>
        <p:spPr>
          <a:xfrm>
            <a:off x="2069422" y="5219239"/>
            <a:ext cx="322094" cy="13843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5743933-5A7A-4C82-8014-FBBE6728D0B1}"/>
              </a:ext>
            </a:extLst>
          </p:cNvPr>
          <p:cNvSpPr/>
          <p:nvPr/>
        </p:nvSpPr>
        <p:spPr>
          <a:xfrm>
            <a:off x="4327643" y="5219240"/>
            <a:ext cx="322094" cy="13843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50055C4A-D13C-4056-BD10-092430B1C213}"/>
              </a:ext>
            </a:extLst>
          </p:cNvPr>
          <p:cNvSpPr/>
          <p:nvPr/>
        </p:nvSpPr>
        <p:spPr>
          <a:xfrm>
            <a:off x="6602610" y="5215351"/>
            <a:ext cx="322094" cy="13843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04C46337-4239-4616-927D-022E4784226F}"/>
              </a:ext>
            </a:extLst>
          </p:cNvPr>
          <p:cNvSpPr txBox="1">
            <a:spLocks/>
          </p:cNvSpPr>
          <p:nvPr/>
        </p:nvSpPr>
        <p:spPr bwMode="auto">
          <a:xfrm>
            <a:off x="626219" y="943105"/>
            <a:ext cx="3943802" cy="3166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buClrTx/>
              <a:buSzTx/>
              <a:buFont typeface="Arial" charset="0"/>
              <a:buNone/>
            </a:pPr>
            <a:r>
              <a:rPr lang="en-AU" sz="1600" b="1"/>
              <a:t>Process:</a:t>
            </a:r>
            <a:endParaRPr lang="en-AU" sz="1600" b="1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200"/>
              <a:t>Training is provided to employees via Toolbox Talks.</a:t>
            </a:r>
            <a:endParaRPr lang="en-AU" sz="1200">
              <a:highlight>
                <a:srgbClr val="FFFF00"/>
              </a:highlight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200"/>
              <a:t>Email is sent informing employees of the simulation.</a:t>
            </a:r>
            <a:endParaRPr lang="en-AU" sz="120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200"/>
              <a:t>Simulated phishing emails are sent out to employees.</a:t>
            </a:r>
            <a:endParaRPr lang="en-AU" sz="120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200"/>
              <a:t>Recipients interacts with the email (or does not).</a:t>
            </a:r>
            <a:endParaRPr lang="en-AU" sz="120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200"/>
              <a:t>Users are provided immediate tailored feedback, from the simulation. </a:t>
            </a: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200"/>
              <a:t>Users are assigned training from Microsoft specifically on Phishing awareness.</a:t>
            </a:r>
            <a:endParaRPr lang="en-AU" sz="1200">
              <a:ea typeface="Roboto Condensed Light"/>
              <a:cs typeface="Roboto Condensed Ligh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07F669-2075-3F07-E4EB-E770AD8EF8E7}"/>
              </a:ext>
            </a:extLst>
          </p:cNvPr>
          <p:cNvSpPr txBox="1"/>
          <p:nvPr/>
        </p:nvSpPr>
        <p:spPr>
          <a:xfrm>
            <a:off x="636395" y="4731098"/>
            <a:ext cx="9011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Week 1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F9F7329-B06F-3FB7-FD9F-9AEA1B8E1F6D}"/>
              </a:ext>
            </a:extLst>
          </p:cNvPr>
          <p:cNvSpPr txBox="1"/>
          <p:nvPr/>
        </p:nvSpPr>
        <p:spPr>
          <a:xfrm>
            <a:off x="2905647" y="4731097"/>
            <a:ext cx="9011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Week 2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76F32B-DC74-BF3C-34E8-5D6B2431266E}"/>
              </a:ext>
            </a:extLst>
          </p:cNvPr>
          <p:cNvSpPr txBox="1"/>
          <p:nvPr/>
        </p:nvSpPr>
        <p:spPr>
          <a:xfrm>
            <a:off x="5166525" y="4731096"/>
            <a:ext cx="9011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Week 3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0346A0-07C3-C687-9206-E7DAB09B1A4B}"/>
              </a:ext>
            </a:extLst>
          </p:cNvPr>
          <p:cNvSpPr txBox="1"/>
          <p:nvPr/>
        </p:nvSpPr>
        <p:spPr>
          <a:xfrm>
            <a:off x="7435777" y="4731095"/>
            <a:ext cx="9011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Week 4</a:t>
            </a:r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8006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1DB63-4880-45EE-A96E-24E426039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/>
              <a:t>Key Take Aways for First Month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837D7-EA76-4DCE-A319-CA73C9382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455" y="980728"/>
            <a:ext cx="7886700" cy="3742648"/>
          </a:xfrm>
        </p:spPr>
        <p:txBody>
          <a:bodyPr/>
          <a:lstStyle/>
          <a:p>
            <a:r>
              <a:rPr lang="en-AU" sz="1600"/>
              <a:t>Employees should learn to scrutinise URLs and email addresses. </a:t>
            </a:r>
            <a:endParaRPr lang="en-AU" sz="1600">
              <a:ea typeface="Roboto Condensed Light"/>
              <a:cs typeface="Roboto Condensed Light"/>
            </a:endParaRPr>
          </a:p>
          <a:p>
            <a:r>
              <a:rPr lang="en-AU" sz="1600"/>
              <a:t>Email links within emails should be avoided whenever possible.</a:t>
            </a:r>
            <a:endParaRPr lang="en-AU" sz="1600">
              <a:ea typeface="Roboto Condensed Light"/>
              <a:cs typeface="Roboto Condensed Light"/>
            </a:endParaRPr>
          </a:p>
          <a:p>
            <a:r>
              <a:rPr lang="en-AU" sz="1600"/>
              <a:t>Inconsistencies in spelling, logos and addresses give away that the email may be a scam.</a:t>
            </a:r>
            <a:endParaRPr lang="en-AU" sz="1600">
              <a:ea typeface="Roboto Condensed Light"/>
              <a:cs typeface="Roboto Condensed Light"/>
            </a:endParaRPr>
          </a:p>
          <a:p>
            <a:r>
              <a:rPr lang="en-AU" sz="1600"/>
              <a:t>Why is this person talking to me? Unsolicited emails or emails that are sent to incorrect email accounts are indicators of Phishing attacks.</a:t>
            </a:r>
            <a:endParaRPr lang="en-AU" sz="1600">
              <a:ea typeface="Roboto Condensed Light"/>
              <a:cs typeface="Roboto Condensed Light"/>
            </a:endParaRPr>
          </a:p>
          <a:p>
            <a:r>
              <a:rPr lang="en-AU" sz="1600"/>
              <a:t>What’s the rush? Implied urgency is a technique used to panic the user into doing something they should not.</a:t>
            </a:r>
            <a:endParaRPr lang="en-AU" sz="1600">
              <a:ea typeface="Roboto Condensed Light"/>
              <a:cs typeface="Roboto Condensed Light"/>
            </a:endParaRPr>
          </a:p>
          <a:p>
            <a:r>
              <a:rPr lang="en-AU" sz="1600"/>
              <a:t>Employees should delete Phishing emails or inform </a:t>
            </a:r>
            <a:r>
              <a:rPr lang="en-AU" sz="1600" err="1"/>
              <a:t>G.James</a:t>
            </a:r>
            <a:r>
              <a:rPr lang="en-AU" sz="1600"/>
              <a:t> Service Desk of the email so that they can check the email and block any URLs and clean up emails sent out, if required.</a:t>
            </a:r>
            <a:endParaRPr lang="en-AU" sz="1600">
              <a:ea typeface="Roboto Condensed Light"/>
              <a:cs typeface="Roboto Condensed Light"/>
            </a:endParaRPr>
          </a:p>
          <a:p>
            <a:endParaRPr lang="en-AU">
              <a:ea typeface="Roboto Condensed Light"/>
              <a:cs typeface="Roboto Condensed Light"/>
            </a:endParaRPr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50F94588-C705-B491-BF78-59809F3C35DA}"/>
              </a:ext>
            </a:extLst>
          </p:cNvPr>
          <p:cNvSpPr txBox="1"/>
          <p:nvPr/>
        </p:nvSpPr>
        <p:spPr>
          <a:xfrm>
            <a:off x="627845" y="4144117"/>
            <a:ext cx="7886700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GB"/>
            </a:defPPr>
            <a:lvl1pPr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1pPr>
            <a:lvl2pPr marL="742950" indent="-28575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2pPr>
            <a:lvl3pPr marL="11430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3pPr>
            <a:lvl4pPr marL="16002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4pPr>
            <a:lvl5pPr marL="20574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9pPr>
          </a:lstStyle>
          <a:p>
            <a:pPr algn="ctr"/>
            <a:r>
              <a:rPr lang="en-AU" sz="2400" b="1">
                <a:solidFill>
                  <a:schemeClr val="tx1"/>
                </a:solidFill>
                <a:latin typeface="Roboto Condensed"/>
                <a:ea typeface="+mj-ea"/>
                <a:cs typeface="Arial"/>
              </a:rPr>
              <a:t>First Month Lessons</a:t>
            </a:r>
            <a:r>
              <a:rPr kumimoji="0" lang="en-AU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"/>
                <a:ea typeface="+mj-ea"/>
                <a:cs typeface="Arial"/>
              </a:rPr>
              <a:t> learnt  - by campaign organisers</a:t>
            </a:r>
          </a:p>
          <a:p>
            <a:pPr algn="ctr"/>
            <a:endParaRPr lang="en-AU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Condensed"/>
              <a:ea typeface="Roboto Condensed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1600">
                <a:solidFill>
                  <a:schemeClr val="tx1"/>
                </a:solidFill>
                <a:latin typeface="Roboto Condensed Light"/>
                <a:ea typeface="+mn-ea"/>
                <a:cs typeface="+mn-cs"/>
              </a:rPr>
              <a:t>Creating and running simulations.</a:t>
            </a:r>
            <a:endParaRPr lang="en-AU" sz="1600">
              <a:solidFill>
                <a:schemeClr val="tx1"/>
              </a:solidFill>
              <a:latin typeface="Roboto Condensed Light"/>
              <a:ea typeface="Roboto Condensed Light"/>
              <a:cs typeface="Roboto Condensed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n-AU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Collecting analytics from simulations.</a:t>
            </a:r>
            <a:endParaRPr lang="en-AU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Condensed Light"/>
              <a:ea typeface="Roboto Condensed Light"/>
              <a:cs typeface="Roboto Condensed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n-AU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Recipients’ reaction to simulations was ??</a:t>
            </a:r>
            <a:endParaRPr lang="en-AU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Condensed Light"/>
              <a:ea typeface="Roboto Condensed Light"/>
              <a:cs typeface="Roboto Condensed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1600">
                <a:solidFill>
                  <a:schemeClr val="tx1"/>
                </a:solidFill>
                <a:latin typeface="Roboto Condensed Light"/>
                <a:ea typeface="+mn-ea"/>
                <a:cs typeface="+mn-cs"/>
              </a:rPr>
              <a:t>Variations we could</a:t>
            </a:r>
            <a:r>
              <a:rPr lang="en-AU" sz="1600">
                <a:latin typeface="Roboto Condensed Light"/>
                <a:ea typeface="+mn-ea"/>
                <a:cs typeface="+mn-cs"/>
              </a:rPr>
              <a:t> </a:t>
            </a:r>
            <a:r>
              <a:rPr lang="en-AU" sz="1600">
                <a:solidFill>
                  <a:schemeClr val="tx1"/>
                </a:solidFill>
                <a:latin typeface="Roboto Condensed Light"/>
                <a:ea typeface="+mn-ea"/>
                <a:cs typeface="+mn-cs"/>
              </a:rPr>
              <a:t>deploy in future simulations. </a:t>
            </a:r>
            <a:endParaRPr lang="en-AU">
              <a:solidFill>
                <a:schemeClr val="tx1"/>
              </a:solidFill>
              <a:latin typeface="Roboto Condensed Light"/>
              <a:ea typeface="Roboto Condensed Light"/>
              <a:cs typeface="Roboto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3169463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>
                <a:latin typeface="+mj-lt"/>
              </a:rPr>
              <a:t>Sample Report - Summary of </a:t>
            </a:r>
            <a:r>
              <a:rPr lang="en-AU"/>
              <a:t>First Month</a:t>
            </a:r>
            <a:endParaRPr lang="en-AU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662" y="986715"/>
            <a:ext cx="3943350" cy="2952327"/>
          </a:xfrm>
        </p:spPr>
        <p:txBody>
          <a:bodyPr/>
          <a:lstStyle/>
          <a:p>
            <a:pPr marL="0" indent="0" algn="ctr">
              <a:buNone/>
            </a:pPr>
            <a:r>
              <a:rPr lang="en-AU" b="1"/>
              <a:t>Incidents</a:t>
            </a:r>
          </a:p>
          <a:p>
            <a:r>
              <a:rPr lang="en-AU" sz="1400"/>
              <a:t>Over the first month Microsoft Defender detected </a:t>
            </a:r>
            <a:r>
              <a:rPr lang="en-AU" sz="1400">
                <a:solidFill>
                  <a:srgbClr val="FF0000"/>
                </a:solidFill>
              </a:rPr>
              <a:t>XXX</a:t>
            </a:r>
            <a:r>
              <a:rPr lang="en-AU" sz="1400"/>
              <a:t> email threats against G.James employees.</a:t>
            </a:r>
            <a:endParaRPr lang="en-AU" sz="1400">
              <a:ea typeface="Roboto Condensed Light"/>
              <a:cs typeface="Roboto Condensed Light"/>
            </a:endParaRPr>
          </a:p>
          <a:p>
            <a:r>
              <a:rPr lang="en-AU" sz="1400"/>
              <a:t>Service Desk received </a:t>
            </a:r>
            <a:r>
              <a:rPr lang="en-AU" sz="1400">
                <a:solidFill>
                  <a:srgbClr val="FF0000"/>
                </a:solidFill>
              </a:rPr>
              <a:t>xxx</a:t>
            </a:r>
            <a:r>
              <a:rPr lang="en-AU" sz="1400"/>
              <a:t> calls regarding these emails.</a:t>
            </a:r>
            <a:endParaRPr lang="en-AU" sz="1400">
              <a:ea typeface="Roboto Condensed Light"/>
              <a:cs typeface="Roboto Condensed Light"/>
            </a:endParaRPr>
          </a:p>
          <a:p>
            <a:r>
              <a:rPr lang="en-AU" sz="1400"/>
              <a:t>Service Desk dealt with </a:t>
            </a:r>
            <a:r>
              <a:rPr lang="en-AU" sz="1400">
                <a:solidFill>
                  <a:srgbClr val="FF0000"/>
                </a:solidFill>
              </a:rPr>
              <a:t>XXX</a:t>
            </a:r>
            <a:r>
              <a:rPr lang="en-AU" sz="1400"/>
              <a:t> malicious emails.</a:t>
            </a:r>
            <a:endParaRPr lang="en-AU" sz="1400">
              <a:solidFill>
                <a:srgbClr val="FF0000"/>
              </a:solidFill>
            </a:endParaRPr>
          </a:p>
          <a:p>
            <a:endParaRPr lang="en-AU"/>
          </a:p>
          <a:p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33686E-DED5-79ED-3198-13065191F8E6}"/>
              </a:ext>
            </a:extLst>
          </p:cNvPr>
          <p:cNvSpPr txBox="1"/>
          <p:nvPr/>
        </p:nvSpPr>
        <p:spPr>
          <a:xfrm>
            <a:off x="412626" y="4005064"/>
            <a:ext cx="7759774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AU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The following graph depicts Email threats detected by Microsoft for the first month.</a:t>
            </a:r>
          </a:p>
          <a:p>
            <a:endParaRPr lang="en-AU">
              <a:solidFill>
                <a:schemeClr val="tx1"/>
              </a:solidFill>
            </a:endParaRPr>
          </a:p>
          <a:p>
            <a:endParaRPr lang="en-AU">
              <a:solidFill>
                <a:schemeClr val="tx1"/>
              </a:solidFill>
            </a:endParaRPr>
          </a:p>
          <a:p>
            <a:endParaRPr lang="en-AU">
              <a:solidFill>
                <a:schemeClr val="tx1"/>
              </a:solidFill>
            </a:endParaRPr>
          </a:p>
          <a:p>
            <a:endParaRPr lang="en-AU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986D14-B93E-998B-DD9B-FC929A305EF6}"/>
              </a:ext>
            </a:extLst>
          </p:cNvPr>
          <p:cNvSpPr/>
          <p:nvPr/>
        </p:nvSpPr>
        <p:spPr>
          <a:xfrm>
            <a:off x="539552" y="4869160"/>
            <a:ext cx="7560840" cy="1224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/>
              <a:t>Graph goes 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01614A1-BB3D-054B-E815-E9BF1D49A26D}"/>
              </a:ext>
            </a:extLst>
          </p:cNvPr>
          <p:cNvSpPr txBox="1">
            <a:spLocks/>
          </p:cNvSpPr>
          <p:nvPr/>
        </p:nvSpPr>
        <p:spPr bwMode="auto">
          <a:xfrm>
            <a:off x="4482902" y="836712"/>
            <a:ext cx="3943350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buClrTx/>
              <a:buSzTx/>
              <a:buFont typeface="Arial" charset="0"/>
              <a:buNone/>
            </a:pPr>
            <a:r>
              <a:rPr lang="en-AU" b="1"/>
              <a:t>Training</a:t>
            </a:r>
          </a:p>
          <a:p>
            <a:pPr defTabSz="914400">
              <a:buClrTx/>
              <a:buSzTx/>
            </a:pPr>
            <a:r>
              <a:rPr lang="en-AU" sz="1400"/>
              <a:t>Over the first month Service Desk has sent two simulations to employees.</a:t>
            </a:r>
            <a:endParaRPr lang="en-AU" sz="140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err="1">
                <a:solidFill>
                  <a:srgbClr val="FF0000"/>
                </a:solidFill>
              </a:rPr>
              <a:t>Xxx</a:t>
            </a:r>
            <a:r>
              <a:rPr lang="en-AU" sz="1400">
                <a:solidFill>
                  <a:srgbClr val="FF0000"/>
                </a:solidFill>
              </a:rPr>
              <a:t> </a:t>
            </a:r>
            <a:r>
              <a:rPr lang="en-AU" sz="1400"/>
              <a:t>Employees received these emails.</a:t>
            </a:r>
            <a:endParaRPr lang="en-AU" sz="140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err="1">
                <a:solidFill>
                  <a:srgbClr val="FF0000"/>
                </a:solidFill>
              </a:rPr>
              <a:t>Xxx</a:t>
            </a:r>
            <a:r>
              <a:rPr lang="en-AU" sz="1400">
                <a:solidFill>
                  <a:srgbClr val="FF0000"/>
                </a:solidFill>
              </a:rPr>
              <a:t> </a:t>
            </a:r>
            <a:r>
              <a:rPr lang="en-AU" sz="1400"/>
              <a:t>Employees received training from these emails.</a:t>
            </a:r>
            <a:endParaRPr lang="en-AU" sz="140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err="1">
                <a:solidFill>
                  <a:srgbClr val="FF0000"/>
                </a:solidFill>
              </a:rPr>
              <a:t>Xxx</a:t>
            </a:r>
            <a:r>
              <a:rPr lang="en-AU" sz="1400">
                <a:solidFill>
                  <a:srgbClr val="FF0000"/>
                </a:solidFill>
              </a:rPr>
              <a:t> </a:t>
            </a:r>
            <a:r>
              <a:rPr lang="en-AU" sz="1400"/>
              <a:t>Employees reported these emails to the service desk.</a:t>
            </a:r>
            <a:endParaRPr lang="en-AU" sz="140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err="1">
                <a:solidFill>
                  <a:srgbClr val="FF0000"/>
                </a:solidFill>
              </a:rPr>
              <a:t>Xxx</a:t>
            </a:r>
            <a:r>
              <a:rPr lang="en-AU" sz="1400">
                <a:solidFill>
                  <a:srgbClr val="FF0000"/>
                </a:solidFill>
              </a:rPr>
              <a:t> </a:t>
            </a:r>
            <a:r>
              <a:rPr lang="en-AU" sz="1400"/>
              <a:t>Users who have been caught multiple times.</a:t>
            </a:r>
            <a:endParaRPr lang="en-AU" sz="140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err="1">
                <a:solidFill>
                  <a:srgbClr val="FF0000"/>
                </a:solidFill>
              </a:rPr>
              <a:t>Xxx</a:t>
            </a:r>
            <a:r>
              <a:rPr lang="en-AU" sz="1400">
                <a:solidFill>
                  <a:srgbClr val="FF0000"/>
                </a:solidFill>
              </a:rPr>
              <a:t> </a:t>
            </a:r>
            <a:r>
              <a:rPr lang="en-AU" sz="1400"/>
              <a:t>Users have outstanding training.</a:t>
            </a:r>
            <a:endParaRPr lang="en-AU" sz="1400">
              <a:ea typeface="Roboto Condensed Light"/>
              <a:cs typeface="Roboto Condensed Ligh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5BE342-C189-4593-8E55-E6372535E836}"/>
              </a:ext>
            </a:extLst>
          </p:cNvPr>
          <p:cNvSpPr txBox="1"/>
          <p:nvPr/>
        </p:nvSpPr>
        <p:spPr>
          <a:xfrm>
            <a:off x="2576110" y="6254154"/>
            <a:ext cx="30367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>
                <a:solidFill>
                  <a:schemeClr val="tx1"/>
                </a:solidFill>
              </a:rPr>
              <a:t>* To be included in board pack</a:t>
            </a:r>
          </a:p>
        </p:txBody>
      </p:sp>
    </p:spTree>
    <p:extLst>
      <p:ext uri="{BB962C8B-B14F-4D97-AF65-F5344CB8AC3E}">
        <p14:creationId xmlns:p14="http://schemas.microsoft.com/office/powerpoint/2010/main" val="14091202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4259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0F37D-10E4-4F0E-87EA-59863E151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Further Simulations &amp; exercises being planned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D04522-E536-43A5-8428-773020DEB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7584" y="2708920"/>
            <a:ext cx="7886700" cy="504056"/>
          </a:xfrm>
        </p:spPr>
        <p:txBody>
          <a:bodyPr/>
          <a:lstStyle/>
          <a:p>
            <a:r>
              <a:rPr lang="en-AU"/>
              <a:t>Optional Further reading - follows</a:t>
            </a:r>
          </a:p>
        </p:txBody>
      </p:sp>
    </p:spTree>
    <p:extLst>
      <p:ext uri="{BB962C8B-B14F-4D97-AF65-F5344CB8AC3E}">
        <p14:creationId xmlns:p14="http://schemas.microsoft.com/office/powerpoint/2010/main" val="25814548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/>
              <a:t>Malware / Attachments Simulation</a:t>
            </a:r>
            <a:endParaRPr lang="en-US">
              <a:ea typeface="Roboto Condense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918" y="1052611"/>
            <a:ext cx="3951082" cy="2775967"/>
          </a:xfrm>
        </p:spPr>
        <p:txBody>
          <a:bodyPr/>
          <a:lstStyle/>
          <a:p>
            <a:pPr marL="0" indent="0" algn="ctr">
              <a:buNone/>
            </a:pPr>
            <a:r>
              <a:rPr lang="en-AU" b="1"/>
              <a:t>Second Month</a:t>
            </a:r>
          </a:p>
          <a:p>
            <a:pPr marL="0" indent="0">
              <a:buNone/>
            </a:pPr>
            <a:r>
              <a:rPr lang="en-AU" sz="1400">
                <a:ea typeface="Roboto Condensed Light"/>
                <a:cs typeface="Roboto Condensed Light"/>
              </a:rPr>
              <a:t>Second month simulation will cover:</a:t>
            </a:r>
          </a:p>
          <a:p>
            <a:r>
              <a:rPr lang="en-AU" sz="1400"/>
              <a:t>How are email attachments dangerous?  </a:t>
            </a:r>
            <a:endParaRPr lang="en-AU" sz="1800">
              <a:ea typeface="Roboto Condensed Light"/>
              <a:cs typeface="Roboto Condensed Light"/>
            </a:endParaRPr>
          </a:p>
          <a:p>
            <a:r>
              <a:rPr lang="en-AU" sz="1400"/>
              <a:t>How can we scrutinize email sender information?</a:t>
            </a:r>
            <a:endParaRPr lang="en-AU" sz="1400">
              <a:ea typeface="Roboto Condensed Light"/>
              <a:cs typeface="Roboto Condensed Light"/>
            </a:endParaRPr>
          </a:p>
          <a:p>
            <a:r>
              <a:rPr lang="en-AU" sz="1400"/>
              <a:t>How to start to critically analysing emails to verify authenticity. </a:t>
            </a:r>
            <a:endParaRPr lang="en-AU" sz="1400">
              <a:ea typeface="Roboto Condensed Light"/>
              <a:cs typeface="Roboto Condensed Light"/>
            </a:endParaRPr>
          </a:p>
          <a:p>
            <a:endParaRPr lang="en-AU" sz="16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CF6C2BB-FDBD-A27D-56AD-E764DA55D5CA}"/>
              </a:ext>
            </a:extLst>
          </p:cNvPr>
          <p:cNvSpPr txBox="1">
            <a:spLocks/>
          </p:cNvSpPr>
          <p:nvPr/>
        </p:nvSpPr>
        <p:spPr bwMode="auto">
          <a:xfrm>
            <a:off x="628650" y="3900587"/>
            <a:ext cx="7886700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914400">
              <a:buClrTx/>
              <a:buSzTx/>
              <a:buNone/>
            </a:pPr>
            <a:endParaRPr lang="en-AU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5E2A3FC-D1E3-5C5D-0616-A78008665ADA}"/>
              </a:ext>
            </a:extLst>
          </p:cNvPr>
          <p:cNvSpPr txBox="1">
            <a:spLocks/>
          </p:cNvSpPr>
          <p:nvPr/>
        </p:nvSpPr>
        <p:spPr bwMode="auto">
          <a:xfrm>
            <a:off x="4499992" y="980603"/>
            <a:ext cx="4375398" cy="2775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buClrTx/>
              <a:buSzTx/>
              <a:buNone/>
            </a:pPr>
            <a:r>
              <a:rPr lang="en-AU" b="1"/>
              <a:t>Training</a:t>
            </a:r>
            <a:endParaRPr lang="en-AU" sz="1600" b="1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/>
              <a:t>Microsoft provides feedback at the end of the simulation, highlighting the elements of the email that should raise suspicion.</a:t>
            </a:r>
            <a:endParaRPr lang="en-AU" sz="140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/>
              <a:t>Microsoft then assigns the user training. This is sent as an email to their inbox.</a:t>
            </a:r>
            <a:endParaRPr lang="en-AU" sz="140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/>
              <a:t>The training provided by Microsoft, is a concise interactive tutorial and is tailored to the simulation that they have undertaken.</a:t>
            </a:r>
            <a:endParaRPr lang="en-AU" sz="140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endParaRPr lang="en-AU" sz="1600"/>
          </a:p>
        </p:txBody>
      </p:sp>
    </p:spTree>
    <p:extLst>
      <p:ext uri="{BB962C8B-B14F-4D97-AF65-F5344CB8AC3E}">
        <p14:creationId xmlns:p14="http://schemas.microsoft.com/office/powerpoint/2010/main" val="2714862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75AF1-D05B-4283-A256-C1D4A75B7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/>
              <a:t>Malware Simulations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2A0F2-9C53-4B4C-9047-008D5D9FF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00" y="943104"/>
            <a:ext cx="3872350" cy="3422000"/>
          </a:xfrm>
        </p:spPr>
        <p:txBody>
          <a:bodyPr/>
          <a:lstStyle/>
          <a:p>
            <a:pPr marL="0" indent="0" algn="ctr">
              <a:buNone/>
            </a:pPr>
            <a:r>
              <a:rPr lang="en-AU" sz="1600" b="1"/>
              <a:t>Planned simulations Facebook and Microsoft:</a:t>
            </a:r>
            <a:endParaRPr lang="en-AU" sz="1600" b="1">
              <a:ea typeface="Roboto Condensed Light"/>
              <a:cs typeface="Roboto Condensed Light"/>
            </a:endParaRPr>
          </a:p>
          <a:p>
            <a:pPr marL="0" indent="0">
              <a:buNone/>
            </a:pPr>
            <a:r>
              <a:rPr lang="en-AU" sz="1600">
                <a:ea typeface="Roboto Condensed Light"/>
                <a:cs typeface="Roboto Condensed Light"/>
              </a:rPr>
              <a:t>What to look out for:</a:t>
            </a:r>
          </a:p>
          <a:p>
            <a:r>
              <a:rPr lang="en-AU" sz="1400"/>
              <a:t>Is the email received warranted or inappropriate/unprofessional?</a:t>
            </a:r>
            <a:endParaRPr lang="en-AU" sz="1400">
              <a:ea typeface="Roboto Condensed Light"/>
              <a:cs typeface="Roboto Condensed Light"/>
            </a:endParaRPr>
          </a:p>
          <a:p>
            <a:r>
              <a:rPr lang="en-AU" sz="1400"/>
              <a:t>Is this form of installation appropriate for the company?</a:t>
            </a:r>
            <a:endParaRPr lang="en-AU" sz="1400">
              <a:ea typeface="Roboto Condensed Light"/>
              <a:cs typeface="Roboto Condensed Light"/>
            </a:endParaRPr>
          </a:p>
          <a:p>
            <a:r>
              <a:rPr lang="en-AU" sz="1400"/>
              <a:t>Are there inconsistencies regarding spelling, logos or URLs and email addresses?</a:t>
            </a:r>
            <a:endParaRPr lang="en-AU" sz="1400">
              <a:ea typeface="Roboto Condensed Light"/>
              <a:cs typeface="Roboto Condensed Light"/>
            </a:endParaRPr>
          </a:p>
          <a:p>
            <a:r>
              <a:rPr lang="en-AU" sz="1400"/>
              <a:t>Does the from address make sense? </a:t>
            </a:r>
            <a:endParaRPr lang="en-AU" sz="1400">
              <a:ea typeface="Roboto Condensed Light"/>
              <a:cs typeface="Roboto Condensed Light"/>
            </a:endParaRPr>
          </a:p>
          <a:p>
            <a:r>
              <a:rPr lang="en-AU" sz="1400"/>
              <a:t>Does the URLs make sense and is that the address it will link to?</a:t>
            </a:r>
            <a:endParaRPr lang="en-AU" sz="1400">
              <a:ea typeface="Roboto Condensed Light"/>
              <a:cs typeface="Roboto Condensed Light"/>
            </a:endParaRPr>
          </a:p>
          <a:p>
            <a:pPr marL="0" indent="0">
              <a:buNone/>
            </a:pPr>
            <a:endParaRPr lang="en-AU" sz="16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057202-05D6-F46A-11DD-08F151CFA7E7}"/>
              </a:ext>
            </a:extLst>
          </p:cNvPr>
          <p:cNvSpPr/>
          <p:nvPr/>
        </p:nvSpPr>
        <p:spPr>
          <a:xfrm>
            <a:off x="188699" y="5035615"/>
            <a:ext cx="1800200" cy="5040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U" sz="1100">
                <a:solidFill>
                  <a:schemeClr val="tx1"/>
                </a:solidFill>
              </a:rPr>
              <a:t>Provide training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E65BF4E-1663-830C-270E-3BB1CFB44D40}"/>
              </a:ext>
            </a:extLst>
          </p:cNvPr>
          <p:cNvSpPr/>
          <p:nvPr/>
        </p:nvSpPr>
        <p:spPr>
          <a:xfrm>
            <a:off x="2454677" y="5035690"/>
            <a:ext cx="1800225" cy="5032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U" sz="1100">
                <a:solidFill>
                  <a:schemeClr val="tx1"/>
                </a:solidFill>
              </a:rPr>
              <a:t>Send first Malware email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475DD2A-1FF5-5554-7622-F120D8867357}"/>
              </a:ext>
            </a:extLst>
          </p:cNvPr>
          <p:cNvSpPr/>
          <p:nvPr/>
        </p:nvSpPr>
        <p:spPr>
          <a:xfrm>
            <a:off x="4720039" y="5035690"/>
            <a:ext cx="1800225" cy="5032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U" sz="1100">
                <a:solidFill>
                  <a:schemeClr val="tx1"/>
                </a:solidFill>
              </a:rPr>
              <a:t>Send second Malware email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836D14A-0693-1D42-611D-592243E5F96F}"/>
              </a:ext>
            </a:extLst>
          </p:cNvPr>
          <p:cNvSpPr/>
          <p:nvPr/>
        </p:nvSpPr>
        <p:spPr>
          <a:xfrm>
            <a:off x="6985402" y="5035690"/>
            <a:ext cx="1800225" cy="5032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U" sz="1100">
                <a:solidFill>
                  <a:schemeClr val="tx1"/>
                </a:solidFill>
              </a:rPr>
              <a:t>Review results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012C356A-333A-3C80-14CB-BA84C537FD8F}"/>
              </a:ext>
            </a:extLst>
          </p:cNvPr>
          <p:cNvSpPr/>
          <p:nvPr/>
        </p:nvSpPr>
        <p:spPr>
          <a:xfrm>
            <a:off x="2069422" y="5219239"/>
            <a:ext cx="322094" cy="13843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437B9E11-06AA-8182-07AC-E72544C9E773}"/>
              </a:ext>
            </a:extLst>
          </p:cNvPr>
          <p:cNvSpPr/>
          <p:nvPr/>
        </p:nvSpPr>
        <p:spPr>
          <a:xfrm>
            <a:off x="4327643" y="5219240"/>
            <a:ext cx="322094" cy="13843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8D3D4ECD-1151-E1C5-AD43-D7DFFD32986D}"/>
              </a:ext>
            </a:extLst>
          </p:cNvPr>
          <p:cNvSpPr/>
          <p:nvPr/>
        </p:nvSpPr>
        <p:spPr>
          <a:xfrm>
            <a:off x="6602610" y="5215351"/>
            <a:ext cx="322094" cy="13843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13A2AA-C697-5C0A-CFD7-9E2FA0A1C172}"/>
              </a:ext>
            </a:extLst>
          </p:cNvPr>
          <p:cNvSpPr txBox="1"/>
          <p:nvPr/>
        </p:nvSpPr>
        <p:spPr>
          <a:xfrm>
            <a:off x="636395" y="4731098"/>
            <a:ext cx="9011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Week 1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9ABB0E-DDE5-D68D-F991-07772455285C}"/>
              </a:ext>
            </a:extLst>
          </p:cNvPr>
          <p:cNvSpPr txBox="1"/>
          <p:nvPr/>
        </p:nvSpPr>
        <p:spPr>
          <a:xfrm>
            <a:off x="2905647" y="4731097"/>
            <a:ext cx="9011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Week 2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1FB9DD4-9E26-4D11-7A66-A8984ED00910}"/>
              </a:ext>
            </a:extLst>
          </p:cNvPr>
          <p:cNvSpPr txBox="1"/>
          <p:nvPr/>
        </p:nvSpPr>
        <p:spPr>
          <a:xfrm>
            <a:off x="5166525" y="4731096"/>
            <a:ext cx="9011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Week 3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CD009C-E307-3DF3-CF60-935138D368C7}"/>
              </a:ext>
            </a:extLst>
          </p:cNvPr>
          <p:cNvSpPr txBox="1"/>
          <p:nvPr/>
        </p:nvSpPr>
        <p:spPr>
          <a:xfrm>
            <a:off x="7435777" y="4731095"/>
            <a:ext cx="9011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Week 4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8C84C605-D816-05F3-3697-7E339B199725}"/>
              </a:ext>
            </a:extLst>
          </p:cNvPr>
          <p:cNvSpPr txBox="1">
            <a:spLocks/>
          </p:cNvSpPr>
          <p:nvPr/>
        </p:nvSpPr>
        <p:spPr bwMode="auto">
          <a:xfrm>
            <a:off x="626219" y="943105"/>
            <a:ext cx="3943802" cy="3166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buClrTx/>
              <a:buSzTx/>
              <a:buFont typeface="Arial" charset="0"/>
              <a:buNone/>
            </a:pPr>
            <a:r>
              <a:rPr lang="en-AU" sz="1600" b="1"/>
              <a:t>Process:</a:t>
            </a:r>
            <a:endParaRPr lang="en-AU" sz="1600" b="1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200"/>
              <a:t>Training is provided via SharePoint.</a:t>
            </a:r>
            <a:endParaRPr lang="en-AU" sz="120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200"/>
              <a:t>Email is sent informing employees of the simulation.</a:t>
            </a:r>
            <a:endParaRPr lang="en-AU" sz="120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200"/>
              <a:t>Simulated phishing emails are sent out to employees.</a:t>
            </a:r>
            <a:endParaRPr lang="en-AU" sz="120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200"/>
              <a:t>Recipients interacts with the email (or does not).</a:t>
            </a:r>
            <a:endParaRPr lang="en-AU" sz="120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200"/>
              <a:t>Users are provided immediate tailored feedback, from the simulation.</a:t>
            </a:r>
            <a:endParaRPr lang="en-AU" sz="120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200"/>
              <a:t>Users are assigned training from Microsoft regarding Malware awareness.</a:t>
            </a:r>
            <a:endParaRPr lang="en-AU" sz="1200">
              <a:ea typeface="Roboto Condensed Light"/>
              <a:cs typeface="Roboto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9917685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1DB63-4880-45EE-A96E-24E426039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/>
              <a:t>Key Take 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837D7-EA76-4DCE-A319-CA73C9382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828" y="980728"/>
            <a:ext cx="7886700" cy="3384376"/>
          </a:xfrm>
        </p:spPr>
        <p:txBody>
          <a:bodyPr/>
          <a:lstStyle/>
          <a:p>
            <a:r>
              <a:rPr lang="en-AU" sz="1600">
                <a:ea typeface="Roboto Condensed Light"/>
                <a:cs typeface="Roboto Condensed Light"/>
              </a:rPr>
              <a:t>Detect and understand attachment extensions. </a:t>
            </a:r>
            <a:endParaRPr lang="en-AU" sz="1600"/>
          </a:p>
          <a:p>
            <a:r>
              <a:rPr lang="en-AU" sz="1600"/>
              <a:t>Do not install or download executables from emails.</a:t>
            </a:r>
            <a:endParaRPr lang="en-US" sz="1600">
              <a:ea typeface="Roboto Condensed Light"/>
              <a:cs typeface="Roboto Condensed Light"/>
            </a:endParaRPr>
          </a:p>
          <a:p>
            <a:r>
              <a:rPr lang="en-AU" sz="1600"/>
              <a:t>Spot inconsistencies in spelling, logos and addresses.</a:t>
            </a:r>
            <a:endParaRPr lang="en-AU" sz="1600">
              <a:ea typeface="Roboto Condensed Light"/>
              <a:cs typeface="Roboto Condensed Light"/>
            </a:endParaRPr>
          </a:p>
          <a:p>
            <a:r>
              <a:rPr lang="en-AU" sz="1600"/>
              <a:t>Critically analyse emails for lapses in professionalism and business practices. </a:t>
            </a:r>
            <a:endParaRPr lang="en-AU" sz="1600">
              <a:ea typeface="Roboto Condensed Light"/>
              <a:cs typeface="Roboto Condensed Light"/>
            </a:endParaRPr>
          </a:p>
          <a:p>
            <a:r>
              <a:rPr lang="en-AU" sz="1600"/>
              <a:t>Inform G.James Service Desk of the email so that they can clean out malware, block any URL and clean up emails sent out to the company.</a:t>
            </a:r>
            <a:endParaRPr lang="en-AU" sz="1600">
              <a:ea typeface="Roboto Condensed Light"/>
              <a:cs typeface="Roboto Condensed Light"/>
            </a:endParaRP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50F94588-C705-B491-BF78-59809F3C35DA}"/>
              </a:ext>
            </a:extLst>
          </p:cNvPr>
          <p:cNvSpPr txBox="1"/>
          <p:nvPr/>
        </p:nvSpPr>
        <p:spPr>
          <a:xfrm>
            <a:off x="628650" y="4184501"/>
            <a:ext cx="7886700" cy="1446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GB"/>
            </a:defPPr>
            <a:lvl1pPr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1pPr>
            <a:lvl2pPr marL="742950" indent="-28575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2pPr>
            <a:lvl3pPr marL="11430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3pPr>
            <a:lvl4pPr marL="16002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4pPr>
            <a:lvl5pPr marL="2057400" indent="-228600" algn="l" defTabSz="449263" rtl="0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6" charset="0"/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Calibri" pitchFamily="32" charset="0"/>
                <a:ea typeface="Microsoft YaHei" charset="-122"/>
                <a:cs typeface="Arial" charset="0"/>
              </a:defRPr>
            </a:lvl9pPr>
          </a:lstStyle>
          <a:p>
            <a:pPr algn="ctr"/>
            <a:r>
              <a:rPr lang="en-AU" sz="2400" b="1">
                <a:solidFill>
                  <a:schemeClr val="tx1"/>
                </a:solidFill>
                <a:latin typeface="Roboto Condensed"/>
                <a:ea typeface="+mj-ea"/>
                <a:cs typeface="Arial"/>
              </a:rPr>
              <a:t>Second Month Lessons</a:t>
            </a:r>
            <a:r>
              <a:rPr kumimoji="0" lang="en-AU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"/>
                <a:ea typeface="+mj-ea"/>
                <a:cs typeface="Arial"/>
              </a:rPr>
              <a:t> learnt</a:t>
            </a:r>
            <a:endParaRPr lang="en-AU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Condensed"/>
              <a:ea typeface="Roboto Condensed"/>
              <a:cs typeface="Arial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1600">
                <a:solidFill>
                  <a:schemeClr val="tx1"/>
                </a:solidFill>
                <a:latin typeface="Roboto Condensed Light"/>
                <a:ea typeface="+mn-ea"/>
                <a:cs typeface="+mn-cs"/>
              </a:rPr>
              <a:t>Creating and running simulations.</a:t>
            </a:r>
            <a:endParaRPr lang="en-AU" sz="1600">
              <a:solidFill>
                <a:schemeClr val="tx1"/>
              </a:solidFill>
              <a:latin typeface="Roboto Condensed Light"/>
              <a:ea typeface="Roboto Condensed Light"/>
              <a:cs typeface="Roboto Condensed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n-AU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Collecting analytics from simulations.</a:t>
            </a:r>
            <a:endParaRPr lang="en-AU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Condensed Light"/>
              <a:ea typeface="Roboto Condensed Light"/>
              <a:cs typeface="Roboto Condensed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n-AU" sz="16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Recipients’ reaction to simulations was ??</a:t>
            </a:r>
            <a:endParaRPr lang="en-AU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Condensed Light"/>
              <a:ea typeface="Roboto Condensed Light"/>
              <a:cs typeface="Roboto Condensed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1600">
                <a:solidFill>
                  <a:schemeClr val="tx1"/>
                </a:solidFill>
                <a:latin typeface="Roboto Condensed Light"/>
                <a:ea typeface="+mn-ea"/>
                <a:cs typeface="+mn-cs"/>
              </a:rPr>
              <a:t>Variations we could deploy in future simulations. </a:t>
            </a:r>
            <a:endParaRPr lang="en-AU" sz="1600">
              <a:solidFill>
                <a:schemeClr val="tx1"/>
              </a:solidFill>
              <a:latin typeface="Roboto Condensed Light"/>
              <a:ea typeface="Roboto Condensed Light"/>
              <a:cs typeface="Roboto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31528095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>
                <a:latin typeface="+mj-lt"/>
              </a:rPr>
              <a:t>Overview of </a:t>
            </a:r>
            <a:r>
              <a:rPr lang="en-AU"/>
              <a:t>Second Month</a:t>
            </a:r>
            <a:endParaRPr lang="en-AU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662" y="986715"/>
            <a:ext cx="3943350" cy="2952327"/>
          </a:xfrm>
        </p:spPr>
        <p:txBody>
          <a:bodyPr/>
          <a:lstStyle/>
          <a:p>
            <a:pPr marL="0" indent="0" algn="ctr">
              <a:buNone/>
            </a:pPr>
            <a:r>
              <a:rPr lang="en-AU" b="1"/>
              <a:t>Incidents</a:t>
            </a:r>
          </a:p>
          <a:p>
            <a:r>
              <a:rPr lang="en-AU" sz="1400"/>
              <a:t>Over the first month Microsoft Defender detected </a:t>
            </a:r>
            <a:r>
              <a:rPr lang="en-AU" sz="1400">
                <a:solidFill>
                  <a:srgbClr val="FF0000"/>
                </a:solidFill>
              </a:rPr>
              <a:t>XXX</a:t>
            </a:r>
            <a:r>
              <a:rPr lang="en-AU" sz="1400"/>
              <a:t> email threats against G.James employees.</a:t>
            </a:r>
            <a:endParaRPr lang="en-AU" sz="1400">
              <a:ea typeface="Roboto Condensed Light"/>
              <a:cs typeface="Roboto Condensed Light"/>
            </a:endParaRPr>
          </a:p>
          <a:p>
            <a:r>
              <a:rPr lang="en-AU" sz="1400"/>
              <a:t>Service Desk received </a:t>
            </a:r>
            <a:r>
              <a:rPr lang="en-AU" sz="1400">
                <a:solidFill>
                  <a:srgbClr val="FF0000"/>
                </a:solidFill>
              </a:rPr>
              <a:t>xxx</a:t>
            </a:r>
            <a:r>
              <a:rPr lang="en-AU" sz="1400"/>
              <a:t> calls regarding these emails.</a:t>
            </a:r>
            <a:endParaRPr lang="en-AU" sz="1400">
              <a:ea typeface="Roboto Condensed Light"/>
              <a:cs typeface="Roboto Condensed Light"/>
            </a:endParaRPr>
          </a:p>
          <a:p>
            <a:r>
              <a:rPr lang="en-AU" sz="1400"/>
              <a:t>Service Desk dealt with </a:t>
            </a:r>
            <a:r>
              <a:rPr lang="en-AU" sz="1400">
                <a:solidFill>
                  <a:srgbClr val="FF0000"/>
                </a:solidFill>
              </a:rPr>
              <a:t>XXX</a:t>
            </a:r>
            <a:r>
              <a:rPr lang="en-AU" sz="1400"/>
              <a:t> malicious emails.</a:t>
            </a:r>
            <a:endParaRPr lang="en-AU" sz="1400">
              <a:solidFill>
                <a:srgbClr val="FF0000"/>
              </a:solidFill>
            </a:endParaRPr>
          </a:p>
          <a:p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33686E-DED5-79ED-3198-13065191F8E6}"/>
              </a:ext>
            </a:extLst>
          </p:cNvPr>
          <p:cNvSpPr txBox="1"/>
          <p:nvPr/>
        </p:nvSpPr>
        <p:spPr>
          <a:xfrm>
            <a:off x="412626" y="4005064"/>
            <a:ext cx="7759774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AU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The following graph depicts Email threats detected by Microsoft for the second month.</a:t>
            </a:r>
          </a:p>
          <a:p>
            <a:endParaRPr lang="en-AU">
              <a:solidFill>
                <a:schemeClr val="tx1"/>
              </a:solidFill>
            </a:endParaRPr>
          </a:p>
          <a:p>
            <a:endParaRPr lang="en-AU">
              <a:solidFill>
                <a:schemeClr val="tx1"/>
              </a:solidFill>
            </a:endParaRPr>
          </a:p>
          <a:p>
            <a:endParaRPr lang="en-AU">
              <a:solidFill>
                <a:schemeClr val="tx1"/>
              </a:solidFill>
            </a:endParaRPr>
          </a:p>
          <a:p>
            <a:endParaRPr lang="en-AU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986D14-B93E-998B-DD9B-FC929A305EF6}"/>
              </a:ext>
            </a:extLst>
          </p:cNvPr>
          <p:cNvSpPr/>
          <p:nvPr/>
        </p:nvSpPr>
        <p:spPr>
          <a:xfrm>
            <a:off x="539552" y="4869160"/>
            <a:ext cx="7560840" cy="1224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/>
              <a:t>Graph goes 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01614A1-BB3D-054B-E815-E9BF1D49A26D}"/>
              </a:ext>
            </a:extLst>
          </p:cNvPr>
          <p:cNvSpPr txBox="1">
            <a:spLocks/>
          </p:cNvSpPr>
          <p:nvPr/>
        </p:nvSpPr>
        <p:spPr bwMode="auto">
          <a:xfrm>
            <a:off x="4482902" y="836712"/>
            <a:ext cx="3943350" cy="295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buClrTx/>
              <a:buSzTx/>
              <a:buFont typeface="Arial" charset="0"/>
              <a:buNone/>
            </a:pPr>
            <a:r>
              <a:rPr lang="en-AU" b="1"/>
              <a:t>Training</a:t>
            </a:r>
          </a:p>
          <a:p>
            <a:pPr defTabSz="914400">
              <a:buClrTx/>
              <a:buSzTx/>
            </a:pPr>
            <a:r>
              <a:rPr lang="en-AU" sz="1400"/>
              <a:t>Over the second month Service Desk has sent two simulations to employees.</a:t>
            </a:r>
            <a:endParaRPr lang="en-AU" sz="140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err="1">
                <a:solidFill>
                  <a:srgbClr val="FF0000"/>
                </a:solidFill>
              </a:rPr>
              <a:t>Xxx</a:t>
            </a:r>
            <a:r>
              <a:rPr lang="en-AU" sz="1400">
                <a:solidFill>
                  <a:srgbClr val="FF0000"/>
                </a:solidFill>
              </a:rPr>
              <a:t> </a:t>
            </a:r>
            <a:r>
              <a:rPr lang="en-AU" sz="1400"/>
              <a:t>Employees received these emails.</a:t>
            </a:r>
            <a:endParaRPr lang="en-AU" sz="140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err="1">
                <a:solidFill>
                  <a:srgbClr val="FF0000"/>
                </a:solidFill>
              </a:rPr>
              <a:t>Xxx</a:t>
            </a:r>
            <a:r>
              <a:rPr lang="en-AU" sz="1400">
                <a:solidFill>
                  <a:srgbClr val="FF0000"/>
                </a:solidFill>
              </a:rPr>
              <a:t> </a:t>
            </a:r>
            <a:r>
              <a:rPr lang="en-AU" sz="1400"/>
              <a:t>Employees received training from these emails.</a:t>
            </a:r>
            <a:endParaRPr lang="en-AU" sz="140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err="1">
                <a:solidFill>
                  <a:srgbClr val="FF0000"/>
                </a:solidFill>
              </a:rPr>
              <a:t>Xxx</a:t>
            </a:r>
            <a:r>
              <a:rPr lang="en-AU" sz="1400">
                <a:solidFill>
                  <a:srgbClr val="FF0000"/>
                </a:solidFill>
              </a:rPr>
              <a:t> </a:t>
            </a:r>
            <a:r>
              <a:rPr lang="en-AU" sz="1400"/>
              <a:t>Employees reported these emails to the service desk.</a:t>
            </a:r>
            <a:endParaRPr lang="en-AU" sz="140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err="1">
                <a:solidFill>
                  <a:srgbClr val="FF0000"/>
                </a:solidFill>
              </a:rPr>
              <a:t>Xxx</a:t>
            </a:r>
            <a:r>
              <a:rPr lang="en-AU" sz="1400">
                <a:solidFill>
                  <a:srgbClr val="FF0000"/>
                </a:solidFill>
              </a:rPr>
              <a:t> </a:t>
            </a:r>
            <a:r>
              <a:rPr lang="en-AU" sz="1400"/>
              <a:t>Users who have been caught multiple times.</a:t>
            </a:r>
            <a:endParaRPr lang="en-AU" sz="140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err="1">
                <a:solidFill>
                  <a:srgbClr val="FF0000"/>
                </a:solidFill>
              </a:rPr>
              <a:t>Xxx</a:t>
            </a:r>
            <a:r>
              <a:rPr lang="en-AU" sz="1400">
                <a:solidFill>
                  <a:srgbClr val="FF0000"/>
                </a:solidFill>
              </a:rPr>
              <a:t> </a:t>
            </a:r>
            <a:r>
              <a:rPr lang="en-AU" sz="1400"/>
              <a:t>Users have outstanding training.</a:t>
            </a:r>
            <a:endParaRPr lang="en-AU" sz="140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endParaRPr lang="en-AU" sz="1400"/>
          </a:p>
          <a:p>
            <a:pPr defTabSz="914400">
              <a:buClrTx/>
              <a:buSzTx/>
            </a:pPr>
            <a:endParaRPr lang="en-AU" sz="1400"/>
          </a:p>
          <a:p>
            <a:pPr defTabSz="914400">
              <a:buClrTx/>
              <a:buSzTx/>
            </a:pPr>
            <a:endParaRPr lang="en-AU"/>
          </a:p>
          <a:p>
            <a:pPr defTabSz="914400">
              <a:buClrTx/>
              <a:buSzTx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67812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/>
              <a:t>Ransomware Simulation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918" y="1052611"/>
            <a:ext cx="3951082" cy="2775967"/>
          </a:xfrm>
        </p:spPr>
        <p:txBody>
          <a:bodyPr/>
          <a:lstStyle/>
          <a:p>
            <a:pPr marL="0" indent="0" algn="ctr">
              <a:buNone/>
            </a:pPr>
            <a:r>
              <a:rPr lang="en-AU" b="1"/>
              <a:t>Third Month</a:t>
            </a:r>
          </a:p>
          <a:p>
            <a:pPr marL="0" indent="0">
              <a:buNone/>
            </a:pPr>
            <a:r>
              <a:rPr lang="en-AU" sz="1600">
                <a:ea typeface="Roboto Condensed Light"/>
                <a:cs typeface="Roboto Condensed Light"/>
              </a:rPr>
              <a:t>Third month simulation will cover:</a:t>
            </a:r>
          </a:p>
          <a:p>
            <a:r>
              <a:rPr lang="en-AU" sz="1600"/>
              <a:t>What is Ransomware and why is it a concern? </a:t>
            </a:r>
            <a:endParaRPr lang="en-AU"/>
          </a:p>
          <a:p>
            <a:r>
              <a:rPr lang="en-AU" sz="1600"/>
              <a:t>How does Ransomware appear on our systems?</a:t>
            </a:r>
          </a:p>
          <a:p>
            <a:r>
              <a:rPr lang="en-AU" sz="1600"/>
              <a:t>What to do if Ransomware is found?</a:t>
            </a:r>
            <a:endParaRPr lang="en-AU" sz="1600">
              <a:ea typeface="Roboto Condensed Light"/>
              <a:cs typeface="Roboto Condensed Light"/>
            </a:endParaRP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A3B9C3E-FF40-F074-399E-809A1495C177}"/>
              </a:ext>
            </a:extLst>
          </p:cNvPr>
          <p:cNvSpPr txBox="1">
            <a:spLocks/>
          </p:cNvSpPr>
          <p:nvPr/>
        </p:nvSpPr>
        <p:spPr bwMode="auto">
          <a:xfrm>
            <a:off x="4499992" y="980603"/>
            <a:ext cx="4375398" cy="27759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buClrTx/>
              <a:buSzTx/>
              <a:buNone/>
            </a:pPr>
            <a:r>
              <a:rPr lang="en-AU" b="1"/>
              <a:t>Training</a:t>
            </a:r>
            <a:endParaRPr lang="en-AU" sz="1600" b="1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600"/>
              <a:t>Microsoft provides feedback at the end of the simulation, highlighting the elements of the email that should raise suspicion.</a:t>
            </a:r>
          </a:p>
          <a:p>
            <a:pPr defTabSz="914400">
              <a:buClrTx/>
              <a:buSzTx/>
            </a:pPr>
            <a:r>
              <a:rPr lang="en-AU" sz="1600"/>
              <a:t>Microsoft then assigns the user training, this is sent as an email to their inbox.</a:t>
            </a:r>
          </a:p>
          <a:p>
            <a:pPr defTabSz="914400">
              <a:buClrTx/>
              <a:buSzTx/>
            </a:pPr>
            <a:r>
              <a:rPr lang="en-AU" sz="1600"/>
              <a:t>The training provided is a concise interactive tutorial and is tailored to the simulation that they have undertaken.</a:t>
            </a:r>
          </a:p>
          <a:p>
            <a:pPr defTabSz="914400">
              <a:buClrTx/>
              <a:buSzTx/>
            </a:pPr>
            <a:endParaRPr lang="en-AU" sz="160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2FC868CC-D014-C8D5-0AFF-143EFAB8F5F3}"/>
              </a:ext>
            </a:extLst>
          </p:cNvPr>
          <p:cNvSpPr txBox="1">
            <a:spLocks/>
          </p:cNvSpPr>
          <p:nvPr/>
        </p:nvSpPr>
        <p:spPr bwMode="auto">
          <a:xfrm>
            <a:off x="628650" y="3900587"/>
            <a:ext cx="7886700" cy="25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buClrTx/>
              <a:buSzTx/>
              <a:buNone/>
            </a:pPr>
            <a:r>
              <a:rPr lang="en-AU" b="1"/>
              <a:t>Note:</a:t>
            </a:r>
            <a:endParaRPr lang="en-AU" b="1">
              <a:ea typeface="Roboto Condensed Light"/>
              <a:cs typeface="Roboto Condensed Light"/>
            </a:endParaRPr>
          </a:p>
          <a:p>
            <a:pPr marL="0" indent="0" defTabSz="914400">
              <a:buClrTx/>
              <a:buSzTx/>
              <a:buNone/>
            </a:pPr>
            <a:r>
              <a:rPr lang="en-AU"/>
              <a:t>G.James must maintain the trust of the employees.</a:t>
            </a:r>
            <a:br>
              <a:rPr lang="en-AU"/>
            </a:br>
            <a:r>
              <a:rPr lang="en-AU"/>
              <a:t>To achieve this the training pack will reinforce that:</a:t>
            </a:r>
            <a:endParaRPr lang="en-AU">
              <a:ea typeface="Roboto Condensed Light"/>
              <a:cs typeface="Roboto Condensed Light"/>
            </a:endParaRPr>
          </a:p>
          <a:p>
            <a:pPr lvl="1" defTabSz="914400"/>
            <a:r>
              <a:rPr lang="en-AU">
                <a:ea typeface="+mn-lt"/>
                <a:cs typeface="+mn-lt"/>
              </a:rPr>
              <a:t>Training will be provided to the employees before the simulation.</a:t>
            </a:r>
            <a:endParaRPr lang="en-US">
              <a:ea typeface="+mn-lt"/>
              <a:cs typeface="+mn-lt"/>
            </a:endParaRPr>
          </a:p>
          <a:p>
            <a:pPr lvl="1" defTabSz="914400">
              <a:buClrTx/>
              <a:buSzTx/>
            </a:pPr>
            <a:r>
              <a:rPr lang="en-AU">
                <a:ea typeface="+mn-lt"/>
                <a:cs typeface="+mn-lt"/>
              </a:rPr>
              <a:t>Simulations will be sent to all computer employees.</a:t>
            </a:r>
            <a:endParaRPr lang="en-AU"/>
          </a:p>
          <a:p>
            <a:pPr lvl="1" defTabSz="914400">
              <a:buClrTx/>
              <a:buSzTx/>
            </a:pPr>
            <a:r>
              <a:rPr lang="en-AU"/>
              <a:t>No credentials gathered by the simulations are kept.</a:t>
            </a:r>
            <a:endParaRPr lang="en-AU">
              <a:ea typeface="Roboto Condensed Light"/>
              <a:cs typeface="Roboto Condensed Light"/>
            </a:endParaRPr>
          </a:p>
          <a:p>
            <a:pPr lvl="1" defTabSz="914400">
              <a:buClrTx/>
              <a:buSzTx/>
            </a:pPr>
            <a:endParaRPr lang="en-AU"/>
          </a:p>
          <a:p>
            <a:pPr marL="0" indent="0" defTabSz="914400">
              <a:buClrTx/>
              <a:buSzTx/>
              <a:buNone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48894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75AF1-D05B-4283-A256-C1D4A75B7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/>
              <a:t>Simulations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2A0F2-9C53-4B4C-9047-008D5D9FF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43000" y="943104"/>
            <a:ext cx="3872350" cy="3061959"/>
          </a:xfrm>
        </p:spPr>
        <p:txBody>
          <a:bodyPr/>
          <a:lstStyle/>
          <a:p>
            <a:pPr marL="0" indent="0" algn="ctr">
              <a:buNone/>
            </a:pPr>
            <a:r>
              <a:rPr lang="en-AU" sz="1600" b="1"/>
              <a:t>Planned simulations Fake client and Fake bank:</a:t>
            </a:r>
            <a:endParaRPr lang="en-AU" sz="1600" b="1">
              <a:ea typeface="Roboto Condensed Light"/>
              <a:cs typeface="Roboto Condensed Light"/>
            </a:endParaRPr>
          </a:p>
          <a:p>
            <a:r>
              <a:rPr lang="en-AU" sz="1400"/>
              <a:t>Is the email received warranted or inappropriate/unprofessional?</a:t>
            </a:r>
            <a:endParaRPr lang="en-AU" sz="1400">
              <a:ea typeface="Roboto Condensed Light"/>
              <a:cs typeface="Roboto Condensed Light"/>
            </a:endParaRPr>
          </a:p>
          <a:p>
            <a:r>
              <a:rPr lang="en-AU" sz="1400"/>
              <a:t>Does the file or attachment seem suspicious?</a:t>
            </a:r>
            <a:endParaRPr lang="en-AU" sz="1400">
              <a:ea typeface="Roboto Condensed Light"/>
              <a:cs typeface="Roboto Condensed Light"/>
            </a:endParaRPr>
          </a:p>
          <a:p>
            <a:r>
              <a:rPr lang="en-AU" sz="1400"/>
              <a:t>Is this form of installation appropriate for the company?</a:t>
            </a:r>
            <a:endParaRPr lang="en-AU" sz="1400">
              <a:ea typeface="Roboto Condensed Light"/>
              <a:cs typeface="Roboto Condensed Light"/>
            </a:endParaRPr>
          </a:p>
          <a:p>
            <a:r>
              <a:rPr lang="en-AU" sz="1400"/>
              <a:t>Is the computer behaving strangely?</a:t>
            </a:r>
            <a:endParaRPr lang="en-AU" sz="1400">
              <a:ea typeface="Roboto Condensed Light"/>
              <a:cs typeface="Roboto Condensed Light"/>
            </a:endParaRPr>
          </a:p>
          <a:p>
            <a:r>
              <a:rPr lang="en-AU" sz="1400"/>
              <a:t>Random text file has appeared. What to do?</a:t>
            </a:r>
            <a:endParaRPr lang="en-AU" sz="1400">
              <a:ea typeface="Roboto Condensed Light"/>
              <a:cs typeface="Roboto Condensed Light"/>
            </a:endParaRPr>
          </a:p>
          <a:p>
            <a:endParaRPr lang="en-AU" sz="1600"/>
          </a:p>
          <a:p>
            <a:endParaRPr lang="en-AU" sz="160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8753BE-BE91-C8E2-BB44-B0CA5605D846}"/>
              </a:ext>
            </a:extLst>
          </p:cNvPr>
          <p:cNvSpPr/>
          <p:nvPr/>
        </p:nvSpPr>
        <p:spPr>
          <a:xfrm>
            <a:off x="188699" y="5035615"/>
            <a:ext cx="1800200" cy="50405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U" sz="1100">
                <a:solidFill>
                  <a:schemeClr val="tx1"/>
                </a:solidFill>
              </a:rPr>
              <a:t>Provide training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D48C80A-8A9C-FC11-9389-82387CC45D82}"/>
              </a:ext>
            </a:extLst>
          </p:cNvPr>
          <p:cNvSpPr/>
          <p:nvPr/>
        </p:nvSpPr>
        <p:spPr>
          <a:xfrm>
            <a:off x="2454677" y="5035690"/>
            <a:ext cx="1800225" cy="5032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U" sz="1100">
                <a:solidFill>
                  <a:schemeClr val="tx1"/>
                </a:solidFill>
              </a:rPr>
              <a:t>Send first Ransomware email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18940B-3970-67A2-090E-55A2E59FF016}"/>
              </a:ext>
            </a:extLst>
          </p:cNvPr>
          <p:cNvSpPr/>
          <p:nvPr/>
        </p:nvSpPr>
        <p:spPr>
          <a:xfrm>
            <a:off x="4720039" y="5035690"/>
            <a:ext cx="1800225" cy="5032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U" sz="1100">
                <a:solidFill>
                  <a:schemeClr val="tx1"/>
                </a:solidFill>
              </a:rPr>
              <a:t>Send second </a:t>
            </a:r>
            <a:r>
              <a:rPr lang="en-AU" sz="1100">
                <a:solidFill>
                  <a:schemeClr val="tx1"/>
                </a:solidFill>
                <a:ea typeface="+mn-lt"/>
                <a:cs typeface="+mn-lt"/>
              </a:rPr>
              <a:t>Ransomware </a:t>
            </a:r>
            <a:r>
              <a:rPr lang="en-AU" sz="1100">
                <a:solidFill>
                  <a:schemeClr val="tx1"/>
                </a:solidFill>
              </a:rPr>
              <a:t>email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1F239D6-BA8E-3796-DA65-23FAA4E3154E}"/>
              </a:ext>
            </a:extLst>
          </p:cNvPr>
          <p:cNvSpPr/>
          <p:nvPr/>
        </p:nvSpPr>
        <p:spPr>
          <a:xfrm>
            <a:off x="6985402" y="5035690"/>
            <a:ext cx="1800225" cy="50323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AU" sz="1100">
                <a:solidFill>
                  <a:schemeClr val="tx1"/>
                </a:solidFill>
              </a:rPr>
              <a:t>Review results</a:t>
            </a:r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F18CB8A8-17D9-8B01-4C32-3D19B1C5A70F}"/>
              </a:ext>
            </a:extLst>
          </p:cNvPr>
          <p:cNvSpPr/>
          <p:nvPr/>
        </p:nvSpPr>
        <p:spPr>
          <a:xfrm>
            <a:off x="2069422" y="5219239"/>
            <a:ext cx="322094" cy="13843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A4B98F02-5563-9F33-D3CA-DB135E2C8DA5}"/>
              </a:ext>
            </a:extLst>
          </p:cNvPr>
          <p:cNvSpPr/>
          <p:nvPr/>
        </p:nvSpPr>
        <p:spPr>
          <a:xfrm>
            <a:off x="4327643" y="5219240"/>
            <a:ext cx="322094" cy="13843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17664D07-069A-54FA-D49B-C022382F931E}"/>
              </a:ext>
            </a:extLst>
          </p:cNvPr>
          <p:cNvSpPr/>
          <p:nvPr/>
        </p:nvSpPr>
        <p:spPr>
          <a:xfrm>
            <a:off x="6602610" y="5215351"/>
            <a:ext cx="322094" cy="138431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01BAA5-1C1D-C416-7024-DD35EE5BA775}"/>
              </a:ext>
            </a:extLst>
          </p:cNvPr>
          <p:cNvSpPr txBox="1"/>
          <p:nvPr/>
        </p:nvSpPr>
        <p:spPr>
          <a:xfrm>
            <a:off x="636395" y="4731098"/>
            <a:ext cx="9011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Week 1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64CD57-A928-2A39-89EE-47825FA6DE1F}"/>
              </a:ext>
            </a:extLst>
          </p:cNvPr>
          <p:cNvSpPr txBox="1"/>
          <p:nvPr/>
        </p:nvSpPr>
        <p:spPr>
          <a:xfrm>
            <a:off x="2905647" y="4731097"/>
            <a:ext cx="9011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Week 2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26B839-032A-D4DB-81EE-85757D47299B}"/>
              </a:ext>
            </a:extLst>
          </p:cNvPr>
          <p:cNvSpPr txBox="1"/>
          <p:nvPr/>
        </p:nvSpPr>
        <p:spPr>
          <a:xfrm>
            <a:off x="5166525" y="4731096"/>
            <a:ext cx="9011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Week 3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37D73D-B89F-F145-4DBF-60037B95176C}"/>
              </a:ext>
            </a:extLst>
          </p:cNvPr>
          <p:cNvSpPr txBox="1"/>
          <p:nvPr/>
        </p:nvSpPr>
        <p:spPr>
          <a:xfrm>
            <a:off x="7435777" y="4731095"/>
            <a:ext cx="90110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Week 4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FAD3D517-F03D-1712-4F9D-BFC76369E810}"/>
              </a:ext>
            </a:extLst>
          </p:cNvPr>
          <p:cNvSpPr txBox="1">
            <a:spLocks/>
          </p:cNvSpPr>
          <p:nvPr/>
        </p:nvSpPr>
        <p:spPr bwMode="auto">
          <a:xfrm>
            <a:off x="626219" y="943105"/>
            <a:ext cx="3943802" cy="3166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buClrTx/>
              <a:buSzTx/>
              <a:buFont typeface="Arial" charset="0"/>
              <a:buNone/>
            </a:pPr>
            <a:r>
              <a:rPr lang="en-AU" sz="1600" b="1"/>
              <a:t>Process:</a:t>
            </a:r>
            <a:endParaRPr lang="en-AU" sz="1600" b="1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400"/>
              <a:t>Training is provided via SharePoint.</a:t>
            </a:r>
            <a:endParaRPr lang="en-AU" sz="140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400"/>
              <a:t>Email is sent informing employees of the simulation.</a:t>
            </a:r>
            <a:endParaRPr lang="en-AU" sz="140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400"/>
              <a:t>Simulated phishing emails are sent out to employees.</a:t>
            </a:r>
            <a:endParaRPr lang="en-AU" sz="140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400"/>
              <a:t>Recipients interacts with the email (or does not).</a:t>
            </a:r>
            <a:endParaRPr lang="en-AU" sz="140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400"/>
              <a:t>User are provided immediate tailored feedback, from the simulation.</a:t>
            </a:r>
            <a:endParaRPr lang="en-AU" sz="1400">
              <a:ea typeface="Roboto Condensed Light"/>
              <a:cs typeface="Roboto Condensed Light"/>
            </a:endParaRPr>
          </a:p>
          <a:p>
            <a:pPr marL="342900" indent="-342900" defTabSz="914400">
              <a:buClrTx/>
              <a:buSzTx/>
              <a:buFont typeface="+mj-lt"/>
              <a:buAutoNum type="arabicPeriod"/>
            </a:pPr>
            <a:r>
              <a:rPr lang="en-AU" sz="1400"/>
              <a:t>Users are assigned training from Microsoft regarding Ransomware awareness.</a:t>
            </a:r>
            <a:endParaRPr lang="en-AU" sz="1400">
              <a:ea typeface="Roboto Condensed Light"/>
              <a:cs typeface="Roboto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19559956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1DB63-4880-45EE-A96E-24E426039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/>
              <a:t>Key Take 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837D7-EA76-4DCE-A319-CA73C9382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828" y="980728"/>
            <a:ext cx="7886700" cy="2736304"/>
          </a:xfrm>
        </p:spPr>
        <p:txBody>
          <a:bodyPr/>
          <a:lstStyle/>
          <a:p>
            <a:r>
              <a:rPr lang="en-AU" sz="1400"/>
              <a:t>Understand how email attachments can be deceptive. </a:t>
            </a:r>
            <a:endParaRPr lang="en-AU" sz="1400">
              <a:ea typeface="Roboto Condensed Light"/>
              <a:cs typeface="Roboto Condensed Light"/>
            </a:endParaRPr>
          </a:p>
          <a:p>
            <a:r>
              <a:rPr lang="en-AU" sz="1400"/>
              <a:t>Do not install or download executables from emails or the internet. </a:t>
            </a:r>
            <a:endParaRPr lang="en-AU" sz="1400">
              <a:ea typeface="Roboto Condensed Light"/>
              <a:cs typeface="Roboto Condensed Light"/>
            </a:endParaRPr>
          </a:p>
          <a:p>
            <a:r>
              <a:rPr lang="en-AU" sz="1400"/>
              <a:t>Knowing how to respond to malware, particularly ransomware.</a:t>
            </a:r>
            <a:endParaRPr lang="en-AU" sz="1400">
              <a:ea typeface="Roboto Condensed Light"/>
              <a:cs typeface="Roboto Condensed Light"/>
            </a:endParaRPr>
          </a:p>
          <a:p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641D24-1BCE-4977-9CF0-8EDE3255B9C8}"/>
              </a:ext>
            </a:extLst>
          </p:cNvPr>
          <p:cNvSpPr txBox="1"/>
          <p:nvPr/>
        </p:nvSpPr>
        <p:spPr>
          <a:xfrm>
            <a:off x="637828" y="3933056"/>
            <a:ext cx="7886700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AU" sz="2400" b="1">
                <a:solidFill>
                  <a:schemeClr val="tx1"/>
                </a:solidFill>
                <a:latin typeface="Roboto Condensed"/>
                <a:ea typeface="+mj-ea"/>
                <a:cs typeface="Arial"/>
              </a:rPr>
              <a:t>Third Month Lessons</a:t>
            </a:r>
            <a:r>
              <a:rPr kumimoji="0" lang="en-AU" sz="24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"/>
                <a:ea typeface="+mj-ea"/>
                <a:cs typeface="Arial"/>
              </a:rPr>
              <a:t> </a:t>
            </a:r>
            <a:r>
              <a:rPr lang="en-AU" sz="2400" b="1">
                <a:solidFill>
                  <a:schemeClr val="tx1"/>
                </a:solidFill>
                <a:latin typeface="Roboto Condensed"/>
                <a:ea typeface="+mj-ea"/>
                <a:cs typeface="Arial"/>
              </a:rPr>
              <a:t>Learnt</a:t>
            </a:r>
            <a:endParaRPr kumimoji="0" lang="en-AU" sz="24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Condensed"/>
              <a:ea typeface="+mj-e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chemeClr val="tx1"/>
                </a:solidFill>
                <a:latin typeface="Roboto Condensed Light"/>
                <a:ea typeface="+mn-ea"/>
                <a:cs typeface="+mn-cs"/>
              </a:rPr>
              <a:t>Creating and running simulations.</a:t>
            </a:r>
            <a:endParaRPr lang="en-AU" sz="1400">
              <a:solidFill>
                <a:schemeClr val="tx1"/>
              </a:solidFill>
              <a:latin typeface="Roboto Condensed Light"/>
              <a:ea typeface="Roboto Condensed Light"/>
              <a:cs typeface="Roboto Condensed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n-AU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Collecting analytics from simulations.</a:t>
            </a:r>
            <a:endParaRPr lang="en-A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Condensed Light"/>
              <a:ea typeface="Roboto Condensed Light"/>
              <a:cs typeface="Roboto Condensed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kumimoji="0" lang="en-AU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Roboto Condensed Light"/>
                <a:ea typeface="+mn-ea"/>
                <a:cs typeface="+mn-cs"/>
              </a:rPr>
              <a:t>Recipients’ reaction to simulations was ??</a:t>
            </a:r>
            <a:endParaRPr lang="en-AU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boto Condensed Light"/>
              <a:ea typeface="Roboto Condensed Light"/>
              <a:cs typeface="Roboto Condensed Ligh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1400">
                <a:solidFill>
                  <a:schemeClr val="tx1"/>
                </a:solidFill>
                <a:latin typeface="Roboto Condensed Light"/>
                <a:ea typeface="+mn-ea"/>
                <a:cs typeface="+mn-cs"/>
              </a:rPr>
              <a:t>Variations we could deploy in future simulations. </a:t>
            </a:r>
            <a:endParaRPr lang="en-AU">
              <a:solidFill>
                <a:schemeClr val="tx1"/>
              </a:solidFill>
              <a:latin typeface="Roboto Condensed Light"/>
              <a:ea typeface="Roboto Condensed Light"/>
              <a:cs typeface="Roboto Condensed Light"/>
            </a:endParaRPr>
          </a:p>
        </p:txBody>
      </p:sp>
    </p:spTree>
    <p:extLst>
      <p:ext uri="{BB962C8B-B14F-4D97-AF65-F5344CB8AC3E}">
        <p14:creationId xmlns:p14="http://schemas.microsoft.com/office/powerpoint/2010/main" val="29843309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>
                <a:latin typeface="+mj-lt"/>
              </a:rPr>
              <a:t>Overview of </a:t>
            </a:r>
            <a:r>
              <a:rPr lang="en-AU"/>
              <a:t>Third Month</a:t>
            </a:r>
            <a:endParaRPr lang="en-AU">
              <a:latin typeface="+mj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1662" y="986715"/>
            <a:ext cx="3943350" cy="2952327"/>
          </a:xfrm>
        </p:spPr>
        <p:txBody>
          <a:bodyPr/>
          <a:lstStyle/>
          <a:p>
            <a:pPr marL="0" indent="0" algn="ctr">
              <a:buNone/>
            </a:pPr>
            <a:r>
              <a:rPr lang="en-AU" b="1"/>
              <a:t>Incidents</a:t>
            </a:r>
          </a:p>
          <a:p>
            <a:r>
              <a:rPr lang="en-AU" sz="1400"/>
              <a:t>Over the first month Microsoft Defender detected </a:t>
            </a:r>
            <a:r>
              <a:rPr lang="en-AU" sz="1400">
                <a:solidFill>
                  <a:srgbClr val="FF0000"/>
                </a:solidFill>
              </a:rPr>
              <a:t>XXX</a:t>
            </a:r>
            <a:r>
              <a:rPr lang="en-AU" sz="1400"/>
              <a:t> email threats against G.James employees.</a:t>
            </a:r>
            <a:endParaRPr lang="en-AU" sz="1400">
              <a:ea typeface="Roboto Condensed Light"/>
              <a:cs typeface="Roboto Condensed Light"/>
            </a:endParaRPr>
          </a:p>
          <a:p>
            <a:r>
              <a:rPr lang="en-AU" sz="1400"/>
              <a:t>Service Desk received </a:t>
            </a:r>
            <a:r>
              <a:rPr lang="en-AU" sz="1400">
                <a:solidFill>
                  <a:srgbClr val="FF0000"/>
                </a:solidFill>
              </a:rPr>
              <a:t>xxx</a:t>
            </a:r>
            <a:r>
              <a:rPr lang="en-AU" sz="1400"/>
              <a:t> calls regarding these emails.</a:t>
            </a:r>
            <a:endParaRPr lang="en-AU" sz="1400">
              <a:ea typeface="Roboto Condensed Light"/>
              <a:cs typeface="Roboto Condensed Light"/>
            </a:endParaRPr>
          </a:p>
          <a:p>
            <a:r>
              <a:rPr lang="en-AU" sz="1400"/>
              <a:t>Service Desk dealt with </a:t>
            </a:r>
            <a:r>
              <a:rPr lang="en-AU" sz="1400">
                <a:solidFill>
                  <a:srgbClr val="FF0000"/>
                </a:solidFill>
              </a:rPr>
              <a:t>XXX </a:t>
            </a:r>
            <a:r>
              <a:rPr lang="en-AU" sz="1400"/>
              <a:t>malicious emails.</a:t>
            </a:r>
            <a:endParaRPr lang="en-AU" sz="1400">
              <a:solidFill>
                <a:srgbClr val="FF0000"/>
              </a:solidFill>
            </a:endParaRPr>
          </a:p>
          <a:p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33686E-DED5-79ED-3198-13065191F8E6}"/>
              </a:ext>
            </a:extLst>
          </p:cNvPr>
          <p:cNvSpPr txBox="1"/>
          <p:nvPr/>
        </p:nvSpPr>
        <p:spPr>
          <a:xfrm>
            <a:off x="412626" y="4005064"/>
            <a:ext cx="7759774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AU">
                <a:solidFill>
                  <a:schemeClr val="tx1"/>
                </a:solidFill>
                <a:latin typeface="Calibri"/>
                <a:ea typeface="Microsoft YaHei"/>
                <a:cs typeface="Arial"/>
              </a:rPr>
              <a:t>The following graph depicts Email threats detected by Microsoft for the third month.</a:t>
            </a:r>
          </a:p>
          <a:p>
            <a:endParaRPr lang="en-AU">
              <a:solidFill>
                <a:schemeClr val="tx1"/>
              </a:solidFill>
            </a:endParaRPr>
          </a:p>
          <a:p>
            <a:endParaRPr lang="en-AU">
              <a:solidFill>
                <a:schemeClr val="tx1"/>
              </a:solidFill>
            </a:endParaRPr>
          </a:p>
          <a:p>
            <a:endParaRPr lang="en-AU">
              <a:solidFill>
                <a:schemeClr val="tx1"/>
              </a:solidFill>
            </a:endParaRPr>
          </a:p>
          <a:p>
            <a:endParaRPr lang="en-AU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986D14-B93E-998B-DD9B-FC929A305EF6}"/>
              </a:ext>
            </a:extLst>
          </p:cNvPr>
          <p:cNvSpPr/>
          <p:nvPr/>
        </p:nvSpPr>
        <p:spPr>
          <a:xfrm>
            <a:off x="539552" y="4869160"/>
            <a:ext cx="7560840" cy="122413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/>
              <a:t>Graph goes here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01614A1-BB3D-054B-E815-E9BF1D49A26D}"/>
              </a:ext>
            </a:extLst>
          </p:cNvPr>
          <p:cNvSpPr txBox="1">
            <a:spLocks/>
          </p:cNvSpPr>
          <p:nvPr/>
        </p:nvSpPr>
        <p:spPr bwMode="auto">
          <a:xfrm>
            <a:off x="4482902" y="836712"/>
            <a:ext cx="3943350" cy="2950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228600" indent="-228600" algn="l" rtl="0" eaLnBrk="1" fontAlgn="base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buClrTx/>
              <a:buSzTx/>
              <a:buFont typeface="Arial" charset="0"/>
              <a:buNone/>
            </a:pPr>
            <a:r>
              <a:rPr lang="en-AU" b="1"/>
              <a:t>Training</a:t>
            </a:r>
          </a:p>
          <a:p>
            <a:pPr defTabSz="914400">
              <a:buClrTx/>
              <a:buSzTx/>
            </a:pPr>
            <a:r>
              <a:rPr lang="en-AU" sz="1400"/>
              <a:t>Over the third month Service Desk has sent two simulations to employees.</a:t>
            </a:r>
            <a:endParaRPr lang="en-AU" sz="140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err="1">
                <a:solidFill>
                  <a:srgbClr val="FF0000"/>
                </a:solidFill>
              </a:rPr>
              <a:t>Xxx</a:t>
            </a:r>
            <a:r>
              <a:rPr lang="en-AU" sz="1400">
                <a:solidFill>
                  <a:srgbClr val="FF0000"/>
                </a:solidFill>
              </a:rPr>
              <a:t> </a:t>
            </a:r>
            <a:r>
              <a:rPr lang="en-AU" sz="1400"/>
              <a:t>Employees received these emails.</a:t>
            </a:r>
            <a:endParaRPr lang="en-AU" sz="140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err="1">
                <a:solidFill>
                  <a:srgbClr val="FF0000"/>
                </a:solidFill>
              </a:rPr>
              <a:t>Xxx</a:t>
            </a:r>
            <a:r>
              <a:rPr lang="en-AU" sz="1400">
                <a:solidFill>
                  <a:srgbClr val="FF0000"/>
                </a:solidFill>
              </a:rPr>
              <a:t> </a:t>
            </a:r>
            <a:r>
              <a:rPr lang="en-AU" sz="1400"/>
              <a:t>Employees received training from these emails.</a:t>
            </a:r>
            <a:endParaRPr lang="en-AU" sz="140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err="1">
                <a:solidFill>
                  <a:srgbClr val="FF0000"/>
                </a:solidFill>
              </a:rPr>
              <a:t>Xxx</a:t>
            </a:r>
            <a:r>
              <a:rPr lang="en-AU" sz="1400">
                <a:solidFill>
                  <a:srgbClr val="FF0000"/>
                </a:solidFill>
              </a:rPr>
              <a:t> </a:t>
            </a:r>
            <a:r>
              <a:rPr lang="en-AU" sz="1400"/>
              <a:t>Employees reported these emails to the service desk.</a:t>
            </a:r>
            <a:endParaRPr lang="en-AU" sz="140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err="1">
                <a:solidFill>
                  <a:srgbClr val="FF0000"/>
                </a:solidFill>
              </a:rPr>
              <a:t>Xxx</a:t>
            </a:r>
            <a:r>
              <a:rPr lang="en-AU" sz="1400">
                <a:solidFill>
                  <a:srgbClr val="FF0000"/>
                </a:solidFill>
              </a:rPr>
              <a:t> </a:t>
            </a:r>
            <a:r>
              <a:rPr lang="en-AU" sz="1400"/>
              <a:t>Users who have been caught multiple times.</a:t>
            </a:r>
            <a:endParaRPr lang="en-AU" sz="140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r>
              <a:rPr lang="en-AU" sz="1400" err="1">
                <a:solidFill>
                  <a:srgbClr val="FF0000"/>
                </a:solidFill>
              </a:rPr>
              <a:t>Xxx</a:t>
            </a:r>
            <a:r>
              <a:rPr lang="en-AU" sz="1400">
                <a:solidFill>
                  <a:srgbClr val="FF0000"/>
                </a:solidFill>
              </a:rPr>
              <a:t> </a:t>
            </a:r>
            <a:r>
              <a:rPr lang="en-AU" sz="1400"/>
              <a:t>Users have outstanding training.</a:t>
            </a:r>
            <a:endParaRPr lang="en-AU" sz="1400">
              <a:ea typeface="Roboto Condensed Light"/>
              <a:cs typeface="Roboto Condensed Light"/>
            </a:endParaRPr>
          </a:p>
          <a:p>
            <a:pPr defTabSz="914400">
              <a:buClrTx/>
              <a:buSzTx/>
            </a:pPr>
            <a:endParaRPr lang="en-AU" sz="1400"/>
          </a:p>
          <a:p>
            <a:pPr defTabSz="914400">
              <a:buClrTx/>
              <a:buSzTx/>
            </a:pPr>
            <a:endParaRPr lang="en-AU" sz="1400"/>
          </a:p>
          <a:p>
            <a:pPr defTabSz="914400">
              <a:buClrTx/>
              <a:buSzTx/>
            </a:pPr>
            <a:endParaRPr lang="en-AU"/>
          </a:p>
          <a:p>
            <a:pPr defTabSz="914400">
              <a:buClrTx/>
              <a:buSzTx/>
            </a:pP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509108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AF235-04CA-4A5C-91F7-B6FD5C3B3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Future Months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7BA9B-93A3-43D5-8017-4300C0DB9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/>
              <a:t>To be advised as campaign continues</a:t>
            </a:r>
          </a:p>
        </p:txBody>
      </p:sp>
    </p:spTree>
    <p:extLst>
      <p:ext uri="{BB962C8B-B14F-4D97-AF65-F5344CB8AC3E}">
        <p14:creationId xmlns:p14="http://schemas.microsoft.com/office/powerpoint/2010/main" val="14275819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194214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G.James">
      <a:majorFont>
        <a:latin typeface="Roboto Condensed"/>
        <a:ea typeface=""/>
        <a:cs typeface=""/>
      </a:majorFont>
      <a:minorFont>
        <a:latin typeface="Roboto Condensed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.James_Presentation_Template.potx" id="{B5008CB7-2FAB-47BA-A618-D2D83E25F1CE}" vid="{6859003B-2A43-4950-AF3E-B73EDCEAD68B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a7130040-a85f-40f6-8ab2-b11de916c767">
      <UserInfo>
        <DisplayName>Bruce Absolom</DisplayName>
        <AccountId>11</AccountId>
        <AccountType/>
      </UserInfo>
      <UserInfo>
        <DisplayName>Darren Daly</DisplayName>
        <AccountId>28</AccountId>
        <AccountType/>
      </UserInfo>
      <UserInfo>
        <DisplayName>Alison Johns</DisplayName>
        <AccountId>44</AccountId>
        <AccountType/>
      </UserInfo>
      <UserInfo>
        <DisplayName>Dan Guthrie</DisplayName>
        <AccountId>27</AccountId>
        <AccountType/>
      </UserInfo>
      <UserInfo>
        <DisplayName>Mat Gallehawk</DisplayName>
        <AccountId>54</AccountId>
        <AccountType/>
      </UserInfo>
    </SharedWithUsers>
    <lcf76f155ced4ddcb4097134ff3c332f xmlns="3924b71c-c110-48ea-bc51-2f03443883fd">
      <Terms xmlns="http://schemas.microsoft.com/office/infopath/2007/PartnerControls"/>
    </lcf76f155ced4ddcb4097134ff3c332f>
    <TaxCatchAll xmlns="a7130040-a85f-40f6-8ab2-b11de916c767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4EA6FF5D9B274F9B14E2D5A664A837" ma:contentTypeVersion="16" ma:contentTypeDescription="Create a new document." ma:contentTypeScope="" ma:versionID="eea24480f4a880a39205568098e93603">
  <xsd:schema xmlns:xsd="http://www.w3.org/2001/XMLSchema" xmlns:xs="http://www.w3.org/2001/XMLSchema" xmlns:p="http://schemas.microsoft.com/office/2006/metadata/properties" xmlns:ns2="3924b71c-c110-48ea-bc51-2f03443883fd" xmlns:ns3="a7130040-a85f-40f6-8ab2-b11de916c767" targetNamespace="http://schemas.microsoft.com/office/2006/metadata/properties" ma:root="true" ma:fieldsID="4c7cd77b949086b1279d6a5eeabc8d95" ns2:_="" ns3:_="">
    <xsd:import namespace="3924b71c-c110-48ea-bc51-2f03443883fd"/>
    <xsd:import namespace="a7130040-a85f-40f6-8ab2-b11de916c76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MediaServiceLocation" minOccurs="0"/>
                <xsd:element ref="ns2:MediaServiceOCR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24b71c-c110-48ea-bc51-2f03443883f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Length (seconds)" ma:internalName="MediaLengthInSeconds" ma:readOnly="true">
      <xsd:simpleType>
        <xsd:restriction base="dms:Unknown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aa4b4f5b-7e7f-40ab-b7ea-a5809ffe522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130040-a85f-40f6-8ab2-b11de916c767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c23888e1-35fc-4571-b63e-221b2e37f53b}" ma:internalName="TaxCatchAll" ma:showField="CatchAllData" ma:web="a7130040-a85f-40f6-8ab2-b11de916c76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42B31D-4610-48D4-A236-4AD04B87836E}">
  <ds:schemaRefs>
    <ds:schemaRef ds:uri="3924b71c-c110-48ea-bc51-2f03443883fd"/>
    <ds:schemaRef ds:uri="a7130040-a85f-40f6-8ab2-b11de916c76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80A8F3F-4980-4BD9-9808-62A9D016BE4E}">
  <ds:schemaRefs>
    <ds:schemaRef ds:uri="3924b71c-c110-48ea-bc51-2f03443883fd"/>
    <ds:schemaRef ds:uri="a7130040-a85f-40f6-8ab2-b11de916c76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13B03469-525B-4B93-B6B9-C34AFC4DAFA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Application>Microsoft Office PowerPoint</Application>
  <PresentationFormat>On-screen Show (4:3)</PresentationFormat>
  <Slides>26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Cyber Security Awareness Campaign Launch </vt:lpstr>
      <vt:lpstr>PowerPoint Presentation</vt:lpstr>
      <vt:lpstr>Email/SMS Security Training</vt:lpstr>
      <vt:lpstr>Microsoft Defender – Data available</vt:lpstr>
      <vt:lpstr>Phishing Simulation</vt:lpstr>
      <vt:lpstr>Credential Harvest Simulations</vt:lpstr>
      <vt:lpstr>Key Take Aways for First Month</vt:lpstr>
      <vt:lpstr>Sample Report - Summary of First Month</vt:lpstr>
      <vt:lpstr>PowerPoint Presentation</vt:lpstr>
      <vt:lpstr>Further Simulations &amp; exercises being planned</vt:lpstr>
      <vt:lpstr>Malware / Attachments Simulation</vt:lpstr>
      <vt:lpstr>Malware Simulations</vt:lpstr>
      <vt:lpstr>Key Take Aways</vt:lpstr>
      <vt:lpstr>Overview of Second Month</vt:lpstr>
      <vt:lpstr>Ransomware Simulation</vt:lpstr>
      <vt:lpstr>Simulations</vt:lpstr>
      <vt:lpstr>Key Take Aways</vt:lpstr>
      <vt:lpstr>Overview of Third Month</vt:lpstr>
      <vt:lpstr>Future Months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 Gallehawk</dc:creator>
  <cp:revision>1</cp:revision>
  <cp:lastPrinted>2015-02-02T00:57:34Z</cp:lastPrinted>
  <dcterms:created xsi:type="dcterms:W3CDTF">2022-10-04T02:01:26Z</dcterms:created>
  <dcterms:modified xsi:type="dcterms:W3CDTF">2022-10-20T05:06:46Z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0x010100EF4EA6FF5D9B274F9B14E2D5A664A837</vt:lpwstr>
  </property>
  <property fmtid="{D5CDD505-2E9C-101B-9397-08002B2CF9AE}" pid="3" name="MediaServiceImageTags">
    <vt:lpwstr/>
  </property>
</Properties>
</file>