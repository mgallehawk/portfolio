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20"/>
  </p:notesMasterIdLst>
  <p:sldIdLst>
    <p:sldId id="287" r:id="rId5"/>
    <p:sldId id="381" r:id="rId6"/>
    <p:sldId id="395" r:id="rId7"/>
    <p:sldId id="393" r:id="rId8"/>
    <p:sldId id="388" r:id="rId9"/>
    <p:sldId id="398" r:id="rId10"/>
    <p:sldId id="402" r:id="rId11"/>
    <p:sldId id="397" r:id="rId12"/>
    <p:sldId id="403" r:id="rId13"/>
    <p:sldId id="401" r:id="rId14"/>
    <p:sldId id="399" r:id="rId15"/>
    <p:sldId id="404" r:id="rId16"/>
    <p:sldId id="400" r:id="rId17"/>
    <p:sldId id="405" r:id="rId18"/>
    <p:sldId id="306" r:id="rId19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5C4997-7FF8-9C08-50BF-F106406D0064}" name="Bruce Absolom" initials="BA" userId="S::bruce_absolom@gjames.com.au::808d7019-8e88-44db-97ed-d1a624fa3c95" providerId="AD"/>
  <p188:author id="{40A5DFDA-5CC7-2000-BFAB-7A132380A200}" name="Mat Gallehawk" initials="MG" userId="S::mathew_gallehawk@gjames.com.au::93dd6677-ad92-4f4d-8ebe-555150310a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FD254-DB21-445C-944E-5A8EBE81F25E}" v="4" dt="2023-01-31T02:13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71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31/01/2023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31/01/2023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31/01/2023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9B5B-2B42-4899-9C33-3CAA42A16ACB}"/>
              </a:ext>
            </a:extLst>
          </p:cNvPr>
          <p:cNvSpPr txBox="1">
            <a:spLocks/>
          </p:cNvSpPr>
          <p:nvPr/>
        </p:nvSpPr>
        <p:spPr>
          <a:xfrm>
            <a:off x="1672988" y="3248122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Campaign Plan 2022/23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AAB6-AECC-4A2B-81B7-0C038B99B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1"/>
          <a:stretch/>
        </p:blipFill>
        <p:spPr>
          <a:xfrm>
            <a:off x="251520" y="836712"/>
            <a:ext cx="8821684" cy="6036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E9AB3F-FDE4-4C29-A0FC-0F1081D31B70}"/>
              </a:ext>
            </a:extLst>
          </p:cNvPr>
          <p:cNvSpPr txBox="1"/>
          <p:nvPr/>
        </p:nvSpPr>
        <p:spPr>
          <a:xfrm>
            <a:off x="539552" y="260648"/>
            <a:ext cx="369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Current Threat levels (March extract)</a:t>
            </a:r>
          </a:p>
        </p:txBody>
      </p:sp>
    </p:spTree>
    <p:extLst>
      <p:ext uri="{BB962C8B-B14F-4D97-AF65-F5344CB8AC3E}">
        <p14:creationId xmlns:p14="http://schemas.microsoft.com/office/powerpoint/2010/main" val="34510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4404147"/>
          </a:xfrm>
        </p:spPr>
        <p:txBody>
          <a:bodyPr/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539552" y="144497"/>
            <a:ext cx="8231586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Cyber Security Awareness Campaign 2022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A4D314-B723-DF40-EA68-EA77355E0C88}"/>
              </a:ext>
            </a:extLst>
          </p:cNvPr>
          <p:cNvSpPr txBox="1">
            <a:spLocks/>
          </p:cNvSpPr>
          <p:nvPr/>
        </p:nvSpPr>
        <p:spPr bwMode="auto">
          <a:xfrm>
            <a:off x="539552" y="1484784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sz="1600" dirty="0"/>
              <a:t>Commenced November 2022.</a:t>
            </a:r>
          </a:p>
          <a:p>
            <a:pPr defTabSz="914400">
              <a:buClrTx/>
              <a:buSzTx/>
            </a:pPr>
            <a:r>
              <a:rPr lang="en-AU" sz="1600" dirty="0"/>
              <a:t>Released monthly phishing simulations.</a:t>
            </a:r>
          </a:p>
          <a:p>
            <a:pPr defTabSz="914400">
              <a:buClrTx/>
              <a:buSzTx/>
            </a:pPr>
            <a:r>
              <a:rPr lang="en-AU" sz="1600" dirty="0"/>
              <a:t>Received well by employees.</a:t>
            </a:r>
          </a:p>
          <a:p>
            <a:pPr defTabSz="914400">
              <a:buClrTx/>
              <a:buSzTx/>
            </a:pPr>
            <a:r>
              <a:rPr lang="en-AU" sz="1600" dirty="0"/>
              <a:t>Attacks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Credential harvesting.</a:t>
            </a:r>
          </a:p>
          <a:p>
            <a:pPr lvl="1" defTabSz="914400">
              <a:buClrTx/>
              <a:buSzTx/>
            </a:pPr>
            <a:r>
              <a:rPr lang="en-AU" sz="1400" dirty="0"/>
              <a:t>Malware dropping.</a:t>
            </a:r>
          </a:p>
          <a:p>
            <a:pPr defTabSz="914400">
              <a:buClrTx/>
              <a:buSzTx/>
            </a:pPr>
            <a:r>
              <a:rPr lang="en-AU" sz="1600" dirty="0"/>
              <a:t>Training covered:</a:t>
            </a:r>
          </a:p>
          <a:p>
            <a:pPr lvl="1" defTabSz="914400">
              <a:buClrTx/>
              <a:buSzTx/>
            </a:pPr>
            <a:r>
              <a:rPr lang="en-AU" sz="1400" dirty="0"/>
              <a:t>Email address &amp; URL scrutiny</a:t>
            </a:r>
          </a:p>
          <a:p>
            <a:pPr lvl="1" defTabSz="914400">
              <a:buClrTx/>
              <a:buSzTx/>
            </a:pPr>
            <a:r>
              <a:rPr lang="en-AU" sz="1400" dirty="0"/>
              <a:t>Email attachment safety.</a:t>
            </a:r>
          </a:p>
          <a:p>
            <a:pPr lvl="1" defTabSz="914400">
              <a:buClrTx/>
              <a:buSzTx/>
            </a:pPr>
            <a:r>
              <a:rPr lang="en-AU" sz="1400" dirty="0"/>
              <a:t>Email inconsistency red flags.</a:t>
            </a:r>
          </a:p>
          <a:p>
            <a:pPr defTabSz="914400">
              <a:buClrTx/>
              <a:buSzTx/>
            </a:pPr>
            <a:r>
              <a:rPr lang="en-AU" sz="1600" dirty="0"/>
              <a:t>Training vectors:</a:t>
            </a:r>
          </a:p>
          <a:p>
            <a:pPr lvl="1" defTabSz="914400">
              <a:buClrTx/>
              <a:buSzTx/>
            </a:pPr>
            <a:r>
              <a:rPr lang="en-AU" sz="1400" dirty="0"/>
              <a:t>Toolbox talks</a:t>
            </a:r>
          </a:p>
          <a:p>
            <a:pPr lvl="1" defTabSz="914400">
              <a:buClrTx/>
              <a:buSzTx/>
            </a:pPr>
            <a:r>
              <a:rPr lang="en-AU" sz="1400" dirty="0"/>
              <a:t>SharePoint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Microsoft tailored training. (Simulation response)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975939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Results 2022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6"/>
            <a:ext cx="7886700" cy="440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First Simulation:</a:t>
            </a:r>
          </a:p>
          <a:p>
            <a:pPr marL="457200" lvl="1" indent="0" defTabSz="914400">
              <a:buClrTx/>
              <a:buSzTx/>
              <a:buNone/>
            </a:pPr>
            <a:r>
              <a:rPr lang="en-AU" sz="1400" dirty="0" err="1"/>
              <a:t>Abobe</a:t>
            </a:r>
            <a:r>
              <a:rPr lang="en-AU" sz="1400" dirty="0"/>
              <a:t> licensing credential harvest attack, imitating an application that is used within G.James by most computer users. </a:t>
            </a:r>
          </a:p>
          <a:p>
            <a:pPr lvl="2" defTabSz="914400">
              <a:buClrTx/>
              <a:buSzTx/>
            </a:pPr>
            <a:r>
              <a:rPr lang="en-AU" sz="1200" dirty="0"/>
              <a:t>33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27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completed ‘Web Phishing’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Second Simulation:</a:t>
            </a:r>
          </a:p>
          <a:p>
            <a:pPr marL="457200" lvl="1" indent="0" defTabSz="914400">
              <a:buClrTx/>
              <a:buSzTx/>
              <a:buNone/>
            </a:pPr>
            <a:r>
              <a:rPr lang="en-AU" sz="1400" dirty="0"/>
              <a:t>Netflix account verification, credential harvest.</a:t>
            </a:r>
          </a:p>
          <a:p>
            <a:pPr lvl="2" defTabSz="914400">
              <a:buClrTx/>
              <a:buSzTx/>
            </a:pPr>
            <a:r>
              <a:rPr lang="en-AU" sz="1200" dirty="0"/>
              <a:t>16 Users clicked the malicious link.</a:t>
            </a:r>
          </a:p>
          <a:p>
            <a:pPr lvl="2" defTabSz="914400">
              <a:buClrTx/>
              <a:buSzTx/>
            </a:pPr>
            <a:r>
              <a:rPr lang="en-AU" sz="1200" dirty="0"/>
              <a:t>2 Users supplied credentials.</a:t>
            </a:r>
          </a:p>
          <a:p>
            <a:pPr lvl="2" defTabSz="914400">
              <a:buClrTx/>
              <a:buSzTx/>
            </a:pPr>
            <a:r>
              <a:rPr lang="en-AU" sz="1200" dirty="0"/>
              <a:t>12 Users completed ‘Mass Market Phishing’ training.</a:t>
            </a:r>
          </a:p>
          <a:p>
            <a:pPr lvl="2" defTabSz="914400">
              <a:buClrTx/>
              <a:buSzTx/>
            </a:pPr>
            <a:r>
              <a:rPr lang="en-AU" sz="1200" dirty="0"/>
              <a:t>1 User completed ‘Web Phishing’ training</a:t>
            </a:r>
          </a:p>
          <a:p>
            <a:pPr lvl="1" defTabSz="914400">
              <a:buClrTx/>
              <a:buSzTx/>
            </a:pPr>
            <a:r>
              <a:rPr lang="en-AU" sz="1400" dirty="0"/>
              <a:t>Third Simulation: Help desk malware dropper.</a:t>
            </a:r>
          </a:p>
          <a:p>
            <a:pPr lvl="2" defTabSz="914400">
              <a:buClrTx/>
              <a:buSzTx/>
            </a:pPr>
            <a:r>
              <a:rPr lang="en-AU" sz="1200" dirty="0"/>
              <a:t>13 Users downloaded the Malicious attachment file.</a:t>
            </a:r>
          </a:p>
          <a:p>
            <a:pPr lvl="2" defTabSz="914400">
              <a:buClrTx/>
              <a:buSzTx/>
            </a:pPr>
            <a:r>
              <a:rPr lang="en-AU" sz="1200" dirty="0"/>
              <a:t>11 Users completed ‘Malware’, ‘Ransomware’ and ‘Phishing Six Clues That Should Raise Your Suspicions’ trainings.</a:t>
            </a:r>
          </a:p>
          <a:p>
            <a:pPr lvl="2" defTabSz="914400">
              <a:buClrTx/>
              <a:buSzTx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4191966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717748" y="286540"/>
            <a:ext cx="6858000" cy="682529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 dirty="0"/>
              <a:t>Moving Forward In 2023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DCA9FB-08CB-916B-C2F3-0170616D0F3D}"/>
              </a:ext>
            </a:extLst>
          </p:cNvPr>
          <p:cNvSpPr txBox="1">
            <a:spLocks/>
          </p:cNvSpPr>
          <p:nvPr/>
        </p:nvSpPr>
        <p:spPr bwMode="auto">
          <a:xfrm>
            <a:off x="539552" y="1226927"/>
            <a:ext cx="7886700" cy="3353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914400">
              <a:buClrTx/>
              <a:buSzTx/>
            </a:pPr>
            <a:r>
              <a:rPr lang="en-AU" sz="1400" dirty="0"/>
              <a:t>Monthly Releases.</a:t>
            </a:r>
          </a:p>
          <a:p>
            <a:pPr lvl="1" defTabSz="914400">
              <a:buClrTx/>
              <a:buSzTx/>
            </a:pPr>
            <a:r>
              <a:rPr lang="en-AU" sz="1400" dirty="0"/>
              <a:t>Increased detection difficulty.</a:t>
            </a:r>
          </a:p>
          <a:p>
            <a:pPr lvl="1" defTabSz="914400">
              <a:buClrTx/>
              <a:buSzTx/>
            </a:pPr>
            <a:r>
              <a:rPr lang="en-AU" sz="1400" dirty="0"/>
              <a:t>Reinforce concepts from 2022.</a:t>
            </a:r>
          </a:p>
          <a:p>
            <a:pPr lvl="1" defTabSz="914400">
              <a:buClrTx/>
              <a:buSzTx/>
            </a:pPr>
            <a:r>
              <a:rPr lang="en-AU" sz="1400" dirty="0"/>
              <a:t>Diversify the Microsoft assigned training.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vectors: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business partners.</a:t>
            </a:r>
          </a:p>
          <a:p>
            <a:pPr lvl="2" defTabSz="914400">
              <a:buClrTx/>
              <a:buSzTx/>
            </a:pPr>
            <a:r>
              <a:rPr lang="en-AU" sz="1200" dirty="0"/>
              <a:t>Compromised internal.</a:t>
            </a:r>
          </a:p>
          <a:p>
            <a:pPr lvl="2" defTabSz="914400">
              <a:buClrTx/>
              <a:buSzTx/>
            </a:pPr>
            <a:r>
              <a:rPr lang="en-AU" sz="1200" dirty="0"/>
              <a:t>External service providers.</a:t>
            </a:r>
          </a:p>
          <a:p>
            <a:pPr lvl="1" defTabSz="914400">
              <a:buClrTx/>
              <a:buSzTx/>
            </a:pPr>
            <a:r>
              <a:rPr lang="en-AU" sz="1400" dirty="0"/>
              <a:t>Attack types:</a:t>
            </a:r>
          </a:p>
          <a:p>
            <a:pPr lvl="2" defTabSz="914400">
              <a:buClrTx/>
              <a:buSzTx/>
            </a:pPr>
            <a:r>
              <a:rPr lang="en-AU" sz="1200" dirty="0"/>
              <a:t>Credential harvesting.</a:t>
            </a:r>
          </a:p>
          <a:p>
            <a:pPr lvl="2" defTabSz="914400">
              <a:buClrTx/>
              <a:buSzTx/>
            </a:pPr>
            <a:r>
              <a:rPr lang="en-AU" sz="1200" dirty="0"/>
              <a:t>Malware attachments.</a:t>
            </a:r>
          </a:p>
          <a:p>
            <a:pPr lvl="2" defTabSz="914400">
              <a:buClrTx/>
              <a:buSzTx/>
            </a:pPr>
            <a:r>
              <a:rPr lang="en-AU" sz="1200" dirty="0"/>
              <a:t>Malicious URLs.</a:t>
            </a:r>
          </a:p>
          <a:p>
            <a:pPr marL="457200" lvl="1" indent="0" defTabSz="914400">
              <a:buClrTx/>
              <a:buSzTx/>
              <a:buNone/>
            </a:pPr>
            <a:endParaRPr lang="en-AU" sz="1400" dirty="0"/>
          </a:p>
          <a:p>
            <a:pPr lvl="2" defTabSz="914400">
              <a:buClrTx/>
              <a:buSzTx/>
            </a:pPr>
            <a:endParaRPr lang="en-AU" sz="1200" dirty="0"/>
          </a:p>
          <a:p>
            <a:pPr lvl="1" defTabSz="914400">
              <a:buClrTx/>
              <a:buSzTx/>
            </a:pP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56937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6AA0-112B-FF79-BFB1-C64F89A2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2023 Q1 Email phishing training ???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5430-87FE-BB5D-3C1B-7FECEE186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Sent Monthly (4 week intervals.)</a:t>
            </a:r>
          </a:p>
          <a:p>
            <a:r>
              <a:rPr lang="en-US" dirty="0"/>
              <a:t>Email Password reset (Drive by credential harvest)</a:t>
            </a:r>
          </a:p>
          <a:p>
            <a:pPr lvl="1"/>
            <a:r>
              <a:rPr lang="en-US" dirty="0"/>
              <a:t>Email password reset request from ICT Technology manager.</a:t>
            </a:r>
          </a:p>
          <a:p>
            <a:pPr lvl="1"/>
            <a:r>
              <a:rPr lang="en-US" dirty="0"/>
              <a:t>Ques: external banner, spelling, grammatical, URL and domain inconsistencies.</a:t>
            </a:r>
          </a:p>
          <a:p>
            <a:pPr lvl="1"/>
            <a:r>
              <a:rPr lang="en-US" dirty="0"/>
              <a:t>Plays on the fear of a password reset.</a:t>
            </a:r>
          </a:p>
          <a:p>
            <a:r>
              <a:rPr lang="en-US" dirty="0"/>
              <a:t>False quote (credential harvest)</a:t>
            </a:r>
          </a:p>
          <a:p>
            <a:pPr lvl="1"/>
            <a:r>
              <a:rPr lang="en-US" dirty="0"/>
              <a:t>Common attack vector for G.James.</a:t>
            </a:r>
          </a:p>
          <a:p>
            <a:pPr lvl="1"/>
            <a:r>
              <a:rPr lang="en-US" dirty="0"/>
              <a:t>Email from false client with a remittance or quote that is gated behind a log in.</a:t>
            </a:r>
          </a:p>
          <a:p>
            <a:pPr lvl="1"/>
            <a:r>
              <a:rPr lang="en-US" dirty="0"/>
              <a:t>Log in captures credentials.</a:t>
            </a:r>
          </a:p>
          <a:p>
            <a:pPr lvl="1"/>
            <a:r>
              <a:rPr lang="en-US" dirty="0"/>
              <a:t>Ques: external banner, URL, landing page, common practice inconsistencies. </a:t>
            </a:r>
          </a:p>
          <a:p>
            <a:r>
              <a:rPr lang="en-US" dirty="0"/>
              <a:t>Fake PDF attachment. (Malware dropper)</a:t>
            </a:r>
          </a:p>
          <a:p>
            <a:pPr lvl="1"/>
            <a:r>
              <a:rPr lang="en-US" dirty="0"/>
              <a:t>Common attack vector for G.James.</a:t>
            </a:r>
          </a:p>
          <a:p>
            <a:pPr lvl="1"/>
            <a:r>
              <a:rPr lang="en-US" dirty="0"/>
              <a:t>Email from false client with a remittance or quote that is in html file disguised as a PDF.</a:t>
            </a:r>
          </a:p>
          <a:p>
            <a:pPr lvl="1"/>
            <a:r>
              <a:rPr lang="en-US" dirty="0"/>
              <a:t>Fake PDF is malware that is downloaded and ran by user.</a:t>
            </a:r>
          </a:p>
          <a:p>
            <a:pPr lvl="1"/>
            <a:r>
              <a:rPr lang="en-US" dirty="0"/>
              <a:t>Ques: external banner, unsolicited email, attachment inconsistencies.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778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January 2023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/>
              <a:t>Attack: Drive-by URL</a:t>
            </a:r>
          </a:p>
          <a:p>
            <a:r>
              <a:rPr lang="en-AU" dirty="0"/>
              <a:t>This simulation will depict a compromised / impersonated IT account.</a:t>
            </a:r>
          </a:p>
          <a:p>
            <a:r>
              <a:rPr lang="en-AU" dirty="0"/>
              <a:t>The situation for the user: Email implies that the users password is about to change and they must click a link to keep it.</a:t>
            </a:r>
          </a:p>
          <a:p>
            <a:r>
              <a:rPr lang="en-AU" dirty="0"/>
              <a:t>The situation for the attacker: The user follows the link and adds their credentials which the attacker now has.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be able to identify that this process is not standard business practice.</a:t>
            </a:r>
          </a:p>
          <a:p>
            <a:r>
              <a:rPr lang="en-AU" dirty="0"/>
              <a:t>Users should be able to spot irregularities with the URL.</a:t>
            </a:r>
          </a:p>
          <a:p>
            <a:r>
              <a:rPr lang="en-AU" dirty="0"/>
              <a:t>Users should be able to spot irregularities with Email and Signature.</a:t>
            </a:r>
          </a:p>
          <a:p>
            <a:r>
              <a:rPr lang="en-AU" dirty="0"/>
              <a:t>Users should spot grammatical inconsistencies. </a:t>
            </a:r>
          </a:p>
        </p:txBody>
      </p:sp>
    </p:spTree>
    <p:extLst>
      <p:ext uri="{BB962C8B-B14F-4D97-AF65-F5344CB8AC3E}">
        <p14:creationId xmlns:p14="http://schemas.microsoft.com/office/powerpoint/2010/main" val="3196026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AFD-14F4-FC92-3661-4339D627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January 2023 email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182528-0E90-FA68-A97D-9762CE9C4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93794"/>
            <a:ext cx="7886700" cy="3533133"/>
          </a:xfrm>
        </p:spPr>
      </p:pic>
    </p:spTree>
    <p:extLst>
      <p:ext uri="{BB962C8B-B14F-4D97-AF65-F5344CB8AC3E}">
        <p14:creationId xmlns:p14="http://schemas.microsoft.com/office/powerpoint/2010/main" val="2275203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January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0729"/>
            <a:ext cx="7886700" cy="3040855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Results</a:t>
            </a:r>
          </a:p>
          <a:p>
            <a:pPr marL="0" indent="0">
              <a:buNone/>
            </a:pPr>
            <a:r>
              <a:rPr lang="en-AU" dirty="0"/>
              <a:t>Emails sent: 1808</a:t>
            </a:r>
          </a:p>
          <a:p>
            <a:pPr marL="0" indent="0">
              <a:buNone/>
            </a:pPr>
            <a:r>
              <a:rPr lang="en-AU" dirty="0"/>
              <a:t>Emails Deleted: 554</a:t>
            </a:r>
          </a:p>
          <a:p>
            <a:pPr marL="0" indent="0">
              <a:buNone/>
            </a:pPr>
            <a:r>
              <a:rPr lang="en-AU" dirty="0"/>
              <a:t>Emails Read: 554</a:t>
            </a:r>
          </a:p>
          <a:p>
            <a:pPr marL="0" indent="0">
              <a:buNone/>
            </a:pPr>
            <a:r>
              <a:rPr lang="en-AU" dirty="0"/>
              <a:t>Users Compromised: 58</a:t>
            </a:r>
          </a:p>
          <a:p>
            <a:pPr marL="0" indent="0">
              <a:buNone/>
            </a:pPr>
            <a:r>
              <a:rPr lang="en-AU" dirty="0"/>
              <a:t>Training completion (30/1): 31%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896082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February 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Credential Harvest</a:t>
            </a:r>
          </a:p>
          <a:p>
            <a:r>
              <a:rPr lang="en-AU" dirty="0"/>
              <a:t>This simulation will replicate a fictitious actor sharing a fake document that has a duplicate Microsoft login. </a:t>
            </a:r>
          </a:p>
          <a:p>
            <a:r>
              <a:rPr lang="en-AU" dirty="0"/>
              <a:t>These attacks a fairly common, attacker attempts to have the target sign in to view the document. The sign in procedure steals the credentials. 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know not to trust URL links.</a:t>
            </a:r>
          </a:p>
          <a:p>
            <a:r>
              <a:rPr lang="en-AU" dirty="0"/>
              <a:t>Users should be able to spot irregularities with the URL.</a:t>
            </a:r>
          </a:p>
          <a:p>
            <a:r>
              <a:rPr lang="en-AU" dirty="0"/>
              <a:t>Users should note that the sender is not known to them, email is unsolicited. </a:t>
            </a:r>
          </a:p>
        </p:txBody>
      </p:sp>
    </p:spTree>
    <p:extLst>
      <p:ext uri="{BB962C8B-B14F-4D97-AF65-F5344CB8AC3E}">
        <p14:creationId xmlns:p14="http://schemas.microsoft.com/office/powerpoint/2010/main" val="3412928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AFD-14F4-FC92-3661-4339D627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February 2023 email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CF9061-F0B5-B36A-29BA-31A7EE9A5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09119"/>
            <a:ext cx="7886700" cy="3139799"/>
          </a:xfrm>
        </p:spPr>
      </p:pic>
    </p:spTree>
    <p:extLst>
      <p:ext uri="{BB962C8B-B14F-4D97-AF65-F5344CB8AC3E}">
        <p14:creationId xmlns:p14="http://schemas.microsoft.com/office/powerpoint/2010/main" val="90248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A395-A726-2B52-4542-77844915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March 2023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88AC-A97F-DAC4-3A16-81AE20FC6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Malware drop.</a:t>
            </a:r>
          </a:p>
          <a:p>
            <a:r>
              <a:rPr lang="en-AU" dirty="0"/>
              <a:t>Malicious attachment.</a:t>
            </a:r>
          </a:p>
          <a:p>
            <a:r>
              <a:rPr lang="en-AU" dirty="0"/>
              <a:t>Html file disguised as pdf quote or purchase order.</a:t>
            </a:r>
          </a:p>
          <a:p>
            <a:r>
              <a:rPr lang="en-AU" dirty="0"/>
              <a:t>Increasingly common attack.</a:t>
            </a:r>
          </a:p>
          <a:p>
            <a:pPr marL="0" indent="0">
              <a:buNone/>
            </a:pPr>
            <a:r>
              <a:rPr lang="en-AU" dirty="0"/>
              <a:t>Ques:</a:t>
            </a:r>
          </a:p>
          <a:p>
            <a:r>
              <a:rPr lang="en-AU" dirty="0"/>
              <a:t>Users will have the external banner to indicate that the email may be deceptive.</a:t>
            </a:r>
          </a:p>
          <a:p>
            <a:r>
              <a:rPr lang="en-AU" dirty="0"/>
              <a:t>Users should note that the sender is not known to them, email is unsolicited. </a:t>
            </a:r>
          </a:p>
          <a:p>
            <a:r>
              <a:rPr lang="en-AU" dirty="0"/>
              <a:t>Users should be able to know the difference between a pdf and html attachment.</a:t>
            </a:r>
          </a:p>
          <a:p>
            <a:endParaRPr lang="en-AU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64574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EAFD-14F4-FC92-3661-4339D627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March 2023 email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CB7C81-7C4D-C2F5-EE78-CCB97ABB8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50490"/>
            <a:ext cx="7886700" cy="4457057"/>
          </a:xfrm>
        </p:spPr>
      </p:pic>
    </p:spTree>
    <p:extLst>
      <p:ext uri="{BB962C8B-B14F-4D97-AF65-F5344CB8AC3E}">
        <p14:creationId xmlns:p14="http://schemas.microsoft.com/office/powerpoint/2010/main" val="4029711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9421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Bruce Absolom</DisplayName>
        <AccountId>11</AccountId>
        <AccountType/>
      </UserInfo>
      <UserInfo>
        <DisplayName>Darren Daly</DisplayName>
        <AccountId>28</AccountId>
        <AccountType/>
      </UserInfo>
      <UserInfo>
        <DisplayName>Alison Johns</DisplayName>
        <AccountId>44</AccountId>
        <AccountType/>
      </UserInfo>
      <UserInfo>
        <DisplayName>Dan Guthrie</DisplayName>
        <AccountId>27</AccountId>
        <AccountType/>
      </UserInfo>
      <UserInfo>
        <DisplayName>Mat Gallehawk</DisplayName>
        <AccountId>54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B03469-525B-4B93-B6B9-C34AFC4DAF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42B31D-4610-48D4-A236-4AD04B87836E}">
  <ds:schemaRefs>
    <ds:schemaRef ds:uri="a7130040-a85f-40f6-8ab2-b11de916c767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3924b71c-c110-48ea-bc51-2f03443883f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80A8F3F-4980-4BD9-9808-62A9D016BE4E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1589</TotalTime>
  <Words>832</Words>
  <Application>Microsoft Office PowerPoint</Application>
  <PresentationFormat>On-screen Show (4:3)</PresentationFormat>
  <Paragraphs>116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2023 Q1 Email phishing training ???</vt:lpstr>
      <vt:lpstr>January 2023 </vt:lpstr>
      <vt:lpstr>January 2023 email</vt:lpstr>
      <vt:lpstr>January </vt:lpstr>
      <vt:lpstr>February  2023</vt:lpstr>
      <vt:lpstr>February 2023 email</vt:lpstr>
      <vt:lpstr>March 2023</vt:lpstr>
      <vt:lpstr>March 2023 email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9</cp:revision>
  <cp:lastPrinted>2015-02-02T00:57:34Z</cp:lastPrinted>
  <dcterms:created xsi:type="dcterms:W3CDTF">2022-10-04T02:01:26Z</dcterms:created>
  <dcterms:modified xsi:type="dcterms:W3CDTF">2023-02-01T02:55:03Z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