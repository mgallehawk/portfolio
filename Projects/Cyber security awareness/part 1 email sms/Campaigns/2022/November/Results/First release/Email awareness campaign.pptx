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1"/>
  </p:sldMasterIdLst>
  <p:notesMasterIdLst>
    <p:notesMasterId r:id="rId9"/>
  </p:notesMasterIdLst>
  <p:sldIdLst>
    <p:sldId id="287" r:id="rId2"/>
    <p:sldId id="288" r:id="rId3"/>
    <p:sldId id="297" r:id="rId4"/>
    <p:sldId id="298" r:id="rId5"/>
    <p:sldId id="300" r:id="rId6"/>
    <p:sldId id="302" r:id="rId7"/>
    <p:sldId id="301" r:id="rId8"/>
  </p:sldIdLst>
  <p:sldSz cx="9144000" cy="6858000" type="screen4x3"/>
  <p:notesSz cx="6799263" cy="9929813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FFFF"/>
    <a:srgbClr val="74D2E7"/>
    <a:srgbClr val="00BBDC"/>
    <a:srgbClr val="CCFFFF"/>
    <a:srgbClr val="C9C9C9"/>
    <a:srgbClr val="D5D5D5"/>
    <a:srgbClr val="C4C4C4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A8B6DA-FC17-4F98-9658-8106C1F48A6C}" v="16" dt="2022-11-22T03:49:27.5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>
      <p:cViewPr varScale="1">
        <p:scale>
          <a:sx n="76" d="100"/>
          <a:sy n="76" d="100"/>
        </p:scale>
        <p:origin x="1440" y="8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 Gallehawk" userId="93dd6677-ad92-4f4d-8ebe-555150310a93" providerId="ADAL" clId="{29A8B6DA-FC17-4F98-9658-8106C1F48A6C}"/>
    <pc:docChg chg="undo redo custSel addSld delSld modSld modNotesMaster">
      <pc:chgData name="Mat Gallehawk" userId="93dd6677-ad92-4f4d-8ebe-555150310a93" providerId="ADAL" clId="{29A8B6DA-FC17-4F98-9658-8106C1F48A6C}" dt="2022-11-22T03:55:57.114" v="2574"/>
      <pc:docMkLst>
        <pc:docMk/>
      </pc:docMkLst>
      <pc:sldChg chg="modSp mod">
        <pc:chgData name="Mat Gallehawk" userId="93dd6677-ad92-4f4d-8ebe-555150310a93" providerId="ADAL" clId="{29A8B6DA-FC17-4F98-9658-8106C1F48A6C}" dt="2022-11-22T01:23:58.934" v="78" actId="14100"/>
        <pc:sldMkLst>
          <pc:docMk/>
          <pc:sldMk cId="0" sldId="288"/>
        </pc:sldMkLst>
        <pc:spChg chg="mod">
          <ac:chgData name="Mat Gallehawk" userId="93dd6677-ad92-4f4d-8ebe-555150310a93" providerId="ADAL" clId="{29A8B6DA-FC17-4F98-9658-8106C1F48A6C}" dt="2022-11-22T01:23:58.934" v="78" actId="14100"/>
          <ac:spMkLst>
            <pc:docMk/>
            <pc:sldMk cId="0" sldId="288"/>
            <ac:spMk id="2" creationId="{00000000-0000-0000-0000-000000000000}"/>
          </ac:spMkLst>
        </pc:spChg>
      </pc:sldChg>
      <pc:sldChg chg="del">
        <pc:chgData name="Mat Gallehawk" userId="93dd6677-ad92-4f4d-8ebe-555150310a93" providerId="ADAL" clId="{29A8B6DA-FC17-4F98-9658-8106C1F48A6C}" dt="2022-11-22T03:33:12.640" v="1815" actId="47"/>
        <pc:sldMkLst>
          <pc:docMk/>
          <pc:sldMk cId="0" sldId="296"/>
        </pc:sldMkLst>
      </pc:sldChg>
      <pc:sldChg chg="modSp mod">
        <pc:chgData name="Mat Gallehawk" userId="93dd6677-ad92-4f4d-8ebe-555150310a93" providerId="ADAL" clId="{29A8B6DA-FC17-4F98-9658-8106C1F48A6C}" dt="2022-11-22T03:54:44.280" v="2573" actId="6549"/>
        <pc:sldMkLst>
          <pc:docMk/>
          <pc:sldMk cId="498560464" sldId="297"/>
        </pc:sldMkLst>
        <pc:spChg chg="mod">
          <ac:chgData name="Mat Gallehawk" userId="93dd6677-ad92-4f4d-8ebe-555150310a93" providerId="ADAL" clId="{29A8B6DA-FC17-4F98-9658-8106C1F48A6C}" dt="2022-11-22T02:54:14.355" v="543" actId="20577"/>
          <ac:spMkLst>
            <pc:docMk/>
            <pc:sldMk cId="498560464" sldId="297"/>
            <ac:spMk id="2" creationId="{00000000-0000-0000-0000-000000000000}"/>
          </ac:spMkLst>
        </pc:spChg>
        <pc:spChg chg="mod">
          <ac:chgData name="Mat Gallehawk" userId="93dd6677-ad92-4f4d-8ebe-555150310a93" providerId="ADAL" clId="{29A8B6DA-FC17-4F98-9658-8106C1F48A6C}" dt="2022-11-22T03:54:44.280" v="2573" actId="6549"/>
          <ac:spMkLst>
            <pc:docMk/>
            <pc:sldMk cId="498560464" sldId="297"/>
            <ac:spMk id="3" creationId="{00000000-0000-0000-0000-000000000000}"/>
          </ac:spMkLst>
        </pc:spChg>
      </pc:sldChg>
      <pc:sldChg chg="addSp modSp mod">
        <pc:chgData name="Mat Gallehawk" userId="93dd6677-ad92-4f4d-8ebe-555150310a93" providerId="ADAL" clId="{29A8B6DA-FC17-4F98-9658-8106C1F48A6C}" dt="2022-11-22T03:55:57.114" v="2574"/>
        <pc:sldMkLst>
          <pc:docMk/>
          <pc:sldMk cId="3065177915" sldId="298"/>
        </pc:sldMkLst>
        <pc:spChg chg="mod">
          <ac:chgData name="Mat Gallehawk" userId="93dd6677-ad92-4f4d-8ebe-555150310a93" providerId="ADAL" clId="{29A8B6DA-FC17-4F98-9658-8106C1F48A6C}" dt="2022-11-22T02:26:37.718" v="204" actId="14100"/>
          <ac:spMkLst>
            <pc:docMk/>
            <pc:sldMk cId="3065177915" sldId="298"/>
            <ac:spMk id="2" creationId="{00000000-0000-0000-0000-000000000000}"/>
          </ac:spMkLst>
        </pc:spChg>
        <pc:spChg chg="mod">
          <ac:chgData name="Mat Gallehawk" userId="93dd6677-ad92-4f4d-8ebe-555150310a93" providerId="ADAL" clId="{29A8B6DA-FC17-4F98-9658-8106C1F48A6C}" dt="2022-11-22T02:35:16.740" v="533" actId="20577"/>
          <ac:spMkLst>
            <pc:docMk/>
            <pc:sldMk cId="3065177915" sldId="298"/>
            <ac:spMk id="3" creationId="{00000000-0000-0000-0000-000000000000}"/>
          </ac:spMkLst>
        </pc:spChg>
        <pc:spChg chg="add mod">
          <ac:chgData name="Mat Gallehawk" userId="93dd6677-ad92-4f4d-8ebe-555150310a93" providerId="ADAL" clId="{29A8B6DA-FC17-4F98-9658-8106C1F48A6C}" dt="2022-11-22T02:26:51.892" v="213" actId="20577"/>
          <ac:spMkLst>
            <pc:docMk/>
            <pc:sldMk cId="3065177915" sldId="298"/>
            <ac:spMk id="6" creationId="{B170F36E-DB20-4D2A-B0CF-169F74C3A395}"/>
          </ac:spMkLst>
        </pc:spChg>
        <pc:spChg chg="add mod">
          <ac:chgData name="Mat Gallehawk" userId="93dd6677-ad92-4f4d-8ebe-555150310a93" providerId="ADAL" clId="{29A8B6DA-FC17-4F98-9658-8106C1F48A6C}" dt="2022-11-22T03:55:57.114" v="2574"/>
          <ac:spMkLst>
            <pc:docMk/>
            <pc:sldMk cId="3065177915" sldId="298"/>
            <ac:spMk id="7" creationId="{13CAC7D4-9C30-4180-A5D2-4DF80E1BF1EF}"/>
          </ac:spMkLst>
        </pc:spChg>
      </pc:sldChg>
      <pc:sldChg chg="modSp new del mod">
        <pc:chgData name="Mat Gallehawk" userId="93dd6677-ad92-4f4d-8ebe-555150310a93" providerId="ADAL" clId="{29A8B6DA-FC17-4F98-9658-8106C1F48A6C}" dt="2022-11-22T02:26:32.443" v="203" actId="2696"/>
        <pc:sldMkLst>
          <pc:docMk/>
          <pc:sldMk cId="1671606683" sldId="299"/>
        </pc:sldMkLst>
        <pc:spChg chg="mod">
          <ac:chgData name="Mat Gallehawk" userId="93dd6677-ad92-4f4d-8ebe-555150310a93" providerId="ADAL" clId="{29A8B6DA-FC17-4F98-9658-8106C1F48A6C}" dt="2022-11-22T02:15:44.459" v="114" actId="20577"/>
          <ac:spMkLst>
            <pc:docMk/>
            <pc:sldMk cId="1671606683" sldId="299"/>
            <ac:spMk id="2" creationId="{7C7F08FE-7BB5-4505-873B-13CC49DFEB9E}"/>
          </ac:spMkLst>
        </pc:spChg>
      </pc:sldChg>
      <pc:sldChg chg="addSp modSp new mod">
        <pc:chgData name="Mat Gallehawk" userId="93dd6677-ad92-4f4d-8ebe-555150310a93" providerId="ADAL" clId="{29A8B6DA-FC17-4F98-9658-8106C1F48A6C}" dt="2022-11-22T03:25:59.726" v="1812" actId="1076"/>
        <pc:sldMkLst>
          <pc:docMk/>
          <pc:sldMk cId="3633703778" sldId="300"/>
        </pc:sldMkLst>
        <pc:spChg chg="mod">
          <ac:chgData name="Mat Gallehawk" userId="93dd6677-ad92-4f4d-8ebe-555150310a93" providerId="ADAL" clId="{29A8B6DA-FC17-4F98-9658-8106C1F48A6C}" dt="2022-11-22T02:16:06.337" v="157" actId="20577"/>
          <ac:spMkLst>
            <pc:docMk/>
            <pc:sldMk cId="3633703778" sldId="300"/>
            <ac:spMk id="2" creationId="{C7127450-78E9-4F43-A09A-9D44BF1574A9}"/>
          </ac:spMkLst>
        </pc:spChg>
        <pc:spChg chg="mod">
          <ac:chgData name="Mat Gallehawk" userId="93dd6677-ad92-4f4d-8ebe-555150310a93" providerId="ADAL" clId="{29A8B6DA-FC17-4F98-9658-8106C1F48A6C}" dt="2022-11-22T03:25:41.621" v="1809" actId="20577"/>
          <ac:spMkLst>
            <pc:docMk/>
            <pc:sldMk cId="3633703778" sldId="300"/>
            <ac:spMk id="3" creationId="{175167E9-8D1D-4705-91A7-EE6387D3F939}"/>
          </ac:spMkLst>
        </pc:spChg>
        <pc:picChg chg="add mod">
          <ac:chgData name="Mat Gallehawk" userId="93dd6677-ad92-4f4d-8ebe-555150310a93" providerId="ADAL" clId="{29A8B6DA-FC17-4F98-9658-8106C1F48A6C}" dt="2022-11-22T03:25:59.726" v="1812" actId="1076"/>
          <ac:picMkLst>
            <pc:docMk/>
            <pc:sldMk cId="3633703778" sldId="300"/>
            <ac:picMk id="5" creationId="{D4E9F0D2-5F12-4B20-87A6-5FE6A10394D9}"/>
          </ac:picMkLst>
        </pc:picChg>
      </pc:sldChg>
      <pc:sldChg chg="modSp new del mod">
        <pc:chgData name="Mat Gallehawk" userId="93dd6677-ad92-4f4d-8ebe-555150310a93" providerId="ADAL" clId="{29A8B6DA-FC17-4F98-9658-8106C1F48A6C}" dt="2022-11-22T03:18:20.260" v="1562" actId="47"/>
        <pc:sldMkLst>
          <pc:docMk/>
          <pc:sldMk cId="769760166" sldId="301"/>
        </pc:sldMkLst>
        <pc:spChg chg="mod">
          <ac:chgData name="Mat Gallehawk" userId="93dd6677-ad92-4f4d-8ebe-555150310a93" providerId="ADAL" clId="{29A8B6DA-FC17-4F98-9658-8106C1F48A6C}" dt="2022-11-22T02:16:17.715" v="176" actId="20577"/>
          <ac:spMkLst>
            <pc:docMk/>
            <pc:sldMk cId="769760166" sldId="301"/>
            <ac:spMk id="2" creationId="{D2D1DC82-8863-4E5B-94EF-72760EB20B1E}"/>
          </ac:spMkLst>
        </pc:spChg>
      </pc:sldChg>
      <pc:sldChg chg="new">
        <pc:chgData name="Mat Gallehawk" userId="93dd6677-ad92-4f4d-8ebe-555150310a93" providerId="ADAL" clId="{29A8B6DA-FC17-4F98-9658-8106C1F48A6C}" dt="2022-11-22T03:33:10.432" v="1814" actId="680"/>
        <pc:sldMkLst>
          <pc:docMk/>
          <pc:sldMk cId="1136563135" sldId="301"/>
        </pc:sldMkLst>
      </pc:sldChg>
      <pc:sldChg chg="new del">
        <pc:chgData name="Mat Gallehawk" userId="93dd6677-ad92-4f4d-8ebe-555150310a93" providerId="ADAL" clId="{29A8B6DA-FC17-4F98-9658-8106C1F48A6C}" dt="2022-11-22T03:18:18.719" v="1561" actId="47"/>
        <pc:sldMkLst>
          <pc:docMk/>
          <pc:sldMk cId="158172793" sldId="302"/>
        </pc:sldMkLst>
      </pc:sldChg>
      <pc:sldChg chg="modSp new mod">
        <pc:chgData name="Mat Gallehawk" userId="93dd6677-ad92-4f4d-8ebe-555150310a93" providerId="ADAL" clId="{29A8B6DA-FC17-4F98-9658-8106C1F48A6C}" dt="2022-11-22T03:49:08.254" v="2490" actId="20577"/>
        <pc:sldMkLst>
          <pc:docMk/>
          <pc:sldMk cId="840917256" sldId="302"/>
        </pc:sldMkLst>
        <pc:spChg chg="mod">
          <ac:chgData name="Mat Gallehawk" userId="93dd6677-ad92-4f4d-8ebe-555150310a93" providerId="ADAL" clId="{29A8B6DA-FC17-4F98-9658-8106C1F48A6C}" dt="2022-11-22T03:33:28.231" v="1832" actId="20577"/>
          <ac:spMkLst>
            <pc:docMk/>
            <pc:sldMk cId="840917256" sldId="302"/>
            <ac:spMk id="2" creationId="{5E69017F-E0A2-4356-9DFE-2945E83A7C2B}"/>
          </ac:spMkLst>
        </pc:spChg>
        <pc:spChg chg="mod">
          <ac:chgData name="Mat Gallehawk" userId="93dd6677-ad92-4f4d-8ebe-555150310a93" providerId="ADAL" clId="{29A8B6DA-FC17-4F98-9658-8106C1F48A6C}" dt="2022-11-22T03:49:08.254" v="2490" actId="20577"/>
          <ac:spMkLst>
            <pc:docMk/>
            <pc:sldMk cId="840917256" sldId="302"/>
            <ac:spMk id="3" creationId="{04511323-BFD3-4FCB-9901-C8CE596FA4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0" y="1"/>
            <a:ext cx="6799263" cy="99298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58" tIns="45729" rIns="91458" bIns="45729" anchor="ctr"/>
          <a:lstStyle/>
          <a:p>
            <a:endParaRPr lang="en-AU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0" y="0"/>
            <a:ext cx="2947777" cy="496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58" tIns="45729" rIns="91458" bIns="45729" anchor="ctr"/>
          <a:lstStyle/>
          <a:p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51486" y="0"/>
            <a:ext cx="2946188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8" tIns="46809" rIns="90018" bIns="46809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583" algn="l"/>
                <a:tab pos="1829166" algn="l"/>
                <a:tab pos="2743749" algn="l"/>
                <a:tab pos="3658332" algn="l"/>
                <a:tab pos="4572914" algn="l"/>
                <a:tab pos="5487497" algn="l"/>
                <a:tab pos="6402080" algn="l"/>
                <a:tab pos="7316663" algn="l"/>
                <a:tab pos="8231246" algn="l"/>
                <a:tab pos="9145829" algn="l"/>
                <a:tab pos="10060412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994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19163" y="744538"/>
            <a:ext cx="4960937" cy="37211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9768" y="4717218"/>
            <a:ext cx="5439728" cy="4466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8" tIns="46809" rIns="90018" bIns="46809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0" y="9431259"/>
            <a:ext cx="2947777" cy="496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58" tIns="45729" rIns="91458" bIns="45729" anchor="ctr"/>
          <a:lstStyle/>
          <a:p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51486" y="9431258"/>
            <a:ext cx="2946188" cy="49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18" tIns="46809" rIns="90018" bIns="46809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583" algn="l"/>
                <a:tab pos="1829166" algn="l"/>
                <a:tab pos="2743749" algn="l"/>
                <a:tab pos="3658332" algn="l"/>
                <a:tab pos="4572914" algn="l"/>
                <a:tab pos="5487497" algn="l"/>
                <a:tab pos="6402080" algn="l"/>
                <a:tab pos="7316663" algn="l"/>
                <a:tab pos="8231246" algn="l"/>
                <a:tab pos="9145829" algn="l"/>
                <a:tab pos="10060412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2648A16-E134-4B8A-8E0B-E67E8027D83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78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0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35"/>
            <a:ext cx="6858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22/11/2022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0097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88"/>
            <a:ext cx="144938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22/11/2022</a:t>
            </a:fld>
            <a:endParaRPr lang="en-AU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88" y="6542088"/>
            <a:ext cx="92233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 dirty="0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786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447800" y="3892550"/>
            <a:ext cx="249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 dirty="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 dirty="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22/11/2022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123879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AU" dirty="0"/>
              <a:t>Email Safety Awareness Campaign</a:t>
            </a:r>
            <a:br>
              <a:rPr lang="en-AU" dirty="0"/>
            </a:br>
            <a:r>
              <a:rPr lang="en-AU" dirty="0"/>
              <a:t>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latin typeface="+mj-lt"/>
              </a:rPr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Over the last month we have been conducting Toolbox talks and disseminating information on email safety to G.James employees.</a:t>
            </a:r>
          </a:p>
          <a:p>
            <a:r>
              <a:rPr lang="en-AU" dirty="0"/>
              <a:t>9</a:t>
            </a:r>
            <a:r>
              <a:rPr lang="en-AU" baseline="30000" dirty="0"/>
              <a:t>th</a:t>
            </a:r>
            <a:r>
              <a:rPr lang="en-AU" dirty="0"/>
              <a:t> on November we launched the ABOBE simulation, designed to test and educate users on Email Safety.</a:t>
            </a:r>
          </a:p>
          <a:p>
            <a:r>
              <a:rPr lang="en-AU" dirty="0"/>
              <a:t>We decided that the first run would be designed to be easy to detect, this was received well by those who called into service desk.</a:t>
            </a:r>
          </a:p>
          <a:p>
            <a:r>
              <a:rPr lang="en-AU" dirty="0"/>
              <a:t>The </a:t>
            </a:r>
            <a:r>
              <a:rPr lang="en-AU" dirty="0" err="1"/>
              <a:t>Abobe</a:t>
            </a:r>
            <a:r>
              <a:rPr lang="en-AU" dirty="0"/>
              <a:t> email was a parody of an Adobe email with many spelling mistakes and some very questionable sender information.</a:t>
            </a:r>
          </a:p>
          <a:p>
            <a:r>
              <a:rPr lang="en-AU" dirty="0"/>
              <a:t>On 18</a:t>
            </a:r>
            <a:r>
              <a:rPr lang="en-AU" baseline="30000" dirty="0"/>
              <a:t>th</a:t>
            </a:r>
            <a:r>
              <a:rPr lang="en-AU" dirty="0"/>
              <a:t> of November we launched the Netflix simulation, with similar inconsistencies than the </a:t>
            </a:r>
            <a:r>
              <a:rPr lang="en-AU" dirty="0" err="1"/>
              <a:t>Abobe</a:t>
            </a:r>
            <a:r>
              <a:rPr lang="en-AU" dirty="0"/>
              <a:t> simulation. The end user should have realised that Netflix would not be emailing their work email and that the email was generic and not addressed to the user.</a:t>
            </a:r>
          </a:p>
          <a:p>
            <a:r>
              <a:rPr lang="en-AU" dirty="0"/>
              <a:t>Those who clicked the bait hyperlink were taken to a login page. </a:t>
            </a:r>
          </a:p>
          <a:p>
            <a:r>
              <a:rPr lang="en-AU" dirty="0"/>
              <a:t>Those who did so where issued Microsoft training.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98560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3943350" cy="471587"/>
          </a:xfrm>
        </p:spPr>
        <p:txBody>
          <a:bodyPr/>
          <a:lstStyle/>
          <a:p>
            <a:r>
              <a:rPr lang="en-AU" dirty="0"/>
              <a:t>Results for ABOBE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52736"/>
            <a:ext cx="3943350" cy="5196235"/>
          </a:xfrm>
        </p:spPr>
        <p:txBody>
          <a:bodyPr/>
          <a:lstStyle/>
          <a:p>
            <a:r>
              <a:rPr lang="en-AU" dirty="0"/>
              <a:t>Emails sent 1767.</a:t>
            </a:r>
          </a:p>
          <a:p>
            <a:r>
              <a:rPr lang="en-AU" dirty="0"/>
              <a:t>Emails read 569.</a:t>
            </a:r>
          </a:p>
          <a:p>
            <a:r>
              <a:rPr lang="en-AU" dirty="0"/>
              <a:t>Emails deleted 634.</a:t>
            </a:r>
          </a:p>
          <a:p>
            <a:r>
              <a:rPr lang="en-AU" dirty="0"/>
              <a:t>6% of users that read the email clicked the link.</a:t>
            </a:r>
          </a:p>
          <a:p>
            <a:r>
              <a:rPr lang="en-AU" dirty="0"/>
              <a:t>3% of users that read the email also added their credentials. </a:t>
            </a:r>
          </a:p>
          <a:p>
            <a:r>
              <a:rPr lang="en-AU" dirty="0"/>
              <a:t>52 employees were issued training.</a:t>
            </a:r>
          </a:p>
          <a:p>
            <a:r>
              <a:rPr lang="en-AU" dirty="0"/>
              <a:t>73% have completed training.</a:t>
            </a:r>
          </a:p>
          <a:p>
            <a:r>
              <a:rPr lang="en-AU" dirty="0"/>
              <a:t>27% Have outstanding training.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70F36E-DB20-4D2A-B0CF-169F74C3A395}"/>
              </a:ext>
            </a:extLst>
          </p:cNvPr>
          <p:cNvSpPr txBox="1">
            <a:spLocks/>
          </p:cNvSpPr>
          <p:nvPr/>
        </p:nvSpPr>
        <p:spPr bwMode="auto">
          <a:xfrm>
            <a:off x="4572000" y="365124"/>
            <a:ext cx="3943350" cy="4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tx1"/>
                </a:solidFill>
                <a:latin typeface="+mj-lt"/>
                <a:ea typeface="+mj-ea"/>
                <a:cs typeface="DINOT-Bold" panose="020B0804020101020102" pitchFamily="34" charset="0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</a:pPr>
            <a:r>
              <a:rPr lang="en-AU" dirty="0"/>
              <a:t>Results for Netflix Simulation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CAC7D4-9C30-4180-A5D2-4DF80E1BF1EF}"/>
              </a:ext>
            </a:extLst>
          </p:cNvPr>
          <p:cNvSpPr txBox="1">
            <a:spLocks/>
          </p:cNvSpPr>
          <p:nvPr/>
        </p:nvSpPr>
        <p:spPr bwMode="auto">
          <a:xfrm>
            <a:off x="4572000" y="1003300"/>
            <a:ext cx="3943350" cy="5196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buClrTx/>
              <a:buSzTx/>
            </a:pPr>
            <a:r>
              <a:rPr lang="en-AU" dirty="0"/>
              <a:t>Emails sent 1777.</a:t>
            </a:r>
          </a:p>
          <a:p>
            <a:pPr defTabSz="914400">
              <a:buClrTx/>
              <a:buSzTx/>
            </a:pPr>
            <a:r>
              <a:rPr lang="en-AU" dirty="0"/>
              <a:t>Emails read 419.</a:t>
            </a:r>
          </a:p>
          <a:p>
            <a:pPr defTabSz="914400">
              <a:buClrTx/>
              <a:buSzTx/>
            </a:pPr>
            <a:r>
              <a:rPr lang="en-AU" dirty="0"/>
              <a:t>Emails deleted 702.</a:t>
            </a:r>
          </a:p>
          <a:p>
            <a:pPr defTabSz="914400">
              <a:buClrTx/>
              <a:buSzTx/>
            </a:pPr>
            <a:r>
              <a:rPr lang="en-AU" dirty="0"/>
              <a:t>4% of users that read the email clicked the link.</a:t>
            </a:r>
          </a:p>
          <a:p>
            <a:pPr defTabSz="914400">
              <a:buClrTx/>
              <a:buSzTx/>
            </a:pPr>
            <a:r>
              <a:rPr lang="en-AU" dirty="0"/>
              <a:t>0.5% of users that read the email also added their credentials. </a:t>
            </a:r>
          </a:p>
          <a:p>
            <a:pPr defTabSz="914400">
              <a:buClrTx/>
              <a:buSzTx/>
            </a:pPr>
            <a:r>
              <a:rPr lang="en-AU" dirty="0"/>
              <a:t>16 employees were issued training.</a:t>
            </a:r>
          </a:p>
          <a:p>
            <a:pPr defTabSz="914400">
              <a:buClrTx/>
              <a:buSzTx/>
            </a:pPr>
            <a:r>
              <a:rPr lang="en-AU" dirty="0"/>
              <a:t>25% have completed training.</a:t>
            </a:r>
          </a:p>
          <a:p>
            <a:pPr defTabSz="914400">
              <a:buClrTx/>
              <a:buSzTx/>
            </a:pPr>
            <a:r>
              <a:rPr lang="en-AU" dirty="0"/>
              <a:t>75% Have outstanding training.</a:t>
            </a:r>
          </a:p>
          <a:p>
            <a:pPr defTabSz="914400">
              <a:buClrTx/>
              <a:buSzTx/>
            </a:pPr>
            <a:endParaRPr lang="en-AU" dirty="0"/>
          </a:p>
          <a:p>
            <a:pPr defTabSz="914400">
              <a:buClrTx/>
              <a:buSzTx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5177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27450-78E9-4F43-A09A-9D44BF157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Cumulative results vs Expected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167E9-8D1D-4705-91A7-EE6387D3F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Microsoft predicted that the catch rate for these simulations would be approximately 44%, actual compromised rate was only 1%.</a:t>
            </a:r>
          </a:p>
          <a:p>
            <a:r>
              <a:rPr lang="en-AU" dirty="0"/>
              <a:t>These emails where designed to be easy, and many shared accounts where included in the distribution. </a:t>
            </a: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9F0D2-5F12-4B20-87A6-5FE6A1039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042" y="2348880"/>
            <a:ext cx="7524328" cy="316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03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9017F-E0A2-4356-9DFE-2945E83A7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Moving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11323-BFD3-4FCB-9901-C8CE596FA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For December we plan to release two emails with fictitious malware attachments.</a:t>
            </a:r>
          </a:p>
          <a:p>
            <a:r>
              <a:rPr lang="en-AU" dirty="0"/>
              <a:t>These emails should be harder to detect for the end user.</a:t>
            </a:r>
          </a:p>
          <a:p>
            <a:r>
              <a:rPr lang="en-AU" dirty="0"/>
              <a:t>End users should be able to use what has been covered in the first two and spot the inconsistencies.</a:t>
            </a:r>
          </a:p>
          <a:p>
            <a:r>
              <a:rPr lang="en-AU" dirty="0"/>
              <a:t>End users have been instructed in how to treat executables on emails, in the toolboxes that have been conducted.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0917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656313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F8ADE0-2BBF-4163-AA2E-652BC18FA77B}"/>
</file>

<file path=customXml/itemProps2.xml><?xml version="1.0" encoding="utf-8"?>
<ds:datastoreItem xmlns:ds="http://schemas.openxmlformats.org/officeDocument/2006/customXml" ds:itemID="{C3404CC3-3DFE-4D1B-AC7C-B12CE9E02EB2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101</TotalTime>
  <Words>394</Words>
  <Application>Microsoft Office PowerPoint</Application>
  <PresentationFormat>On-screen Show (4:3)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DINOT</vt:lpstr>
      <vt:lpstr>Roboto Condensed</vt:lpstr>
      <vt:lpstr>Roboto Condensed Light</vt:lpstr>
      <vt:lpstr>Times New Roman</vt:lpstr>
      <vt:lpstr>1_Office Theme</vt:lpstr>
      <vt:lpstr>PowerPoint Presentation</vt:lpstr>
      <vt:lpstr>Email Safety Awareness Campaign Results</vt:lpstr>
      <vt:lpstr>Recap</vt:lpstr>
      <vt:lpstr>Results for ABOBE Simulation</vt:lpstr>
      <vt:lpstr>Cumulative results vs Expected results</vt:lpstr>
      <vt:lpstr>Moving Forward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 Gallehawk</dc:creator>
  <cp:lastModifiedBy>Mat Gallehawk</cp:lastModifiedBy>
  <cp:revision>1</cp:revision>
  <cp:lastPrinted>2022-11-22T03:49:30Z</cp:lastPrinted>
  <dcterms:created xsi:type="dcterms:W3CDTF">2022-11-22T01:22:41Z</dcterms:created>
  <dcterms:modified xsi:type="dcterms:W3CDTF">2022-11-22T03:56:05Z</dcterms:modified>
</cp:coreProperties>
</file>