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Titillium Web"/>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MBWeW9AFlWv/9u8TjnkQauSrQ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CFCC47-39CF-44EA-84CA-CCB925E03AFC}">
  <a:tblStyle styleId="{4ECFCC47-39CF-44EA-84CA-CCB925E03AF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TitilliumWeb-bold.fntdata"/><Relationship Id="rId16" Type="http://schemas.openxmlformats.org/officeDocument/2006/relationships/font" Target="fonts/TitilliumWeb-regular.fntdata"/><Relationship Id="rId5" Type="http://schemas.openxmlformats.org/officeDocument/2006/relationships/notesMaster" Target="notesMasters/notesMaster1.xml"/><Relationship Id="rId19" Type="http://schemas.openxmlformats.org/officeDocument/2006/relationships/font" Target="fonts/TitilliumWeb-boldItalic.fntdata"/><Relationship Id="rId6" Type="http://schemas.openxmlformats.org/officeDocument/2006/relationships/slide" Target="slides/slide1.xml"/><Relationship Id="rId18" Type="http://schemas.openxmlformats.org/officeDocument/2006/relationships/font" Target="fonts/TitilliumWeb-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b546b0d33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25b546b0d3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5b546b0d33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25b546b0d33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700" scaled="0"/>
        </a:gra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3.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4.jpg"/><Relationship Id="rId5"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 name="Google Shape;85;p1"/>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 name="Google Shape;86;p1"/>
          <p:cNvSpPr txBox="1"/>
          <p:nvPr>
            <p:ph type="ctrTitle"/>
          </p:nvPr>
        </p:nvSpPr>
        <p:spPr>
          <a:xfrm>
            <a:off x="558165" y="1153572"/>
            <a:ext cx="3694345"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None/>
            </a:pPr>
            <a:r>
              <a:rPr lang="en-AU" sz="4100">
                <a:solidFill>
                  <a:srgbClr val="FFFFFF"/>
                </a:solidFill>
                <a:latin typeface="Arial"/>
                <a:ea typeface="Arial"/>
                <a:cs typeface="Arial"/>
                <a:sym typeface="Arial"/>
              </a:rPr>
              <a:t>Presentation 1</a:t>
            </a:r>
            <a:endParaRPr/>
          </a:p>
        </p:txBody>
      </p:sp>
      <p:sp>
        <p:nvSpPr>
          <p:cNvPr id="87" name="Google Shape;87;p1"/>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88" name="Google Shape;88;p1"/>
          <p:cNvSpPr txBox="1"/>
          <p:nvPr>
            <p:ph idx="1" type="subTitle"/>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3057"/>
              </a:buClr>
              <a:buSzPts val="2400"/>
              <a:buNone/>
            </a:pPr>
            <a:r>
              <a:rPr b="1" i="0" lang="en-AU" cap="none">
                <a:solidFill>
                  <a:schemeClr val="dk1"/>
                </a:solidFill>
                <a:latin typeface="Arial"/>
                <a:ea typeface="Arial"/>
                <a:cs typeface="Arial"/>
                <a:sym typeface="Arial"/>
              </a:rPr>
              <a:t>COIT11241</a:t>
            </a:r>
            <a:endParaRPr/>
          </a:p>
          <a:p>
            <a:pPr indent="0" lvl="0" marL="0" rtl="0" algn="l">
              <a:lnSpc>
                <a:spcPct val="90000"/>
              </a:lnSpc>
              <a:spcBef>
                <a:spcPts val="0"/>
              </a:spcBef>
              <a:spcAft>
                <a:spcPts val="0"/>
              </a:spcAft>
              <a:buClr>
                <a:srgbClr val="003057"/>
              </a:buClr>
              <a:buSzPts val="2400"/>
              <a:buNone/>
            </a:pPr>
            <a:r>
              <a:rPr b="1" i="0" lang="en-AU" cap="none">
                <a:solidFill>
                  <a:schemeClr val="dk1"/>
                </a:solidFill>
                <a:latin typeface="Arial"/>
                <a:ea typeface="Arial"/>
                <a:cs typeface="Arial"/>
                <a:sym typeface="Arial"/>
              </a:rPr>
              <a:t>JAMIE SHIELD</a:t>
            </a:r>
            <a:br>
              <a:rPr b="1" i="0" lang="en-AU" cap="none">
                <a:solidFill>
                  <a:schemeClr val="dk1"/>
                </a:solidFill>
                <a:latin typeface="Arial"/>
                <a:ea typeface="Arial"/>
                <a:cs typeface="Arial"/>
                <a:sym typeface="Arial"/>
              </a:rPr>
            </a:br>
            <a:r>
              <a:rPr b="1" i="0" lang="en-AU" cap="none">
                <a:solidFill>
                  <a:schemeClr val="dk1"/>
                </a:solidFill>
                <a:latin typeface="Arial"/>
                <a:ea typeface="Arial"/>
                <a:cs typeface="Arial"/>
                <a:sym typeface="Arial"/>
              </a:rPr>
              <a:t>TERM 2 2023</a:t>
            </a:r>
            <a:endParaRPr>
              <a:solidFill>
                <a:schemeClr val="dk1"/>
              </a:solidFill>
              <a:latin typeface="Arial"/>
              <a:ea typeface="Arial"/>
              <a:cs typeface="Arial"/>
              <a:sym typeface="Arial"/>
            </a:endParaRPr>
          </a:p>
          <a:p>
            <a:pPr indent="152400" lvl="0" marL="0" rtl="0" algn="l">
              <a:lnSpc>
                <a:spcPct val="90000"/>
              </a:lnSpc>
              <a:spcBef>
                <a:spcPts val="1000"/>
              </a:spcBef>
              <a:spcAft>
                <a:spcPts val="0"/>
              </a:spcAft>
              <a:buClr>
                <a:schemeClr val="dk1"/>
              </a:buClr>
              <a:buSzPts val="2400"/>
              <a:buFont typeface="Arial"/>
              <a:buNone/>
            </a:pPr>
            <a:r>
              <a:t/>
            </a:r>
            <a:endParaRPr b="1" cap="none">
              <a:solidFill>
                <a:schemeClr val="dk1"/>
              </a:solidFill>
              <a:latin typeface="Arial"/>
              <a:ea typeface="Arial"/>
              <a:cs typeface="Arial"/>
              <a:sym typeface="Arial"/>
            </a:endParaRPr>
          </a:p>
          <a:p>
            <a:pPr indent="0" lvl="0" marL="0" rtl="0" algn="l">
              <a:lnSpc>
                <a:spcPct val="90000"/>
              </a:lnSpc>
              <a:spcBef>
                <a:spcPts val="1000"/>
              </a:spcBef>
              <a:spcAft>
                <a:spcPts val="0"/>
              </a:spcAft>
              <a:buClr>
                <a:srgbClr val="003057"/>
              </a:buClr>
              <a:buSzPts val="2400"/>
              <a:buFont typeface="Arial"/>
              <a:buChar char="•"/>
            </a:pPr>
            <a:r>
              <a:rPr b="1" i="0" lang="en-AU" cap="none">
                <a:solidFill>
                  <a:schemeClr val="dk1"/>
                </a:solidFill>
                <a:latin typeface="Arial"/>
                <a:ea typeface="Arial"/>
                <a:cs typeface="Arial"/>
                <a:sym typeface="Arial"/>
              </a:rPr>
              <a:t>CHELSEA AJISAKA</a:t>
            </a:r>
            <a:endParaRPr/>
          </a:p>
          <a:p>
            <a:pPr indent="0" lvl="0" marL="0" rtl="0" algn="l">
              <a:lnSpc>
                <a:spcPct val="90000"/>
              </a:lnSpc>
              <a:spcBef>
                <a:spcPts val="1000"/>
              </a:spcBef>
              <a:spcAft>
                <a:spcPts val="0"/>
              </a:spcAft>
              <a:buClr>
                <a:srgbClr val="003057"/>
              </a:buClr>
              <a:buSzPts val="2400"/>
              <a:buFont typeface="Arial"/>
              <a:buChar char="•"/>
            </a:pPr>
            <a:r>
              <a:rPr b="1" lang="en-AU">
                <a:solidFill>
                  <a:schemeClr val="dk1"/>
                </a:solidFill>
                <a:latin typeface="Arial"/>
                <a:ea typeface="Arial"/>
                <a:cs typeface="Arial"/>
                <a:sym typeface="Arial"/>
              </a:rPr>
              <a:t>FRANCIS RENZAHO</a:t>
            </a:r>
            <a:endParaRPr/>
          </a:p>
          <a:p>
            <a:pPr indent="0" lvl="0" marL="0" rtl="0" algn="l">
              <a:lnSpc>
                <a:spcPct val="90000"/>
              </a:lnSpc>
              <a:spcBef>
                <a:spcPts val="1000"/>
              </a:spcBef>
              <a:spcAft>
                <a:spcPts val="0"/>
              </a:spcAft>
              <a:buClr>
                <a:srgbClr val="003057"/>
              </a:buClr>
              <a:buSzPts val="2400"/>
              <a:buFont typeface="Arial"/>
              <a:buChar char="•"/>
            </a:pPr>
            <a:r>
              <a:rPr b="1" lang="en-AU" cap="none">
                <a:solidFill>
                  <a:schemeClr val="dk1"/>
                </a:solidFill>
                <a:latin typeface="Arial"/>
                <a:ea typeface="Arial"/>
                <a:cs typeface="Arial"/>
                <a:sym typeface="Arial"/>
              </a:rPr>
              <a:t>MATHEW GALLEHAWK</a:t>
            </a:r>
            <a:endParaRPr b="1" i="0" cap="none">
              <a:solidFill>
                <a:schemeClr val="dk1"/>
              </a:solidFill>
              <a:latin typeface="Arial"/>
              <a:ea typeface="Arial"/>
              <a:cs typeface="Arial"/>
              <a:sym typeface="Arial"/>
            </a:endParaRPr>
          </a:p>
          <a:p>
            <a:pPr indent="152400" lvl="0" marL="0" rtl="0" algn="l">
              <a:lnSpc>
                <a:spcPct val="90000"/>
              </a:lnSpc>
              <a:spcBef>
                <a:spcPts val="1000"/>
              </a:spcBef>
              <a:spcAft>
                <a:spcPts val="0"/>
              </a:spcAft>
              <a:buClr>
                <a:schemeClr val="dk1"/>
              </a:buClr>
              <a:buSzPts val="2400"/>
              <a:buFont typeface="Arial"/>
              <a:buNone/>
            </a:pPr>
            <a:r>
              <a:t/>
            </a:r>
            <a:endParaRPr b="1" i="0" cap="none">
              <a:solidFill>
                <a:schemeClr val="dk1"/>
              </a:solidFill>
              <a:latin typeface="Arial"/>
              <a:ea typeface="Arial"/>
              <a:cs typeface="Arial"/>
              <a:sym typeface="Arial"/>
            </a:endParaRPr>
          </a:p>
          <a:p>
            <a:pPr indent="152400" lvl="0" marL="0" rtl="0" algn="l">
              <a:lnSpc>
                <a:spcPct val="90000"/>
              </a:lnSpc>
              <a:spcBef>
                <a:spcPts val="1000"/>
              </a:spcBef>
              <a:spcAft>
                <a:spcPts val="0"/>
              </a:spcAft>
              <a:buClr>
                <a:schemeClr val="dk1"/>
              </a:buClr>
              <a:buSzPts val="2400"/>
              <a:buFont typeface="Arial"/>
              <a:buNone/>
            </a:pPr>
            <a:r>
              <a:t/>
            </a:r>
            <a:endParaRPr>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2"/>
          <p:cNvSpPr/>
          <p:nvPr/>
        </p:nvSpPr>
        <p:spPr>
          <a:xfrm flipH="1" rot="3967198">
            <a:off x="8631348" y="490493"/>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 name="Google Shape;95;p2"/>
          <p:cNvSpPr txBox="1"/>
          <p:nvPr>
            <p:ph type="title"/>
          </p:nvPr>
        </p:nvSpPr>
        <p:spPr>
          <a:xfrm>
            <a:off x="5894962" y="479493"/>
            <a:ext cx="545883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AU"/>
              <a:t>What is VPN</a:t>
            </a:r>
            <a:endParaRPr/>
          </a:p>
        </p:txBody>
      </p:sp>
      <p:sp>
        <p:nvSpPr>
          <p:cNvPr id="96" name="Google Shape;96;p2"/>
          <p:cNvSpPr/>
          <p:nvPr/>
        </p:nvSpPr>
        <p:spPr>
          <a:xfrm flipH="1">
            <a:off x="0"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VPN illustration.&#10;https://theconversation.com/explainer-what-is-a-virtual-private-network-vpn-12741" id="97" name="Google Shape;97;p2"/>
          <p:cNvPicPr preferRelativeResize="0"/>
          <p:nvPr/>
        </p:nvPicPr>
        <p:blipFill rotWithShape="1">
          <a:blip r:embed="rId3">
            <a:alphaModFix/>
          </a:blip>
          <a:srcRect b="0" l="0" r="0" t="0"/>
          <a:stretch/>
        </p:blipFill>
        <p:spPr>
          <a:xfrm>
            <a:off x="703182" y="1970631"/>
            <a:ext cx="4777381" cy="2746993"/>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98" name="Google Shape;98;p2"/>
          <p:cNvSpPr txBox="1"/>
          <p:nvPr/>
        </p:nvSpPr>
        <p:spPr>
          <a:xfrm>
            <a:off x="703181" y="4827312"/>
            <a:ext cx="4777381" cy="427734"/>
          </a:xfrm>
          <a:prstGeom prst="rect">
            <a:avLst/>
          </a:prstGeom>
          <a:solidFill>
            <a:srgbClr val="000000">
              <a:alpha val="4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600"/>
              </a:spcAft>
              <a:buNone/>
            </a:pPr>
            <a:r>
              <a:rPr b="0" i="0" lang="en-AU" sz="1000" u="none" cap="none" strike="noStrike">
                <a:solidFill>
                  <a:srgbClr val="FFFFFF"/>
                </a:solidFill>
                <a:latin typeface="Arial"/>
                <a:ea typeface="Arial"/>
                <a:cs typeface="Arial"/>
                <a:sym typeface="Arial"/>
              </a:rPr>
              <a:t>IMG: illustration of VPN.</a:t>
            </a:r>
            <a:br>
              <a:rPr b="0" i="0" lang="en-AU" sz="1000" u="none" cap="none" strike="noStrike">
                <a:solidFill>
                  <a:srgbClr val="FFFFFF"/>
                </a:solidFill>
                <a:latin typeface="Arial"/>
                <a:ea typeface="Arial"/>
                <a:cs typeface="Arial"/>
                <a:sym typeface="Arial"/>
              </a:rPr>
            </a:br>
            <a:r>
              <a:rPr b="0" i="0" lang="en-AU" sz="1000" u="none" cap="none" strike="noStrike">
                <a:solidFill>
                  <a:srgbClr val="FFFFFF"/>
                </a:solidFill>
                <a:latin typeface="Arial"/>
                <a:ea typeface="Arial"/>
                <a:cs typeface="Arial"/>
                <a:sym typeface="Arial"/>
              </a:rPr>
              <a:t>https://theconversation.com/explainer-what-is-a-virtual-private-network-vpn-12741</a:t>
            </a:r>
            <a:endParaRPr b="0" i="0" sz="1000" u="none" cap="none" strike="noStrike">
              <a:solidFill>
                <a:srgbClr val="FFFFFF"/>
              </a:solidFill>
              <a:latin typeface="Arial"/>
              <a:ea typeface="Arial"/>
              <a:cs typeface="Arial"/>
              <a:sym typeface="Arial"/>
            </a:endParaRPr>
          </a:p>
        </p:txBody>
      </p:sp>
      <p:grpSp>
        <p:nvGrpSpPr>
          <p:cNvPr id="99" name="Google Shape;99;p2"/>
          <p:cNvGrpSpPr/>
          <p:nvPr/>
        </p:nvGrpSpPr>
        <p:grpSpPr>
          <a:xfrm>
            <a:off x="6071641" y="1985170"/>
            <a:ext cx="5105478" cy="4191064"/>
            <a:chOff x="176679" y="727"/>
            <a:chExt cx="5105478" cy="4191064"/>
          </a:xfrm>
        </p:grpSpPr>
        <p:sp>
          <p:nvSpPr>
            <p:cNvPr id="100" name="Google Shape;100;p2"/>
            <p:cNvSpPr/>
            <p:nvPr/>
          </p:nvSpPr>
          <p:spPr>
            <a:xfrm>
              <a:off x="473864" y="727"/>
              <a:ext cx="929654" cy="929654"/>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671987" y="198850"/>
              <a:ext cx="533408" cy="533408"/>
            </a:xfrm>
            <a:prstGeom prst="rect">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176679" y="1219946"/>
              <a:ext cx="1524023" cy="6858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txBox="1"/>
            <p:nvPr/>
          </p:nvSpPr>
          <p:spPr>
            <a:xfrm>
              <a:off x="176679" y="1219946"/>
              <a:ext cx="1524023" cy="68581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AU" sz="1100" u="none" cap="none" strike="noStrike">
                  <a:solidFill>
                    <a:srgbClr val="000000"/>
                  </a:solidFill>
                  <a:latin typeface="Arial"/>
                  <a:ea typeface="Arial"/>
                  <a:cs typeface="Arial"/>
                  <a:sym typeface="Arial"/>
                </a:rPr>
                <a:t>VIRTUAL PRIVATE NETWORK.</a:t>
              </a:r>
              <a:endParaRPr b="0" i="0" sz="1100" u="none" cap="none" strike="noStrike">
                <a:solidFill>
                  <a:srgbClr val="000000"/>
                </a:solidFill>
                <a:latin typeface="Arial"/>
                <a:ea typeface="Arial"/>
                <a:cs typeface="Arial"/>
                <a:sym typeface="Arial"/>
              </a:endParaRPr>
            </a:p>
          </p:txBody>
        </p:sp>
        <p:sp>
          <p:nvSpPr>
            <p:cNvPr id="104" name="Google Shape;104;p2"/>
            <p:cNvSpPr/>
            <p:nvPr/>
          </p:nvSpPr>
          <p:spPr>
            <a:xfrm>
              <a:off x="2264591" y="727"/>
              <a:ext cx="929654" cy="929654"/>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2462714" y="198850"/>
              <a:ext cx="533408" cy="533408"/>
            </a:xfrm>
            <a:prstGeom prst="rect">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1967407" y="1219946"/>
              <a:ext cx="1524023" cy="6858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txBox="1"/>
            <p:nvPr/>
          </p:nvSpPr>
          <p:spPr>
            <a:xfrm>
              <a:off x="1967407" y="1219946"/>
              <a:ext cx="1524023" cy="68581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AU" sz="1100" u="none" cap="none" strike="noStrike">
                  <a:solidFill>
                    <a:srgbClr val="000000"/>
                  </a:solidFill>
                  <a:latin typeface="Arial"/>
                  <a:ea typeface="Arial"/>
                  <a:cs typeface="Arial"/>
                  <a:sym typeface="Arial"/>
                </a:rPr>
                <a:t>UTILISES AN ENCRYPTED COMMUNICATION TUNNEL THROUGH THE WAN/WEB.</a:t>
              </a:r>
              <a:endParaRPr b="0" i="0" sz="1100" u="none" cap="none" strike="noStrike">
                <a:solidFill>
                  <a:srgbClr val="000000"/>
                </a:solidFill>
                <a:latin typeface="Arial"/>
                <a:ea typeface="Arial"/>
                <a:cs typeface="Arial"/>
                <a:sym typeface="Arial"/>
              </a:endParaRPr>
            </a:p>
          </p:txBody>
        </p:sp>
        <p:sp>
          <p:nvSpPr>
            <p:cNvPr id="108" name="Google Shape;108;p2"/>
            <p:cNvSpPr/>
            <p:nvPr/>
          </p:nvSpPr>
          <p:spPr>
            <a:xfrm>
              <a:off x="4055319" y="727"/>
              <a:ext cx="929654" cy="929654"/>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4253442" y="198850"/>
              <a:ext cx="533408" cy="533408"/>
            </a:xfrm>
            <a:prstGeom prst="rect">
              <a:avLst/>
            </a:prstGeom>
            <a:blipFill rotWithShape="1">
              <a:blip r:embed="rId6">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3758134" y="1219946"/>
              <a:ext cx="1524023" cy="6858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3758134" y="1219946"/>
              <a:ext cx="1524023" cy="68581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AU" sz="1100" u="none" cap="none" strike="noStrike">
                  <a:solidFill>
                    <a:srgbClr val="000000"/>
                  </a:solidFill>
                  <a:latin typeface="Arial"/>
                  <a:ea typeface="Arial"/>
                  <a:cs typeface="Arial"/>
                  <a:sym typeface="Arial"/>
                </a:rPr>
                <a:t>BRIDGES BRANCHES (SITE-TO-SITE) OR DEVICES (CLIENT VPN) SEPARATED BY THE WAN ONTO THE SAME LAN.</a:t>
              </a:r>
              <a:endParaRPr b="0" i="0" sz="1100" u="none" cap="none" strike="noStrike">
                <a:solidFill>
                  <a:srgbClr val="000000"/>
                </a:solidFill>
                <a:latin typeface="Arial"/>
                <a:ea typeface="Arial"/>
                <a:cs typeface="Arial"/>
                <a:sym typeface="Arial"/>
              </a:endParaRPr>
            </a:p>
          </p:txBody>
        </p:sp>
        <p:sp>
          <p:nvSpPr>
            <p:cNvPr id="112" name="Google Shape;112;p2"/>
            <p:cNvSpPr/>
            <p:nvPr/>
          </p:nvSpPr>
          <p:spPr>
            <a:xfrm>
              <a:off x="2264591" y="2286762"/>
              <a:ext cx="929654" cy="929654"/>
            </a:xfrm>
            <a:prstGeom prst="ellipse">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2462714" y="2484885"/>
              <a:ext cx="533408" cy="533408"/>
            </a:xfrm>
            <a:prstGeom prst="rect">
              <a:avLst/>
            </a:prstGeom>
            <a:blipFill rotWithShape="1">
              <a:blip r:embed="rId7">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1967407" y="3505981"/>
              <a:ext cx="1524023" cy="6858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1967407" y="3505981"/>
              <a:ext cx="1524023" cy="68581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AU" sz="1100" u="none" cap="none" strike="noStrike">
                  <a:solidFill>
                    <a:srgbClr val="000000"/>
                  </a:solidFill>
                  <a:latin typeface="Arial"/>
                  <a:ea typeface="Arial"/>
                  <a:cs typeface="Arial"/>
                  <a:sym typeface="Arial"/>
                </a:rPr>
                <a:t>CAN BE USED TO OBFUSCATE NETWORK TRAFFIC FOR REASONS OF PRIVACY. </a:t>
              </a:r>
              <a:endParaRPr b="0" i="0" sz="11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3"/>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1" name="Google Shape;121;p3"/>
          <p:cNvSpPr txBox="1"/>
          <p:nvPr>
            <p:ph type="title"/>
          </p:nvPr>
        </p:nvSpPr>
        <p:spPr>
          <a:xfrm>
            <a:off x="589560" y="856180"/>
            <a:ext cx="5279408" cy="11280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None/>
            </a:pPr>
            <a:r>
              <a:rPr lang="en-AU" sz="4000">
                <a:solidFill>
                  <a:schemeClr val="dk1"/>
                </a:solidFill>
                <a:latin typeface="Arial"/>
                <a:ea typeface="Arial"/>
                <a:cs typeface="Arial"/>
                <a:sym typeface="Arial"/>
              </a:rPr>
              <a:t>How VPN works.</a:t>
            </a:r>
            <a:endParaRPr/>
          </a:p>
        </p:txBody>
      </p:sp>
      <p:grpSp>
        <p:nvGrpSpPr>
          <p:cNvPr id="122" name="Google Shape;122;p3"/>
          <p:cNvGrpSpPr/>
          <p:nvPr/>
        </p:nvGrpSpPr>
        <p:grpSpPr>
          <a:xfrm>
            <a:off x="0" y="1083484"/>
            <a:ext cx="355196" cy="673460"/>
            <a:chOff x="0" y="823811"/>
            <a:chExt cx="355196" cy="673460"/>
          </a:xfrm>
        </p:grpSpPr>
        <p:sp>
          <p:nvSpPr>
            <p:cNvPr id="123" name="Google Shape;123;p3"/>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4" name="Google Shape;124;p3"/>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25" name="Google Shape;125;p3"/>
          <p:cNvSpPr/>
          <p:nvPr/>
        </p:nvSpPr>
        <p:spPr>
          <a:xfrm flipH="1">
            <a:off x="665085" y="2123821"/>
            <a:ext cx="4975066"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6" name="Google Shape;126;p3"/>
          <p:cNvSpPr txBox="1"/>
          <p:nvPr/>
        </p:nvSpPr>
        <p:spPr>
          <a:xfrm>
            <a:off x="590719" y="2330505"/>
            <a:ext cx="5278066" cy="3979585"/>
          </a:xfrm>
          <a:prstGeom prst="rect">
            <a:avLst/>
          </a:prstGeom>
          <a:noFill/>
          <a:ln>
            <a:noFill/>
          </a:ln>
        </p:spPr>
        <p:txBody>
          <a:bodyPr anchorCtr="0" anchor="ctr" bIns="45700" lIns="91425" spcFirstLastPara="1" rIns="91425" wrap="square" tIns="45700">
            <a:normAutofit/>
          </a:bodyPr>
          <a:lstStyle/>
          <a:p>
            <a:pPr indent="-228600" lvl="0" marL="342900" marR="0" rtl="0" algn="l">
              <a:lnSpc>
                <a:spcPct val="90000"/>
              </a:lnSpc>
              <a:spcBef>
                <a:spcPts val="0"/>
              </a:spcBef>
              <a:spcAft>
                <a:spcPts val="0"/>
              </a:spcAft>
              <a:buClr>
                <a:schemeClr val="dk1"/>
              </a:buClr>
              <a:buSzPts val="1800"/>
              <a:buFont typeface="Arial"/>
              <a:buChar char="•"/>
            </a:pPr>
            <a:r>
              <a:rPr b="0" i="0" lang="en-AU" sz="2000" u="none" cap="none" strike="noStrike">
                <a:solidFill>
                  <a:schemeClr val="dk1"/>
                </a:solidFill>
                <a:latin typeface="Arial"/>
                <a:ea typeface="Arial"/>
                <a:cs typeface="Arial"/>
                <a:sym typeface="Arial"/>
              </a:rPr>
              <a:t>VPN client and host establish a network path through the WAN.</a:t>
            </a:r>
            <a:endParaRPr b="0" i="0" sz="2000" u="none" cap="none" strike="noStrike">
              <a:solidFill>
                <a:schemeClr val="dk1"/>
              </a:solidFill>
              <a:latin typeface="Arial"/>
              <a:ea typeface="Arial"/>
              <a:cs typeface="Arial"/>
              <a:sym typeface="Arial"/>
            </a:endParaRPr>
          </a:p>
          <a:p>
            <a:pPr indent="-228600" lvl="0" marL="342900" marR="0" rtl="0" algn="l">
              <a:lnSpc>
                <a:spcPct val="90000"/>
              </a:lnSpc>
              <a:spcBef>
                <a:spcPts val="600"/>
              </a:spcBef>
              <a:spcAft>
                <a:spcPts val="0"/>
              </a:spcAft>
              <a:buClr>
                <a:schemeClr val="dk1"/>
              </a:buClr>
              <a:buSzPts val="1800"/>
              <a:buFont typeface="Arial"/>
              <a:buChar char="•"/>
            </a:pPr>
            <a:r>
              <a:rPr b="0" i="0" lang="en-AU" sz="2000" u="none" cap="none" strike="noStrike">
                <a:solidFill>
                  <a:schemeClr val="dk1"/>
                </a:solidFill>
                <a:latin typeface="Arial"/>
                <a:ea typeface="Arial"/>
                <a:cs typeface="Arial"/>
                <a:sym typeface="Arial"/>
              </a:rPr>
              <a:t>VPN hosts and clients utilised shared secret for communication encryption.</a:t>
            </a:r>
            <a:endParaRPr b="0" i="0" sz="2000" u="none" cap="none" strike="noStrike">
              <a:solidFill>
                <a:schemeClr val="dk1"/>
              </a:solidFill>
              <a:latin typeface="Arial"/>
              <a:ea typeface="Arial"/>
              <a:cs typeface="Arial"/>
              <a:sym typeface="Arial"/>
            </a:endParaRPr>
          </a:p>
          <a:p>
            <a:pPr indent="-228600" lvl="0" marL="342900" marR="0" rtl="0" algn="l">
              <a:lnSpc>
                <a:spcPct val="90000"/>
              </a:lnSpc>
              <a:spcBef>
                <a:spcPts val="600"/>
              </a:spcBef>
              <a:spcAft>
                <a:spcPts val="0"/>
              </a:spcAft>
              <a:buClr>
                <a:schemeClr val="dk1"/>
              </a:buClr>
              <a:buSzPts val="1800"/>
              <a:buFont typeface="Arial"/>
              <a:buChar char="•"/>
            </a:pPr>
            <a:r>
              <a:rPr b="0" i="0" lang="en-AU" sz="2000" u="none" cap="none" strike="noStrike">
                <a:solidFill>
                  <a:schemeClr val="dk1"/>
                </a:solidFill>
                <a:latin typeface="Arial"/>
                <a:ea typeface="Arial"/>
                <a:cs typeface="Arial"/>
                <a:sym typeface="Arial"/>
              </a:rPr>
              <a:t>Packets passed through the tunnel are encapsulated (encrypted and issued a new header).</a:t>
            </a:r>
            <a:endParaRPr b="0" i="0" sz="2000" u="none" cap="none" strike="noStrike">
              <a:solidFill>
                <a:schemeClr val="dk1"/>
              </a:solidFill>
              <a:latin typeface="Arial"/>
              <a:ea typeface="Arial"/>
              <a:cs typeface="Arial"/>
              <a:sym typeface="Arial"/>
            </a:endParaRPr>
          </a:p>
          <a:p>
            <a:pPr indent="-228600" lvl="0" marL="342900" marR="0" rtl="0" algn="l">
              <a:lnSpc>
                <a:spcPct val="90000"/>
              </a:lnSpc>
              <a:spcBef>
                <a:spcPts val="600"/>
              </a:spcBef>
              <a:spcAft>
                <a:spcPts val="0"/>
              </a:spcAft>
              <a:buClr>
                <a:schemeClr val="dk1"/>
              </a:buClr>
              <a:buSzPts val="1800"/>
              <a:buFont typeface="Arial"/>
              <a:buChar char="•"/>
            </a:pPr>
            <a:r>
              <a:rPr b="0" i="0" lang="en-AU" sz="2000" u="none" cap="none" strike="noStrike">
                <a:solidFill>
                  <a:schemeClr val="dk1"/>
                </a:solidFill>
                <a:latin typeface="Arial"/>
                <a:ea typeface="Arial"/>
                <a:cs typeface="Arial"/>
                <a:sym typeface="Arial"/>
              </a:rPr>
              <a:t>Packets received are de-encapsulated and travel through the LAN as they were before.</a:t>
            </a:r>
            <a:endParaRPr b="0" i="0" sz="2000" u="none" cap="none" strike="noStrike">
              <a:solidFill>
                <a:schemeClr val="dk1"/>
              </a:solidFill>
              <a:latin typeface="Arial"/>
              <a:ea typeface="Arial"/>
              <a:cs typeface="Arial"/>
              <a:sym typeface="Arial"/>
            </a:endParaRPr>
          </a:p>
          <a:p>
            <a:pPr indent="-114300" lvl="0" marL="342900" marR="0" rtl="0" algn="l">
              <a:lnSpc>
                <a:spcPct val="90000"/>
              </a:lnSpc>
              <a:spcBef>
                <a:spcPts val="600"/>
              </a:spcBef>
              <a:spcAft>
                <a:spcPts val="600"/>
              </a:spcAft>
              <a:buClr>
                <a:schemeClr val="dk1"/>
              </a:buClr>
              <a:buSzPts val="1800"/>
              <a:buFont typeface="Arial"/>
              <a:buNone/>
            </a:pPr>
            <a:r>
              <a:t/>
            </a:r>
            <a:endParaRPr b="0" i="0" sz="2000" u="none" cap="none" strike="noStrike">
              <a:solidFill>
                <a:schemeClr val="dk1"/>
              </a:solidFill>
              <a:latin typeface="Arial"/>
              <a:ea typeface="Arial"/>
              <a:cs typeface="Arial"/>
              <a:sym typeface="Arial"/>
            </a:endParaRPr>
          </a:p>
        </p:txBody>
      </p:sp>
      <p:sp>
        <p:nvSpPr>
          <p:cNvPr id="127" name="Google Shape;127;p3"/>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8" name="Google Shape;128;p3"/>
          <p:cNvSpPr/>
          <p:nvPr/>
        </p:nvSpPr>
        <p:spPr>
          <a:xfrm>
            <a:off x="6849687" y="357447"/>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29" name="Google Shape;129;p3"/>
          <p:cNvPicPr preferRelativeResize="0"/>
          <p:nvPr/>
        </p:nvPicPr>
        <p:blipFill rotWithShape="1">
          <a:blip r:embed="rId3">
            <a:alphaModFix/>
          </a:blip>
          <a:srcRect b="0" l="0" r="0" t="0"/>
          <a:stretch/>
        </p:blipFill>
        <p:spPr>
          <a:xfrm>
            <a:off x="7083423" y="692441"/>
            <a:ext cx="4397433" cy="2297658"/>
          </a:xfrm>
          <a:prstGeom prst="rect">
            <a:avLst/>
          </a:prstGeom>
          <a:noFill/>
          <a:ln>
            <a:noFill/>
          </a:ln>
        </p:spPr>
      </p:pic>
      <p:sp>
        <p:nvSpPr>
          <p:cNvPr id="130" name="Google Shape;130;p3"/>
          <p:cNvSpPr/>
          <p:nvPr/>
        </p:nvSpPr>
        <p:spPr>
          <a:xfrm>
            <a:off x="6849687" y="3505479"/>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31" name="Google Shape;131;p3"/>
          <p:cNvPicPr preferRelativeResize="0"/>
          <p:nvPr/>
        </p:nvPicPr>
        <p:blipFill rotWithShape="1">
          <a:blip r:embed="rId4">
            <a:alphaModFix/>
          </a:blip>
          <a:srcRect b="0" l="0" r="0" t="0"/>
          <a:stretch/>
        </p:blipFill>
        <p:spPr>
          <a:xfrm>
            <a:off x="7083423" y="3747502"/>
            <a:ext cx="4395569" cy="24395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9"/>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7" name="Google Shape;137;p9"/>
          <p:cNvSpPr txBox="1"/>
          <p:nvPr>
            <p:ph type="title"/>
          </p:nvPr>
        </p:nvSpPr>
        <p:spPr>
          <a:xfrm>
            <a:off x="645064" y="525982"/>
            <a:ext cx="4282983" cy="1200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0" i="0" lang="en-AU" sz="3600">
                <a:latin typeface="Titillium Web"/>
                <a:ea typeface="Titillium Web"/>
                <a:cs typeface="Titillium Web"/>
                <a:sym typeface="Titillium Web"/>
              </a:rPr>
              <a:t>Encapsulation</a:t>
            </a:r>
            <a:endParaRPr/>
          </a:p>
        </p:txBody>
      </p:sp>
      <p:sp>
        <p:nvSpPr>
          <p:cNvPr id="138" name="Google Shape;138;p9"/>
          <p:cNvSpPr/>
          <p:nvPr/>
        </p:nvSpPr>
        <p:spPr>
          <a:xfrm flipH="1">
            <a:off x="616533" y="1944913"/>
            <a:ext cx="402336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9"/>
          <p:cNvSpPr/>
          <p:nvPr/>
        </p:nvSpPr>
        <p:spPr>
          <a:xfrm rot="5400000">
            <a:off x="-225843" y="6053360"/>
            <a:ext cx="740664" cy="15412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9"/>
          <p:cNvSpPr/>
          <p:nvPr/>
        </p:nvSpPr>
        <p:spPr>
          <a:xfrm rot="5400000">
            <a:off x="5904923" y="215201"/>
            <a:ext cx="740664" cy="1183349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9"/>
          <p:cNvSpPr/>
          <p:nvPr/>
        </p:nvSpPr>
        <p:spPr>
          <a:xfrm>
            <a:off x="5696793" y="354959"/>
            <a:ext cx="6184973" cy="5915212"/>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9"/>
          <p:cNvSpPr txBox="1"/>
          <p:nvPr>
            <p:ph idx="1" type="body"/>
          </p:nvPr>
        </p:nvSpPr>
        <p:spPr>
          <a:xfrm>
            <a:off x="5987738" y="1934552"/>
            <a:ext cx="5628018" cy="2328791"/>
          </a:xfrm>
          <a:prstGeom prst="rect">
            <a:avLst/>
          </a:prstGeom>
          <a:noFill/>
          <a:ln>
            <a:noFill/>
          </a:ln>
        </p:spPr>
        <p:txBody>
          <a:bodyPr anchorCtr="0" anchor="t" bIns="45700" lIns="91425" spcFirstLastPara="1" rIns="91425" wrap="square" tIns="45700">
            <a:normAutofit fontScale="77500" lnSpcReduction="20000"/>
          </a:bodyPr>
          <a:lstStyle/>
          <a:p>
            <a:pPr indent="0" lvl="0" marL="60579" rtl="0" algn="l">
              <a:lnSpc>
                <a:spcPct val="90000"/>
              </a:lnSpc>
              <a:spcBef>
                <a:spcPts val="0"/>
              </a:spcBef>
              <a:spcAft>
                <a:spcPts val="0"/>
              </a:spcAft>
              <a:buSzPct val="105571"/>
              <a:buNone/>
            </a:pPr>
            <a:r>
              <a:rPr lang="en-AU" sz="2200">
                <a:solidFill>
                  <a:schemeClr val="dk1"/>
                </a:solidFill>
                <a:latin typeface="Arial"/>
                <a:ea typeface="Arial"/>
                <a:cs typeface="Arial"/>
                <a:sym typeface="Arial"/>
              </a:rPr>
              <a:t>Two main protocols:</a:t>
            </a:r>
            <a:endParaRPr/>
          </a:p>
          <a:p>
            <a:pPr indent="-181737" lvl="0" marL="242316" rtl="0" algn="l">
              <a:lnSpc>
                <a:spcPct val="90000"/>
              </a:lnSpc>
              <a:spcBef>
                <a:spcPts val="600"/>
              </a:spcBef>
              <a:spcAft>
                <a:spcPts val="0"/>
              </a:spcAft>
              <a:buSzPct val="105571"/>
              <a:buChar char="•"/>
            </a:pPr>
            <a:r>
              <a:rPr lang="en-AU" sz="2200">
                <a:solidFill>
                  <a:schemeClr val="dk1"/>
                </a:solidFill>
                <a:latin typeface="Arial"/>
                <a:ea typeface="Arial"/>
                <a:cs typeface="Arial"/>
                <a:sym typeface="Arial"/>
              </a:rPr>
              <a:t>Authentication Header (AH) offers no encryption in the tunnel.</a:t>
            </a:r>
            <a:endParaRPr/>
          </a:p>
          <a:p>
            <a:pPr indent="-181737" lvl="0" marL="242316" rtl="0" algn="l">
              <a:lnSpc>
                <a:spcPct val="90000"/>
              </a:lnSpc>
              <a:spcBef>
                <a:spcPts val="600"/>
              </a:spcBef>
              <a:spcAft>
                <a:spcPts val="0"/>
              </a:spcAft>
              <a:buSzPct val="105571"/>
              <a:buChar char="•"/>
            </a:pPr>
            <a:r>
              <a:rPr lang="en-AU" sz="2200">
                <a:solidFill>
                  <a:schemeClr val="dk1"/>
                </a:solidFill>
                <a:latin typeface="Arial"/>
                <a:ea typeface="Arial"/>
                <a:cs typeface="Arial"/>
                <a:sym typeface="Arial"/>
              </a:rPr>
              <a:t>Encapsulating Security Payload (ESP) encrypts the original packet.</a:t>
            </a:r>
            <a:endParaRPr/>
          </a:p>
          <a:p>
            <a:pPr indent="0" lvl="0" marL="60579" rtl="0" algn="l">
              <a:lnSpc>
                <a:spcPct val="90000"/>
              </a:lnSpc>
              <a:spcBef>
                <a:spcPts val="600"/>
              </a:spcBef>
              <a:spcAft>
                <a:spcPts val="0"/>
              </a:spcAft>
              <a:buSzPct val="105571"/>
              <a:buNone/>
            </a:pPr>
            <a:r>
              <a:t/>
            </a:r>
            <a:endParaRPr sz="2200">
              <a:solidFill>
                <a:schemeClr val="dk1"/>
              </a:solidFill>
              <a:latin typeface="Arial"/>
              <a:ea typeface="Arial"/>
              <a:cs typeface="Arial"/>
              <a:sym typeface="Arial"/>
            </a:endParaRPr>
          </a:p>
          <a:p>
            <a:pPr indent="0" lvl="0" marL="60579" rtl="0" algn="l">
              <a:lnSpc>
                <a:spcPct val="90000"/>
              </a:lnSpc>
              <a:spcBef>
                <a:spcPts val="600"/>
              </a:spcBef>
              <a:spcAft>
                <a:spcPts val="0"/>
              </a:spcAft>
              <a:buSzPct val="105571"/>
              <a:buNone/>
            </a:pPr>
            <a:r>
              <a:rPr lang="en-AU" sz="2200">
                <a:solidFill>
                  <a:schemeClr val="dk1"/>
                </a:solidFill>
                <a:latin typeface="Arial"/>
                <a:ea typeface="Arial"/>
                <a:cs typeface="Arial"/>
                <a:sym typeface="Arial"/>
              </a:rPr>
              <a:t>ESP takes the original packet, encrypts it and adds Authentication algorithm information as well as a new IP header for the journey through the tunnel. </a:t>
            </a:r>
            <a:endParaRPr/>
          </a:p>
          <a:p>
            <a:pPr indent="-67436" lvl="0" marL="242316" rtl="0" algn="l">
              <a:lnSpc>
                <a:spcPct val="90000"/>
              </a:lnSpc>
              <a:spcBef>
                <a:spcPts val="600"/>
              </a:spcBef>
              <a:spcAft>
                <a:spcPts val="0"/>
              </a:spcAft>
              <a:buSzPct val="129032"/>
              <a:buNone/>
            </a:pPr>
            <a:r>
              <a:t/>
            </a:r>
            <a:endParaRPr b="0" i="0" sz="1800" u="none" cap="none" strike="noStrike">
              <a:solidFill>
                <a:schemeClr val="dk1"/>
              </a:solidFill>
              <a:latin typeface="Calibri"/>
              <a:ea typeface="Calibri"/>
              <a:cs typeface="Calibri"/>
              <a:sym typeface="Calibri"/>
            </a:endParaRPr>
          </a:p>
          <a:p>
            <a:pPr indent="-228600" lvl="0" marL="457200" rtl="0" algn="l">
              <a:lnSpc>
                <a:spcPct val="90000"/>
              </a:lnSpc>
              <a:spcBef>
                <a:spcPts val="600"/>
              </a:spcBef>
              <a:spcAft>
                <a:spcPts val="600"/>
              </a:spcAft>
              <a:buSzPct val="64516"/>
              <a:buNone/>
            </a:pPr>
            <a:r>
              <a:t/>
            </a:r>
            <a:endParaRPr sz="3600"/>
          </a:p>
        </p:txBody>
      </p:sp>
      <p:pic>
        <p:nvPicPr>
          <p:cNvPr id="143" name="Google Shape;143;p9"/>
          <p:cNvPicPr preferRelativeResize="0"/>
          <p:nvPr/>
        </p:nvPicPr>
        <p:blipFill rotWithShape="1">
          <a:blip r:embed="rId3">
            <a:alphaModFix/>
          </a:blip>
          <a:srcRect b="0" l="0" r="0" t="0"/>
          <a:stretch/>
        </p:blipFill>
        <p:spPr>
          <a:xfrm>
            <a:off x="310233" y="2378329"/>
            <a:ext cx="5047091" cy="1292927"/>
          </a:xfrm>
          <a:prstGeom prst="rect">
            <a:avLst/>
          </a:prstGeom>
          <a:noFill/>
          <a:ln>
            <a:noFill/>
          </a:ln>
        </p:spPr>
      </p:pic>
      <p:sp>
        <p:nvSpPr>
          <p:cNvPr id="144" name="Google Shape;144;p9"/>
          <p:cNvSpPr txBox="1"/>
          <p:nvPr/>
        </p:nvSpPr>
        <p:spPr>
          <a:xfrm>
            <a:off x="310233" y="4116711"/>
            <a:ext cx="5808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AU" sz="900" u="none" cap="none" strike="noStrike">
                <a:solidFill>
                  <a:srgbClr val="000000"/>
                </a:solidFill>
                <a:latin typeface="Arial"/>
                <a:ea typeface="Arial"/>
                <a:cs typeface="Arial"/>
                <a:sym typeface="Arial"/>
              </a:rPr>
              <a:t>Img: ESP tunnel Mode https://networklessons.com/cisco/ccie-routing-switching/ipsec-internet-protocol-security</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 name="Google Shape;150;p4"/>
          <p:cNvSpPr txBox="1"/>
          <p:nvPr>
            <p:ph type="title"/>
          </p:nvPr>
        </p:nvSpPr>
        <p:spPr>
          <a:xfrm>
            <a:off x="589560" y="856180"/>
            <a:ext cx="5279408" cy="11280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None/>
            </a:pPr>
            <a:r>
              <a:rPr lang="en-AU" sz="4000">
                <a:solidFill>
                  <a:schemeClr val="dk1"/>
                </a:solidFill>
                <a:latin typeface="Arial"/>
                <a:ea typeface="Arial"/>
                <a:cs typeface="Arial"/>
                <a:sym typeface="Arial"/>
              </a:rPr>
              <a:t>VPN Infrastructure</a:t>
            </a:r>
            <a:endParaRPr/>
          </a:p>
        </p:txBody>
      </p:sp>
      <p:grpSp>
        <p:nvGrpSpPr>
          <p:cNvPr id="151" name="Google Shape;151;p4"/>
          <p:cNvGrpSpPr/>
          <p:nvPr/>
        </p:nvGrpSpPr>
        <p:grpSpPr>
          <a:xfrm>
            <a:off x="0" y="1083484"/>
            <a:ext cx="355196" cy="673460"/>
            <a:chOff x="0" y="823811"/>
            <a:chExt cx="355196" cy="673460"/>
          </a:xfrm>
        </p:grpSpPr>
        <p:sp>
          <p:nvSpPr>
            <p:cNvPr id="152" name="Google Shape;152;p4"/>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 name="Google Shape;153;p4"/>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54" name="Google Shape;154;p4"/>
          <p:cNvSpPr/>
          <p:nvPr/>
        </p:nvSpPr>
        <p:spPr>
          <a:xfrm flipH="1">
            <a:off x="665085" y="2123821"/>
            <a:ext cx="4975066"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5" name="Google Shape;155;p4"/>
          <p:cNvSpPr txBox="1"/>
          <p:nvPr/>
        </p:nvSpPr>
        <p:spPr>
          <a:xfrm>
            <a:off x="590719" y="2330505"/>
            <a:ext cx="5278066" cy="3979585"/>
          </a:xfrm>
          <a:prstGeom prst="rect">
            <a:avLst/>
          </a:prstGeom>
          <a:noFill/>
          <a:ln>
            <a:noFill/>
          </a:ln>
        </p:spPr>
        <p:txBody>
          <a:bodyPr anchorCtr="0" anchor="ctr" bIns="45700" lIns="91425" spcFirstLastPara="1" rIns="91425" wrap="square" tIns="45700">
            <a:normAutofit/>
          </a:bodyPr>
          <a:lstStyle/>
          <a:p>
            <a:pPr indent="-228600" lvl="0" marL="285750" marR="0" rtl="0" algn="l">
              <a:lnSpc>
                <a:spcPct val="90000"/>
              </a:lnSpc>
              <a:spcBef>
                <a:spcPts val="0"/>
              </a:spcBef>
              <a:spcAft>
                <a:spcPts val="0"/>
              </a:spcAft>
              <a:buClr>
                <a:schemeClr val="dk1"/>
              </a:buClr>
              <a:buSzPts val="1800"/>
              <a:buFont typeface="Arial"/>
              <a:buChar char="•"/>
            </a:pPr>
            <a:r>
              <a:rPr b="0" i="0" lang="en-AU" sz="1700" u="none" cap="none" strike="noStrike">
                <a:solidFill>
                  <a:schemeClr val="dk1"/>
                </a:solidFill>
                <a:latin typeface="Arial"/>
                <a:ea typeface="Arial"/>
                <a:cs typeface="Arial"/>
                <a:sym typeface="Arial"/>
              </a:rPr>
              <a:t>VPN Gateways are devices that facilitate the establishment of the VPN tunnel. </a:t>
            </a:r>
            <a:endParaRPr/>
          </a:p>
          <a:p>
            <a:pPr indent="-228600" lvl="0" marL="285750" marR="0" rtl="0" algn="l">
              <a:lnSpc>
                <a:spcPct val="90000"/>
              </a:lnSpc>
              <a:spcBef>
                <a:spcPts val="600"/>
              </a:spcBef>
              <a:spcAft>
                <a:spcPts val="0"/>
              </a:spcAft>
              <a:buClr>
                <a:schemeClr val="dk1"/>
              </a:buClr>
              <a:buSzPts val="1800"/>
              <a:buFont typeface="Arial"/>
              <a:buChar char="•"/>
            </a:pPr>
            <a:r>
              <a:rPr b="0" i="0" lang="en-AU" sz="1700" u="none" cap="none" strike="noStrike">
                <a:solidFill>
                  <a:schemeClr val="dk1"/>
                </a:solidFill>
                <a:latin typeface="Arial"/>
                <a:ea typeface="Arial"/>
                <a:cs typeface="Arial"/>
                <a:sym typeface="Arial"/>
              </a:rPr>
              <a:t>These devices specialise in encapsulating and de-encapsulating packets, reducing the computational workload of the client devices thus improving throughput. </a:t>
            </a:r>
            <a:endParaRPr/>
          </a:p>
          <a:p>
            <a:pPr indent="-228600" lvl="0" marL="285750" marR="0" rtl="0" algn="l">
              <a:lnSpc>
                <a:spcPct val="90000"/>
              </a:lnSpc>
              <a:spcBef>
                <a:spcPts val="600"/>
              </a:spcBef>
              <a:spcAft>
                <a:spcPts val="0"/>
              </a:spcAft>
              <a:buClr>
                <a:schemeClr val="dk1"/>
              </a:buClr>
              <a:buSzPts val="1800"/>
              <a:buFont typeface="Arial"/>
              <a:buChar char="•"/>
            </a:pPr>
            <a:r>
              <a:rPr b="0" i="0" lang="en-AU" sz="1700" u="none" cap="none" strike="noStrike">
                <a:solidFill>
                  <a:schemeClr val="dk1"/>
                </a:solidFill>
                <a:latin typeface="Arial"/>
                <a:ea typeface="Arial"/>
                <a:cs typeface="Arial"/>
                <a:sym typeface="Arial"/>
              </a:rPr>
              <a:t>VPN Gateways also allow the administrators to configure who can connect, how they connect (certificate or credential), and where they connect to (VLAN). </a:t>
            </a:r>
            <a:endParaRPr/>
          </a:p>
          <a:p>
            <a:pPr indent="-228600" lvl="0" marL="285750" marR="0" rtl="0" algn="l">
              <a:lnSpc>
                <a:spcPct val="90000"/>
              </a:lnSpc>
              <a:spcBef>
                <a:spcPts val="600"/>
              </a:spcBef>
              <a:spcAft>
                <a:spcPts val="0"/>
              </a:spcAft>
              <a:buClr>
                <a:schemeClr val="dk1"/>
              </a:buClr>
              <a:buSzPts val="1800"/>
              <a:buFont typeface="Arial"/>
              <a:buChar char="•"/>
            </a:pPr>
            <a:r>
              <a:rPr b="0" i="0" lang="en-AU" sz="1700" u="none" cap="none" strike="noStrike">
                <a:solidFill>
                  <a:schemeClr val="dk1"/>
                </a:solidFill>
                <a:latin typeface="Arial"/>
                <a:ea typeface="Arial"/>
                <a:cs typeface="Arial"/>
                <a:sym typeface="Arial"/>
              </a:rPr>
              <a:t>As technology improves this functionality is being integrated more into the enterprise routers.</a:t>
            </a:r>
            <a:endParaRPr/>
          </a:p>
          <a:p>
            <a:pPr indent="-114300" lvl="0" marL="285750" marR="0" rtl="0" algn="l">
              <a:lnSpc>
                <a:spcPct val="90000"/>
              </a:lnSpc>
              <a:spcBef>
                <a:spcPts val="600"/>
              </a:spcBef>
              <a:spcAft>
                <a:spcPts val="0"/>
              </a:spcAft>
              <a:buClr>
                <a:schemeClr val="dk1"/>
              </a:buClr>
              <a:buSzPts val="1800"/>
              <a:buFont typeface="Arial"/>
              <a:buNone/>
            </a:pPr>
            <a:r>
              <a:t/>
            </a:r>
            <a:endParaRPr b="0" i="0" sz="1900" u="none" cap="none" strike="noStrike">
              <a:solidFill>
                <a:schemeClr val="dk1"/>
              </a:solidFill>
              <a:latin typeface="Arial"/>
              <a:ea typeface="Arial"/>
              <a:cs typeface="Arial"/>
              <a:sym typeface="Arial"/>
            </a:endParaRPr>
          </a:p>
          <a:p>
            <a:pPr indent="120650" lvl="0" marL="0" marR="0" rtl="0" algn="l">
              <a:lnSpc>
                <a:spcPct val="90000"/>
              </a:lnSpc>
              <a:spcBef>
                <a:spcPts val="600"/>
              </a:spcBef>
              <a:spcAft>
                <a:spcPts val="60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p:txBody>
      </p:sp>
      <p:sp>
        <p:nvSpPr>
          <p:cNvPr id="156" name="Google Shape;156;p4"/>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7" name="Google Shape;157;p4"/>
          <p:cNvSpPr/>
          <p:nvPr/>
        </p:nvSpPr>
        <p:spPr>
          <a:xfrm>
            <a:off x="6849687" y="357447"/>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58" name="Google Shape;158;p4"/>
          <p:cNvPicPr preferRelativeResize="0"/>
          <p:nvPr/>
        </p:nvPicPr>
        <p:blipFill rotWithShape="1">
          <a:blip r:embed="rId3">
            <a:alphaModFix/>
          </a:blip>
          <a:srcRect b="4830" l="8368" r="8431" t="9595"/>
          <a:stretch/>
        </p:blipFill>
        <p:spPr>
          <a:xfrm>
            <a:off x="7083423" y="710530"/>
            <a:ext cx="4397433" cy="2261480"/>
          </a:xfrm>
          <a:prstGeom prst="rect">
            <a:avLst/>
          </a:prstGeom>
          <a:noFill/>
          <a:ln>
            <a:noFill/>
          </a:ln>
        </p:spPr>
      </p:pic>
      <p:sp>
        <p:nvSpPr>
          <p:cNvPr id="159" name="Google Shape;159;p4"/>
          <p:cNvSpPr/>
          <p:nvPr/>
        </p:nvSpPr>
        <p:spPr>
          <a:xfrm>
            <a:off x="6849687" y="3505479"/>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P-Link ER7206 | SafeStream Gigabit Multi-WAN VPN Router" id="160" name="Google Shape;160;p4"/>
          <p:cNvPicPr preferRelativeResize="0"/>
          <p:nvPr/>
        </p:nvPicPr>
        <p:blipFill rotWithShape="1">
          <a:blip r:embed="rId4">
            <a:alphaModFix/>
          </a:blip>
          <a:srcRect b="34548" l="5824" r="5032" t="36570"/>
          <a:stretch/>
        </p:blipFill>
        <p:spPr>
          <a:xfrm>
            <a:off x="7083423" y="4255248"/>
            <a:ext cx="4395569" cy="14240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5"/>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6" name="Google Shape;166;p5"/>
          <p:cNvSpPr txBox="1"/>
          <p:nvPr>
            <p:ph type="title"/>
          </p:nvPr>
        </p:nvSpPr>
        <p:spPr>
          <a:xfrm>
            <a:off x="7041856" y="2944090"/>
            <a:ext cx="4036334" cy="2387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None/>
            </a:pPr>
            <a:r>
              <a:rPr lang="en-AU" sz="5400">
                <a:solidFill>
                  <a:schemeClr val="dk1"/>
                </a:solidFill>
                <a:latin typeface="Arial"/>
                <a:ea typeface="Arial"/>
                <a:cs typeface="Arial"/>
                <a:sym typeface="Arial"/>
              </a:rPr>
              <a:t>VPN vs CIA principals.</a:t>
            </a:r>
            <a:endParaRPr/>
          </a:p>
        </p:txBody>
      </p:sp>
      <p:sp>
        <p:nvSpPr>
          <p:cNvPr id="167" name="Google Shape;167;p5"/>
          <p:cNvSpPr/>
          <p:nvPr/>
        </p:nvSpPr>
        <p:spPr>
          <a:xfrm flipH="1">
            <a:off x="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8" name="Google Shape;168;p5"/>
          <p:cNvSpPr/>
          <p:nvPr/>
        </p:nvSpPr>
        <p:spPr>
          <a:xfrm>
            <a:off x="496824" y="391886"/>
            <a:ext cx="6009366" cy="6017078"/>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69" name="Google Shape;169;p5"/>
          <p:cNvGrpSpPr/>
          <p:nvPr/>
        </p:nvGrpSpPr>
        <p:grpSpPr>
          <a:xfrm>
            <a:off x="11460480" y="2984992"/>
            <a:ext cx="731521" cy="673460"/>
            <a:chOff x="3940602" y="308034"/>
            <a:chExt cx="2116791" cy="3428999"/>
          </a:xfrm>
        </p:grpSpPr>
        <p:sp>
          <p:nvSpPr>
            <p:cNvPr id="170" name="Google Shape;170;p5"/>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1" name="Google Shape;171;p5"/>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2" name="Google Shape;172;p5"/>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aphicFrame>
        <p:nvGraphicFramePr>
          <p:cNvPr id="173" name="Google Shape;173;p5"/>
          <p:cNvGraphicFramePr/>
          <p:nvPr/>
        </p:nvGraphicFramePr>
        <p:xfrm>
          <a:off x="733507" y="1330731"/>
          <a:ext cx="3000000" cy="3000000"/>
        </p:xfrm>
        <a:graphic>
          <a:graphicData uri="http://schemas.openxmlformats.org/drawingml/2006/table">
            <a:tbl>
              <a:tblPr bandRow="1" firstRow="1">
                <a:noFill/>
                <a:tableStyleId>{4ECFCC47-39CF-44EA-84CA-CCB925E03AFC}</a:tableStyleId>
              </a:tblPr>
              <a:tblGrid>
                <a:gridCol w="2231650"/>
                <a:gridCol w="1153050"/>
                <a:gridCol w="2151300"/>
              </a:tblGrid>
              <a:tr h="25785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Positive</a:t>
                      </a:r>
                      <a:endParaRPr sz="500" u="none" cap="none" strike="noStrike"/>
                    </a:p>
                  </a:txBody>
                  <a:tcPr marT="30450" marB="30450" marR="60925" marL="60925"/>
                </a:tc>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Principal</a:t>
                      </a:r>
                      <a:endParaRPr sz="500" u="none" cap="none" strike="noStrike"/>
                    </a:p>
                  </a:txBody>
                  <a:tcPr marT="30450" marB="30450" marR="60925" marL="60925"/>
                </a:tc>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Negative</a:t>
                      </a:r>
                      <a:endParaRPr sz="500" u="none" cap="none" strike="noStrike"/>
                    </a:p>
                  </a:txBody>
                  <a:tcPr marT="30450" marB="30450" marR="60925" marL="60925"/>
                </a:tc>
              </a:tr>
              <a:tr h="1293300">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Encapsulation /Encryption Protects against:</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Malware Injection</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DNS </a:t>
                      </a:r>
                      <a:r>
                        <a:rPr lang="en-AU" sz="1100"/>
                        <a:t>Spoofing</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Packet Sniffing</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Obfuscate digital identity mitigating OSINT Attacks.</a:t>
                      </a:r>
                      <a:endParaRPr sz="1100" u="none" cap="none" strike="noStrike"/>
                    </a:p>
                  </a:txBody>
                  <a:tcPr marT="30450" marB="30450" marR="60925" marL="60925">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Confidentiality </a:t>
                      </a:r>
                      <a:endParaRPr sz="500" u="none" cap="none" strike="noStrike"/>
                    </a:p>
                  </a:txBody>
                  <a:tcPr marT="30450" marB="30450" marR="60925" marL="60925"/>
                </a:tc>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Endpoint safety:</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b="0" i="0" lang="en-AU" sz="1100" u="none" cap="none" strike="noStrike">
                          <a:solidFill>
                            <a:schemeClr val="dk1"/>
                          </a:solidFill>
                          <a:latin typeface="Calibri"/>
                          <a:ea typeface="Calibri"/>
                          <a:cs typeface="Calibri"/>
                          <a:sym typeface="Calibri"/>
                        </a:rPr>
                        <a:t>Insecure endpoints can become an attack vector to corporate networks.</a:t>
                      </a:r>
                      <a:br>
                        <a:rPr b="0" i="0" lang="en-AU" sz="1100" u="none" cap="none" strike="noStrike">
                          <a:solidFill>
                            <a:schemeClr val="dk1"/>
                          </a:solidFill>
                          <a:latin typeface="Calibri"/>
                          <a:ea typeface="Calibri"/>
                          <a:cs typeface="Calibri"/>
                          <a:sym typeface="Calibri"/>
                        </a:rPr>
                      </a:br>
                      <a:r>
                        <a:rPr b="0" i="0" lang="en-AU" sz="1100" u="none" cap="none" strike="noStrike">
                          <a:solidFill>
                            <a:schemeClr val="dk1"/>
                          </a:solidFill>
                          <a:latin typeface="Calibri"/>
                          <a:ea typeface="Calibri"/>
                          <a:cs typeface="Calibri"/>
                          <a:sym typeface="Calibri"/>
                        </a:rPr>
                        <a:t> </a:t>
                      </a:r>
                      <a:endParaRPr b="0" i="0" sz="1100" u="none" cap="none" strike="noStrike">
                        <a:solidFill>
                          <a:schemeClr val="dk1"/>
                        </a:solidFill>
                        <a:latin typeface="Calibri"/>
                        <a:ea typeface="Calibri"/>
                        <a:cs typeface="Calibri"/>
                        <a:sym typeface="Calibri"/>
                      </a:endParaRPr>
                    </a:p>
                  </a:txBody>
                  <a:tcPr marT="30450" marB="30450" marR="60925" marL="60925"/>
                </a:tc>
              </a:tr>
              <a:tr h="430425">
                <a:tc>
                  <a:txBody>
                    <a:bodyPr/>
                    <a:lstStyle/>
                    <a:p>
                      <a:pPr indent="-298450" lvl="0" marL="342900" marR="0" rtl="0" algn="l">
                        <a:lnSpc>
                          <a:spcPct val="100000"/>
                        </a:lnSpc>
                        <a:spcBef>
                          <a:spcPts val="0"/>
                        </a:spcBef>
                        <a:spcAft>
                          <a:spcPts val="0"/>
                        </a:spcAft>
                        <a:buClr>
                          <a:schemeClr val="dk1"/>
                        </a:buClr>
                        <a:buSzPts val="1700"/>
                        <a:buFont typeface="Arial"/>
                        <a:buChar char="•"/>
                      </a:pPr>
                      <a:r>
                        <a:rPr lang="en-AU" sz="1100" u="none" cap="none" strike="noStrike"/>
                        <a:t>IPsec /TLS validation</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AES Encryption</a:t>
                      </a:r>
                      <a:endParaRPr sz="1100" u="none" cap="none" strike="noStrike"/>
                    </a:p>
                  </a:txBody>
                  <a:tcPr marT="30450" marB="30450" marR="60925" marL="609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Integrity</a:t>
                      </a:r>
                      <a:endParaRPr sz="500" u="none" cap="none" strike="noStrike"/>
                    </a:p>
                  </a:txBody>
                  <a:tcPr marT="30450" marB="30450" marR="60925" marL="60925">
                    <a:lnL cap="flat" cmpd="sng" w="12700">
                      <a:solidFill>
                        <a:schemeClr val="lt1"/>
                      </a:solidFill>
                      <a:prstDash val="solid"/>
                      <a:round/>
                      <a:headEnd len="sm" w="sm" type="none"/>
                      <a:tailEnd len="sm" w="sm" type="none"/>
                    </a:lnL>
                  </a:tcPr>
                </a:tc>
                <a:tc>
                  <a:txBody>
                    <a:bodyPr/>
                    <a:lstStyle/>
                    <a:p>
                      <a:pPr indent="0" lvl="0" marL="457200" marR="0" rtl="0" algn="l">
                        <a:lnSpc>
                          <a:spcPct val="100000"/>
                        </a:lnSpc>
                        <a:spcBef>
                          <a:spcPts val="0"/>
                        </a:spcBef>
                        <a:spcAft>
                          <a:spcPts val="0"/>
                        </a:spcAft>
                        <a:buClr>
                          <a:srgbClr val="000000"/>
                        </a:buClr>
                        <a:buSzPts val="1100"/>
                        <a:buFont typeface="Arial"/>
                        <a:buNone/>
                      </a:pPr>
                      <a:r>
                        <a:t/>
                      </a:r>
                      <a:endParaRPr sz="1100" u="none" cap="none" strike="noStrike"/>
                    </a:p>
                  </a:txBody>
                  <a:tcPr marT="30450" marB="30450" marR="60925" marL="60925"/>
                </a:tc>
              </a:tr>
              <a:tr h="2156200">
                <a:tc>
                  <a:txBody>
                    <a:bodyPr/>
                    <a:lstStyle/>
                    <a:p>
                      <a:pPr indent="-298450" lvl="0" marL="342900" marR="0" rtl="0" algn="l">
                        <a:lnSpc>
                          <a:spcPct val="100000"/>
                        </a:lnSpc>
                        <a:spcBef>
                          <a:spcPts val="0"/>
                        </a:spcBef>
                        <a:spcAft>
                          <a:spcPts val="0"/>
                        </a:spcAft>
                        <a:buClr>
                          <a:schemeClr val="dk1"/>
                        </a:buClr>
                        <a:buSzPts val="1700"/>
                        <a:buFont typeface="Arial"/>
                        <a:buChar char="•"/>
                      </a:pPr>
                      <a:r>
                        <a:rPr lang="en-AU" sz="1100" u="none" cap="none" strike="noStrike"/>
                        <a:t>Connects external branches and clients to share network resources.</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Circumvent Geoblocking.</a:t>
                      </a:r>
                      <a:endParaRPr sz="1100" u="none" cap="none" strike="noStrike"/>
                    </a:p>
                  </a:txBody>
                  <a:tcPr marT="30450" marB="30450" marR="60925" marL="60925">
                    <a:lnT cap="flat" cmpd="sng" w="127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100"/>
                        <a:buFont typeface="Arial"/>
                        <a:buNone/>
                      </a:pPr>
                      <a:r>
                        <a:rPr lang="en-AU" sz="1100" u="none" cap="none" strike="noStrike"/>
                        <a:t>Availability</a:t>
                      </a:r>
                      <a:endParaRPr sz="500" u="none" cap="none" strike="noStrike"/>
                    </a:p>
                  </a:txBody>
                  <a:tcPr marT="30450" marB="30450" marR="60925" marL="60925"/>
                </a:tc>
                <a:tc>
                  <a:txBody>
                    <a:bodyPr/>
                    <a:lstStyle/>
                    <a:p>
                      <a:pPr indent="-298450" lvl="0" marL="342900" marR="0" rtl="0" algn="l">
                        <a:lnSpc>
                          <a:spcPct val="100000"/>
                        </a:lnSpc>
                        <a:spcBef>
                          <a:spcPts val="0"/>
                        </a:spcBef>
                        <a:spcAft>
                          <a:spcPts val="0"/>
                        </a:spcAft>
                        <a:buClr>
                          <a:schemeClr val="dk1"/>
                        </a:buClr>
                        <a:buSzPts val="1700"/>
                        <a:buFont typeface="Arial"/>
                        <a:buChar char="•"/>
                      </a:pPr>
                      <a:r>
                        <a:rPr lang="en-AU" sz="1100" u="none" cap="none" strike="noStrike"/>
                        <a:t>Encapsulation requires computation by endpoint and routers/ VPN gateways, increasing latency.</a:t>
                      </a:r>
                      <a:endParaRPr sz="1100" u="none" cap="none" strike="noStrike"/>
                    </a:p>
                    <a:p>
                      <a:pPr indent="-298450" lvl="0" marL="342900" marR="0" rtl="0" algn="l">
                        <a:lnSpc>
                          <a:spcPct val="100000"/>
                        </a:lnSpc>
                        <a:spcBef>
                          <a:spcPts val="0"/>
                        </a:spcBef>
                        <a:spcAft>
                          <a:spcPts val="0"/>
                        </a:spcAft>
                        <a:buClr>
                          <a:srgbClr val="000000"/>
                        </a:buClr>
                        <a:buSzPts val="1700"/>
                        <a:buFont typeface="Arial"/>
                        <a:buChar char="•"/>
                      </a:pPr>
                      <a:r>
                        <a:rPr lang="en-AU" sz="1100" u="none" cap="none" strike="noStrike"/>
                        <a:t>Encapsulation increases packet size. If a router in the VPN tunnel has a MTU smaller than the encapsulated packet, it will fragment the packet increasing latency.</a:t>
                      </a:r>
                      <a:endParaRPr sz="1100" u="none" cap="none" strike="noStrike"/>
                    </a:p>
                    <a:p>
                      <a:pPr indent="0" lvl="0" marL="457200" marR="0" rtl="0" algn="l">
                        <a:lnSpc>
                          <a:spcPct val="100000"/>
                        </a:lnSpc>
                        <a:spcBef>
                          <a:spcPts val="0"/>
                        </a:spcBef>
                        <a:spcAft>
                          <a:spcPts val="0"/>
                        </a:spcAft>
                        <a:buClr>
                          <a:srgbClr val="000000"/>
                        </a:buClr>
                        <a:buSzPts val="1100"/>
                        <a:buFont typeface="Arial"/>
                        <a:buNone/>
                      </a:pPr>
                      <a:r>
                        <a:t/>
                      </a:r>
                      <a:endParaRPr sz="1100" u="none" cap="none" strike="noStrike"/>
                    </a:p>
                  </a:txBody>
                  <a:tcPr marT="30450" marB="30450" marR="60925" marL="609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6"/>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6"/>
          <p:cNvSpPr txBox="1"/>
          <p:nvPr>
            <p:ph type="title"/>
          </p:nvPr>
        </p:nvSpPr>
        <p:spPr>
          <a:xfrm>
            <a:off x="517889" y="4883544"/>
            <a:ext cx="3876086" cy="155690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AU" sz="3200"/>
              <a:t>Demonstration</a:t>
            </a:r>
            <a:endParaRPr/>
          </a:p>
        </p:txBody>
      </p:sp>
      <p:sp>
        <p:nvSpPr>
          <p:cNvPr id="180" name="Google Shape;180;p6"/>
          <p:cNvSpPr/>
          <p:nvPr/>
        </p:nvSpPr>
        <p:spPr>
          <a:xfrm>
            <a:off x="0" y="0"/>
            <a:ext cx="12192000" cy="86584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1" name="Google Shape;181;p6"/>
          <p:cNvSpPr/>
          <p:nvPr/>
        </p:nvSpPr>
        <p:spPr>
          <a:xfrm>
            <a:off x="517889" y="0"/>
            <a:ext cx="11231745" cy="4588184"/>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2" name="Google Shape;182;p6"/>
          <p:cNvSpPr/>
          <p:nvPr/>
        </p:nvSpPr>
        <p:spPr>
          <a:xfrm flipH="1" rot="5400000">
            <a:off x="4001107" y="5661132"/>
            <a:ext cx="1463040" cy="4571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3" name="Google Shape;183;p6"/>
          <p:cNvSpPr txBox="1"/>
          <p:nvPr/>
        </p:nvSpPr>
        <p:spPr>
          <a:xfrm>
            <a:off x="2139722" y="364142"/>
            <a:ext cx="2565656" cy="386799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600"/>
              </a:spcAft>
              <a:buNone/>
            </a:pPr>
            <a:r>
              <a:rPr b="0" i="0" lang="en-AU" sz="1022" u="none" cap="none" strike="noStrike">
                <a:solidFill>
                  <a:srgbClr val="000000"/>
                </a:solidFill>
                <a:latin typeface="Calibri"/>
                <a:ea typeface="Calibri"/>
                <a:cs typeface="Calibri"/>
                <a:sym typeface="Calibri"/>
              </a:rPr>
              <a:t>Public IP </a:t>
            </a:r>
            <a:r>
              <a:rPr b="0" i="0" lang="en-AU" sz="1600" u="none" cap="none" strike="noStrike">
                <a:solidFill>
                  <a:srgbClr val="000000"/>
                </a:solidFill>
                <a:latin typeface="Calibri"/>
                <a:ea typeface="Calibri"/>
                <a:cs typeface="Calibri"/>
                <a:sym typeface="Calibri"/>
              </a:rPr>
              <a:t>Before</a:t>
            </a:r>
            <a:r>
              <a:rPr b="0" i="0" lang="en-AU" sz="1022" u="none" cap="none" strike="noStrike">
                <a:solidFill>
                  <a:srgbClr val="000000"/>
                </a:solidFill>
                <a:latin typeface="Calibri"/>
                <a:ea typeface="Calibri"/>
                <a:cs typeface="Calibri"/>
                <a:sym typeface="Calibri"/>
              </a:rPr>
              <a:t> VPN connection</a:t>
            </a:r>
            <a:endParaRPr b="0" i="0" sz="1400" u="none" cap="none" strike="noStrike">
              <a:solidFill>
                <a:srgbClr val="000000"/>
              </a:solidFill>
              <a:latin typeface="Calibri"/>
              <a:ea typeface="Calibri"/>
              <a:cs typeface="Calibri"/>
              <a:sym typeface="Calibri"/>
            </a:endParaRPr>
          </a:p>
        </p:txBody>
      </p:sp>
      <p:sp>
        <p:nvSpPr>
          <p:cNvPr id="184" name="Google Shape;184;p6"/>
          <p:cNvSpPr txBox="1"/>
          <p:nvPr/>
        </p:nvSpPr>
        <p:spPr>
          <a:xfrm>
            <a:off x="4798035" y="364142"/>
            <a:ext cx="2565656" cy="386799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600"/>
              </a:spcAft>
              <a:buNone/>
            </a:pPr>
            <a:r>
              <a:rPr b="0" i="0" lang="en-AU" sz="1400" u="none" cap="none" strike="noStrike">
                <a:solidFill>
                  <a:srgbClr val="000000"/>
                </a:solidFill>
                <a:latin typeface="Calibri"/>
                <a:ea typeface="Calibri"/>
                <a:cs typeface="Calibri"/>
                <a:sym typeface="Calibri"/>
              </a:rPr>
              <a:t>Connection LOG</a:t>
            </a:r>
            <a:endParaRPr b="0" i="0" sz="2400" u="none" cap="none" strike="noStrike">
              <a:solidFill>
                <a:srgbClr val="000000"/>
              </a:solidFill>
              <a:latin typeface="Calibri"/>
              <a:ea typeface="Calibri"/>
              <a:cs typeface="Calibri"/>
              <a:sym typeface="Calibri"/>
            </a:endParaRPr>
          </a:p>
        </p:txBody>
      </p:sp>
      <p:sp>
        <p:nvSpPr>
          <p:cNvPr id="185" name="Google Shape;185;p6"/>
          <p:cNvSpPr txBox="1"/>
          <p:nvPr/>
        </p:nvSpPr>
        <p:spPr>
          <a:xfrm>
            <a:off x="7582676" y="364142"/>
            <a:ext cx="2565656" cy="386799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600"/>
              </a:spcAft>
              <a:buNone/>
            </a:pPr>
            <a:r>
              <a:rPr b="0" i="0" lang="en-AU" sz="1022" u="none" cap="none" strike="noStrike">
                <a:solidFill>
                  <a:srgbClr val="000000"/>
                </a:solidFill>
                <a:latin typeface="Calibri"/>
                <a:ea typeface="Calibri"/>
                <a:cs typeface="Calibri"/>
                <a:sym typeface="Calibri"/>
              </a:rPr>
              <a:t>Public IP </a:t>
            </a:r>
            <a:r>
              <a:rPr b="1" i="0" lang="en-AU" sz="1022" u="none" cap="none" strike="noStrike">
                <a:solidFill>
                  <a:srgbClr val="000000"/>
                </a:solidFill>
                <a:latin typeface="Calibri"/>
                <a:ea typeface="Calibri"/>
                <a:cs typeface="Calibri"/>
                <a:sym typeface="Calibri"/>
              </a:rPr>
              <a:t>After</a:t>
            </a:r>
            <a:r>
              <a:rPr b="0" i="0" lang="en-AU" sz="1022" u="none" cap="none" strike="noStrike">
                <a:solidFill>
                  <a:srgbClr val="000000"/>
                </a:solidFill>
                <a:latin typeface="Calibri"/>
                <a:ea typeface="Calibri"/>
                <a:cs typeface="Calibri"/>
                <a:sym typeface="Calibri"/>
              </a:rPr>
              <a:t> </a:t>
            </a:r>
            <a:r>
              <a:rPr b="0" i="0" lang="en-AU" sz="1400" u="none" cap="none" strike="noStrike">
                <a:solidFill>
                  <a:srgbClr val="000000"/>
                </a:solidFill>
                <a:latin typeface="Calibri"/>
                <a:ea typeface="Calibri"/>
                <a:cs typeface="Calibri"/>
                <a:sym typeface="Calibri"/>
              </a:rPr>
              <a:t>VPN</a:t>
            </a:r>
            <a:r>
              <a:rPr b="0" i="0" lang="en-AU" sz="1022" u="none" cap="none" strike="noStrike">
                <a:solidFill>
                  <a:srgbClr val="000000"/>
                </a:solidFill>
                <a:latin typeface="Calibri"/>
                <a:ea typeface="Calibri"/>
                <a:cs typeface="Calibri"/>
                <a:sym typeface="Calibri"/>
              </a:rPr>
              <a:t> connection</a:t>
            </a:r>
            <a:endParaRPr b="0" i="0" sz="1400" u="none" cap="none" strike="noStrike">
              <a:solidFill>
                <a:srgbClr val="000000"/>
              </a:solidFill>
              <a:latin typeface="Calibri"/>
              <a:ea typeface="Calibri"/>
              <a:cs typeface="Calibri"/>
              <a:sym typeface="Calibri"/>
            </a:endParaRPr>
          </a:p>
        </p:txBody>
      </p:sp>
      <p:pic>
        <p:nvPicPr>
          <p:cNvPr id="186" name="Google Shape;186;p6"/>
          <p:cNvPicPr preferRelativeResize="0"/>
          <p:nvPr/>
        </p:nvPicPr>
        <p:blipFill rotWithShape="1">
          <a:blip r:embed="rId3">
            <a:alphaModFix/>
          </a:blip>
          <a:srcRect b="0" l="0" r="0" t="0"/>
          <a:stretch/>
        </p:blipFill>
        <p:spPr>
          <a:xfrm>
            <a:off x="7625367" y="721965"/>
            <a:ext cx="1954055" cy="3228398"/>
          </a:xfrm>
          <a:prstGeom prst="rect">
            <a:avLst/>
          </a:prstGeom>
          <a:noFill/>
          <a:ln>
            <a:noFill/>
          </a:ln>
        </p:spPr>
      </p:pic>
      <p:pic>
        <p:nvPicPr>
          <p:cNvPr id="187" name="Google Shape;187;p6"/>
          <p:cNvPicPr preferRelativeResize="0"/>
          <p:nvPr/>
        </p:nvPicPr>
        <p:blipFill rotWithShape="1">
          <a:blip r:embed="rId4">
            <a:alphaModFix/>
          </a:blip>
          <a:srcRect b="0" l="0" r="0" t="0"/>
          <a:stretch/>
        </p:blipFill>
        <p:spPr>
          <a:xfrm>
            <a:off x="5088221" y="764877"/>
            <a:ext cx="1737037" cy="3135648"/>
          </a:xfrm>
          <a:prstGeom prst="rect">
            <a:avLst/>
          </a:prstGeom>
          <a:noFill/>
          <a:ln>
            <a:noFill/>
          </a:ln>
        </p:spPr>
      </p:pic>
      <p:pic>
        <p:nvPicPr>
          <p:cNvPr id="188" name="Google Shape;188;p6"/>
          <p:cNvPicPr preferRelativeResize="0"/>
          <p:nvPr/>
        </p:nvPicPr>
        <p:blipFill rotWithShape="1">
          <a:blip r:embed="rId5">
            <a:alphaModFix/>
          </a:blip>
          <a:srcRect b="16943" l="0" r="0" t="0"/>
          <a:stretch/>
        </p:blipFill>
        <p:spPr>
          <a:xfrm>
            <a:off x="2228962" y="834002"/>
            <a:ext cx="1903834" cy="30665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g25b546b0d33_0_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g25b546b0d33_0_5"/>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lang="en-AU"/>
              <a:t>Explain why the public IP is different?</a:t>
            </a:r>
            <a:endParaRPr/>
          </a:p>
        </p:txBody>
      </p:sp>
      <p:sp>
        <p:nvSpPr>
          <p:cNvPr id="195" name="Google Shape;195;g25b546b0d33_0_5"/>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196" name="Google Shape;196;g25b546b0d33_0_5"/>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nvGrpSpPr>
          <p:cNvPr id="197" name="Google Shape;197;g25b546b0d33_0_5"/>
          <p:cNvGrpSpPr/>
          <p:nvPr/>
        </p:nvGrpSpPr>
        <p:grpSpPr>
          <a:xfrm>
            <a:off x="838200" y="1926797"/>
            <a:ext cx="10515600" cy="4356460"/>
            <a:chOff x="0" y="531"/>
            <a:chExt cx="10515600" cy="4356460"/>
          </a:xfrm>
        </p:grpSpPr>
        <p:sp>
          <p:nvSpPr>
            <p:cNvPr id="198" name="Google Shape;198;g25b546b0d33_0_5"/>
            <p:cNvSpPr/>
            <p:nvPr/>
          </p:nvSpPr>
          <p:spPr>
            <a:xfrm>
              <a:off x="0" y="531"/>
              <a:ext cx="10515600" cy="1244702"/>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25b546b0d33_0_5"/>
            <p:cNvSpPr/>
            <p:nvPr/>
          </p:nvSpPr>
          <p:spPr>
            <a:xfrm>
              <a:off x="376522" y="280590"/>
              <a:ext cx="684586" cy="684586"/>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25b546b0d33_0_5"/>
            <p:cNvSpPr/>
            <p:nvPr/>
          </p:nvSpPr>
          <p:spPr>
            <a:xfrm>
              <a:off x="1437631" y="531"/>
              <a:ext cx="9077968" cy="12447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25b546b0d33_0_5"/>
            <p:cNvSpPr txBox="1"/>
            <p:nvPr/>
          </p:nvSpPr>
          <p:spPr>
            <a:xfrm>
              <a:off x="1437631" y="531"/>
              <a:ext cx="9077968" cy="1244702"/>
            </a:xfrm>
            <a:prstGeom prst="rect">
              <a:avLst/>
            </a:prstGeom>
            <a:noFill/>
            <a:ln>
              <a:noFill/>
            </a:ln>
          </p:spPr>
          <p:txBody>
            <a:bodyPr anchorCtr="0" anchor="ctr" bIns="131725" lIns="131725" spcFirstLastPara="1" rIns="131725" wrap="square" tIns="131725">
              <a:noAutofit/>
            </a:bodyPr>
            <a:lstStyle/>
            <a:p>
              <a:pPr indent="0" lvl="0" marL="0" marR="0" rtl="0" algn="l">
                <a:lnSpc>
                  <a:spcPct val="90000"/>
                </a:lnSpc>
                <a:spcBef>
                  <a:spcPts val="0"/>
                </a:spcBef>
                <a:spcAft>
                  <a:spcPts val="0"/>
                </a:spcAft>
                <a:buClr>
                  <a:srgbClr val="000000"/>
                </a:buClr>
                <a:buSzPts val="2400"/>
                <a:buFont typeface="Arial"/>
                <a:buNone/>
              </a:pPr>
              <a:r>
                <a:rPr b="0" i="0" lang="en-AU" sz="2400" u="none" cap="none" strike="noStrike">
                  <a:solidFill>
                    <a:srgbClr val="000000"/>
                  </a:solidFill>
                  <a:latin typeface="Arial"/>
                  <a:ea typeface="Arial"/>
                  <a:cs typeface="Arial"/>
                  <a:sym typeface="Arial"/>
                </a:rPr>
                <a:t>The public IP address changes when a machine uses a VPN as it redirects the machine’s internet traffic to a different server, in another location. </a:t>
              </a:r>
              <a:endParaRPr b="0" i="0" sz="2400" u="none" cap="none" strike="noStrike">
                <a:solidFill>
                  <a:srgbClr val="000000"/>
                </a:solidFill>
                <a:latin typeface="Arial"/>
                <a:ea typeface="Arial"/>
                <a:cs typeface="Arial"/>
                <a:sym typeface="Arial"/>
              </a:endParaRPr>
            </a:p>
          </p:txBody>
        </p:sp>
        <p:sp>
          <p:nvSpPr>
            <p:cNvPr id="202" name="Google Shape;202;g25b546b0d33_0_5"/>
            <p:cNvSpPr/>
            <p:nvPr/>
          </p:nvSpPr>
          <p:spPr>
            <a:xfrm>
              <a:off x="0" y="1556410"/>
              <a:ext cx="10515600" cy="1244702"/>
            </a:xfrm>
            <a:prstGeom prst="roundRect">
              <a:avLst>
                <a:gd fmla="val 1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25b546b0d33_0_5"/>
            <p:cNvSpPr/>
            <p:nvPr/>
          </p:nvSpPr>
          <p:spPr>
            <a:xfrm>
              <a:off x="376522" y="1836468"/>
              <a:ext cx="684586" cy="684586"/>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25b546b0d33_0_5"/>
            <p:cNvSpPr/>
            <p:nvPr/>
          </p:nvSpPr>
          <p:spPr>
            <a:xfrm>
              <a:off x="1437631" y="1556410"/>
              <a:ext cx="9077968" cy="12447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25b546b0d33_0_5"/>
            <p:cNvSpPr txBox="1"/>
            <p:nvPr/>
          </p:nvSpPr>
          <p:spPr>
            <a:xfrm>
              <a:off x="1437631" y="1556410"/>
              <a:ext cx="9077968" cy="1244702"/>
            </a:xfrm>
            <a:prstGeom prst="rect">
              <a:avLst/>
            </a:prstGeom>
            <a:noFill/>
            <a:ln>
              <a:noFill/>
            </a:ln>
          </p:spPr>
          <p:txBody>
            <a:bodyPr anchorCtr="0" anchor="ctr" bIns="131725" lIns="131725" spcFirstLastPara="1" rIns="131725" wrap="square" tIns="131725">
              <a:noAutofit/>
            </a:bodyPr>
            <a:lstStyle/>
            <a:p>
              <a:pPr indent="0" lvl="0" marL="0" marR="0" rtl="0" algn="l">
                <a:lnSpc>
                  <a:spcPct val="90000"/>
                </a:lnSpc>
                <a:spcBef>
                  <a:spcPts val="0"/>
                </a:spcBef>
                <a:spcAft>
                  <a:spcPts val="0"/>
                </a:spcAft>
                <a:buClr>
                  <a:srgbClr val="000000"/>
                </a:buClr>
                <a:buSzPts val="2400"/>
                <a:buFont typeface="Arial"/>
                <a:buNone/>
              </a:pPr>
              <a:r>
                <a:rPr b="0" i="0" lang="en-AU" sz="2400" u="none" cap="none" strike="noStrike">
                  <a:solidFill>
                    <a:srgbClr val="000000"/>
                  </a:solidFill>
                  <a:latin typeface="Arial"/>
                  <a:ea typeface="Arial"/>
                  <a:cs typeface="Arial"/>
                  <a:sym typeface="Arial"/>
                </a:rPr>
                <a:t>The VPN acts as a middleman between the machine and online websites and services, encrypting the data that the web server views.</a:t>
              </a:r>
              <a:endParaRPr b="0" i="0" sz="2400" u="none" cap="none" strike="noStrike">
                <a:solidFill>
                  <a:srgbClr val="000000"/>
                </a:solidFill>
                <a:latin typeface="Arial"/>
                <a:ea typeface="Arial"/>
                <a:cs typeface="Arial"/>
                <a:sym typeface="Arial"/>
              </a:endParaRPr>
            </a:p>
          </p:txBody>
        </p:sp>
        <p:sp>
          <p:nvSpPr>
            <p:cNvPr id="206" name="Google Shape;206;g25b546b0d33_0_5"/>
            <p:cNvSpPr/>
            <p:nvPr/>
          </p:nvSpPr>
          <p:spPr>
            <a:xfrm>
              <a:off x="0" y="3112289"/>
              <a:ext cx="10515600" cy="1244702"/>
            </a:xfrm>
            <a:prstGeom prst="roundRect">
              <a:avLst>
                <a:gd fmla="val 1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25b546b0d33_0_5"/>
            <p:cNvSpPr/>
            <p:nvPr/>
          </p:nvSpPr>
          <p:spPr>
            <a:xfrm>
              <a:off x="376522" y="3392347"/>
              <a:ext cx="684586" cy="684586"/>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25b546b0d33_0_5"/>
            <p:cNvSpPr/>
            <p:nvPr/>
          </p:nvSpPr>
          <p:spPr>
            <a:xfrm>
              <a:off x="1437631" y="3112289"/>
              <a:ext cx="9077968" cy="12447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5b546b0d33_0_5"/>
            <p:cNvSpPr txBox="1"/>
            <p:nvPr/>
          </p:nvSpPr>
          <p:spPr>
            <a:xfrm>
              <a:off x="1437631" y="3112289"/>
              <a:ext cx="9077968" cy="1244702"/>
            </a:xfrm>
            <a:prstGeom prst="rect">
              <a:avLst/>
            </a:prstGeom>
            <a:noFill/>
            <a:ln>
              <a:noFill/>
            </a:ln>
          </p:spPr>
          <p:txBody>
            <a:bodyPr anchorCtr="0" anchor="ctr" bIns="131725" lIns="131725" spcFirstLastPara="1" rIns="131725" wrap="square" tIns="131725">
              <a:noAutofit/>
            </a:bodyPr>
            <a:lstStyle/>
            <a:p>
              <a:pPr indent="0" lvl="0" marL="0" marR="0" rtl="0" algn="l">
                <a:lnSpc>
                  <a:spcPct val="90000"/>
                </a:lnSpc>
                <a:spcBef>
                  <a:spcPts val="0"/>
                </a:spcBef>
                <a:spcAft>
                  <a:spcPts val="0"/>
                </a:spcAft>
                <a:buClr>
                  <a:srgbClr val="000000"/>
                </a:buClr>
                <a:buSzPts val="2400"/>
                <a:buFont typeface="Arial"/>
                <a:buNone/>
              </a:pPr>
              <a:r>
                <a:rPr b="0" i="0" lang="en-AU" sz="2400" u="none" cap="none" strike="noStrike">
                  <a:solidFill>
                    <a:srgbClr val="000000"/>
                  </a:solidFill>
                  <a:latin typeface="Arial"/>
                  <a:ea typeface="Arial"/>
                  <a:cs typeface="Arial"/>
                  <a:sym typeface="Arial"/>
                </a:rPr>
                <a:t>This causes these online sites and services to perceive the VPN IP address rather than the machine’s original public IP address, keeping the user’s identity and location protected. </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g25b546b0d33_0_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5" name="Google Shape;215;g25b546b0d33_0_10"/>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1000"/>
              </a:spcBef>
              <a:spcAft>
                <a:spcPts val="0"/>
              </a:spcAft>
              <a:buSzPts val="1800"/>
              <a:buNone/>
            </a:pPr>
            <a:r>
              <a:rPr lang="en-AU" sz="3400"/>
              <a:t>Explain how a VPN can prevent attacks on your mobile?</a:t>
            </a:r>
            <a:endParaRPr/>
          </a:p>
        </p:txBody>
      </p:sp>
      <p:sp>
        <p:nvSpPr>
          <p:cNvPr id="216" name="Google Shape;216;g25b546b0d33_0_10"/>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217" name="Google Shape;217;g25b546b0d33_0_10"/>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nvGrpSpPr>
          <p:cNvPr id="218" name="Google Shape;218;g25b546b0d33_0_10"/>
          <p:cNvGrpSpPr/>
          <p:nvPr/>
        </p:nvGrpSpPr>
        <p:grpSpPr>
          <a:xfrm>
            <a:off x="838200" y="1926797"/>
            <a:ext cx="10515600" cy="4356460"/>
            <a:chOff x="0" y="531"/>
            <a:chExt cx="10515600" cy="4356460"/>
          </a:xfrm>
        </p:grpSpPr>
        <p:sp>
          <p:nvSpPr>
            <p:cNvPr id="219" name="Google Shape;219;g25b546b0d33_0_10"/>
            <p:cNvSpPr/>
            <p:nvPr/>
          </p:nvSpPr>
          <p:spPr>
            <a:xfrm>
              <a:off x="0" y="531"/>
              <a:ext cx="10515600" cy="1244702"/>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5b546b0d33_0_10"/>
            <p:cNvSpPr/>
            <p:nvPr/>
          </p:nvSpPr>
          <p:spPr>
            <a:xfrm>
              <a:off x="376522" y="280590"/>
              <a:ext cx="684586" cy="684586"/>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25b546b0d33_0_10"/>
            <p:cNvSpPr/>
            <p:nvPr/>
          </p:nvSpPr>
          <p:spPr>
            <a:xfrm>
              <a:off x="1437631" y="531"/>
              <a:ext cx="9077968" cy="12447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25b546b0d33_0_10"/>
            <p:cNvSpPr txBox="1"/>
            <p:nvPr/>
          </p:nvSpPr>
          <p:spPr>
            <a:xfrm>
              <a:off x="1437631" y="531"/>
              <a:ext cx="9077968" cy="1244702"/>
            </a:xfrm>
            <a:prstGeom prst="rect">
              <a:avLst/>
            </a:prstGeom>
            <a:noFill/>
            <a:ln>
              <a:noFill/>
            </a:ln>
          </p:spPr>
          <p:txBody>
            <a:bodyPr anchorCtr="0" anchor="ctr" bIns="131725" lIns="131725" spcFirstLastPara="1" rIns="131725" wrap="square" tIns="131725">
              <a:noAutofit/>
            </a:bodyPr>
            <a:lstStyle/>
            <a:p>
              <a:pPr indent="0" lvl="0" marL="0" marR="0" rtl="0" algn="l">
                <a:lnSpc>
                  <a:spcPct val="90000"/>
                </a:lnSpc>
                <a:spcBef>
                  <a:spcPts val="0"/>
                </a:spcBef>
                <a:spcAft>
                  <a:spcPts val="0"/>
                </a:spcAft>
                <a:buClr>
                  <a:srgbClr val="000000"/>
                </a:buClr>
                <a:buSzPts val="1800"/>
                <a:buFont typeface="Arial"/>
                <a:buNone/>
              </a:pPr>
              <a:r>
                <a:rPr b="0" i="0" lang="en-AU" sz="1800" u="none" cap="none" strike="noStrike">
                  <a:solidFill>
                    <a:srgbClr val="000000"/>
                  </a:solidFill>
                  <a:latin typeface="Arial"/>
                  <a:ea typeface="Arial"/>
                  <a:cs typeface="Arial"/>
                  <a:sym typeface="Arial"/>
                </a:rPr>
                <a:t>A VPN can prevent attacks on your mobile device by encrypting and altering the mobile’s public IP and redirecting internet traffic.</a:t>
              </a:r>
              <a:endParaRPr b="0" i="0" sz="1800" u="none" cap="none" strike="noStrike">
                <a:solidFill>
                  <a:srgbClr val="000000"/>
                </a:solidFill>
                <a:latin typeface="Arial"/>
                <a:ea typeface="Arial"/>
                <a:cs typeface="Arial"/>
                <a:sym typeface="Arial"/>
              </a:endParaRPr>
            </a:p>
          </p:txBody>
        </p:sp>
        <p:sp>
          <p:nvSpPr>
            <p:cNvPr id="223" name="Google Shape;223;g25b546b0d33_0_10"/>
            <p:cNvSpPr/>
            <p:nvPr/>
          </p:nvSpPr>
          <p:spPr>
            <a:xfrm>
              <a:off x="0" y="1556410"/>
              <a:ext cx="10515600" cy="1244702"/>
            </a:xfrm>
            <a:prstGeom prst="roundRect">
              <a:avLst>
                <a:gd fmla="val 1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25b546b0d33_0_10"/>
            <p:cNvSpPr/>
            <p:nvPr/>
          </p:nvSpPr>
          <p:spPr>
            <a:xfrm>
              <a:off x="376522" y="1836468"/>
              <a:ext cx="684586" cy="684586"/>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25b546b0d33_0_10"/>
            <p:cNvSpPr/>
            <p:nvPr/>
          </p:nvSpPr>
          <p:spPr>
            <a:xfrm>
              <a:off x="1437631" y="1556410"/>
              <a:ext cx="9077968" cy="12447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25b546b0d33_0_10"/>
            <p:cNvSpPr txBox="1"/>
            <p:nvPr/>
          </p:nvSpPr>
          <p:spPr>
            <a:xfrm>
              <a:off x="1437631" y="1556410"/>
              <a:ext cx="9077968" cy="1244702"/>
            </a:xfrm>
            <a:prstGeom prst="rect">
              <a:avLst/>
            </a:prstGeom>
            <a:noFill/>
            <a:ln>
              <a:noFill/>
            </a:ln>
          </p:spPr>
          <p:txBody>
            <a:bodyPr anchorCtr="0" anchor="ctr" bIns="131725" lIns="131725" spcFirstLastPara="1" rIns="131725" wrap="square" tIns="131725">
              <a:noAutofit/>
            </a:bodyPr>
            <a:lstStyle/>
            <a:p>
              <a:pPr indent="0" lvl="0" marL="0" marR="0" rtl="0" algn="l">
                <a:lnSpc>
                  <a:spcPct val="90000"/>
                </a:lnSpc>
                <a:spcBef>
                  <a:spcPts val="0"/>
                </a:spcBef>
                <a:spcAft>
                  <a:spcPts val="0"/>
                </a:spcAft>
                <a:buClr>
                  <a:srgbClr val="000000"/>
                </a:buClr>
                <a:buSzPts val="1800"/>
                <a:buFont typeface="Arial"/>
                <a:buNone/>
              </a:pPr>
              <a:r>
                <a:rPr b="0" i="0" lang="en-AU" sz="1800" u="none" cap="none" strike="noStrike">
                  <a:solidFill>
                    <a:srgbClr val="000000"/>
                  </a:solidFill>
                  <a:latin typeface="Arial"/>
                  <a:ea typeface="Arial"/>
                  <a:cs typeface="Arial"/>
                  <a:sym typeface="Arial"/>
                </a:rPr>
                <a:t>The alternation of the mobile’s IP address make it difficult for malicious actors to target the device. These protocols that are put in place ensure that any malicious attackers are unable or find difficult to obtain sensitive and private information or data. </a:t>
              </a:r>
              <a:endParaRPr b="0" i="0" sz="1800" u="none" cap="none" strike="noStrike">
                <a:solidFill>
                  <a:srgbClr val="000000"/>
                </a:solidFill>
                <a:latin typeface="Arial"/>
                <a:ea typeface="Arial"/>
                <a:cs typeface="Arial"/>
                <a:sym typeface="Arial"/>
              </a:endParaRPr>
            </a:p>
          </p:txBody>
        </p:sp>
        <p:sp>
          <p:nvSpPr>
            <p:cNvPr id="227" name="Google Shape;227;g25b546b0d33_0_10"/>
            <p:cNvSpPr/>
            <p:nvPr/>
          </p:nvSpPr>
          <p:spPr>
            <a:xfrm>
              <a:off x="0" y="3112289"/>
              <a:ext cx="10515600" cy="1244702"/>
            </a:xfrm>
            <a:prstGeom prst="roundRect">
              <a:avLst>
                <a:gd fmla="val 1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25b546b0d33_0_10"/>
            <p:cNvSpPr/>
            <p:nvPr/>
          </p:nvSpPr>
          <p:spPr>
            <a:xfrm>
              <a:off x="376522" y="3392347"/>
              <a:ext cx="684586" cy="684586"/>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25b546b0d33_0_10"/>
            <p:cNvSpPr/>
            <p:nvPr/>
          </p:nvSpPr>
          <p:spPr>
            <a:xfrm>
              <a:off x="1437631" y="3112289"/>
              <a:ext cx="9077968" cy="12447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25b546b0d33_0_10"/>
            <p:cNvSpPr txBox="1"/>
            <p:nvPr/>
          </p:nvSpPr>
          <p:spPr>
            <a:xfrm>
              <a:off x="1437631" y="3112289"/>
              <a:ext cx="9077968" cy="1244702"/>
            </a:xfrm>
            <a:prstGeom prst="rect">
              <a:avLst/>
            </a:prstGeom>
            <a:noFill/>
            <a:ln>
              <a:noFill/>
            </a:ln>
          </p:spPr>
          <p:txBody>
            <a:bodyPr anchorCtr="0" anchor="ctr" bIns="131725" lIns="131725" spcFirstLastPara="1" rIns="131725" wrap="square" tIns="131725">
              <a:noAutofit/>
            </a:bodyPr>
            <a:lstStyle/>
            <a:p>
              <a:pPr indent="0" lvl="0" marL="0" marR="0" rtl="0" algn="l">
                <a:lnSpc>
                  <a:spcPct val="90000"/>
                </a:lnSpc>
                <a:spcBef>
                  <a:spcPts val="0"/>
                </a:spcBef>
                <a:spcAft>
                  <a:spcPts val="0"/>
                </a:spcAft>
                <a:buClr>
                  <a:srgbClr val="000000"/>
                </a:buClr>
                <a:buSzPts val="1800"/>
                <a:buFont typeface="Arial"/>
                <a:buNone/>
              </a:pPr>
              <a:r>
                <a:rPr b="0" i="0" lang="en-AU" sz="1800" u="none" cap="none" strike="noStrike">
                  <a:solidFill>
                    <a:srgbClr val="000000"/>
                  </a:solidFill>
                  <a:latin typeface="Arial"/>
                  <a:ea typeface="Arial"/>
                  <a:cs typeface="Arial"/>
                  <a:sym typeface="Arial"/>
                </a:rPr>
                <a:t>The use of a VPN significantly increase the mobile’s internet security and privacy, protecting the user from cyber attacks, malicious actors, and threats.</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10"/>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6" name="Google Shape;236;p10"/>
          <p:cNvSpPr txBox="1"/>
          <p:nvPr>
            <p:ph type="title"/>
          </p:nvPr>
        </p:nvSpPr>
        <p:spPr>
          <a:xfrm>
            <a:off x="808638" y="386930"/>
            <a:ext cx="9236700" cy="11889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AU" sz="5400"/>
              <a:t>Discussion and conclusion</a:t>
            </a:r>
            <a:endParaRPr/>
          </a:p>
        </p:txBody>
      </p:sp>
      <p:grpSp>
        <p:nvGrpSpPr>
          <p:cNvPr id="237" name="Google Shape;237;p10"/>
          <p:cNvGrpSpPr/>
          <p:nvPr/>
        </p:nvGrpSpPr>
        <p:grpSpPr>
          <a:xfrm>
            <a:off x="-2" y="1998368"/>
            <a:ext cx="11695083" cy="782176"/>
            <a:chOff x="-2" y="1998368"/>
            <a:chExt cx="11695083" cy="782176"/>
          </a:xfrm>
        </p:grpSpPr>
        <p:sp>
          <p:nvSpPr>
            <p:cNvPr id="238" name="Google Shape;238;p10"/>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10"/>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240" name="Google Shape;240;p10"/>
          <p:cNvSpPr/>
          <p:nvPr/>
        </p:nvSpPr>
        <p:spPr>
          <a:xfrm>
            <a:off x="0" y="2203079"/>
            <a:ext cx="11383362" cy="414784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1" name="Google Shape;241;p10"/>
          <p:cNvSpPr txBox="1"/>
          <p:nvPr>
            <p:ph idx="1" type="body"/>
          </p:nvPr>
        </p:nvSpPr>
        <p:spPr>
          <a:xfrm>
            <a:off x="793660" y="2599509"/>
            <a:ext cx="10143668" cy="3435531"/>
          </a:xfrm>
          <a:prstGeom prst="rect">
            <a:avLst/>
          </a:prstGeom>
          <a:noFill/>
          <a:ln>
            <a:noFill/>
          </a:ln>
        </p:spPr>
        <p:txBody>
          <a:bodyPr anchorCtr="0" anchor="ctr" bIns="45700" lIns="91425" spcFirstLastPara="1" rIns="91425" wrap="square" tIns="45700">
            <a:noAutofit/>
          </a:bodyPr>
          <a:lstStyle/>
          <a:p>
            <a:pPr indent="0" lvl="0" marL="177800" rtl="0" algn="l">
              <a:lnSpc>
                <a:spcPct val="90000"/>
              </a:lnSpc>
              <a:spcBef>
                <a:spcPts val="0"/>
              </a:spcBef>
              <a:spcAft>
                <a:spcPts val="0"/>
              </a:spcAft>
              <a:buSzPts val="2800"/>
              <a:buNone/>
            </a:pPr>
            <a:r>
              <a:rPr lang="en-AU" sz="2000"/>
              <a:t>VPN technology: </a:t>
            </a:r>
            <a:endParaRPr/>
          </a:p>
          <a:p>
            <a:pPr indent="-457200" lvl="0" marL="635000" rtl="0" algn="l">
              <a:lnSpc>
                <a:spcPct val="90000"/>
              </a:lnSpc>
              <a:spcBef>
                <a:spcPts val="600"/>
              </a:spcBef>
              <a:spcAft>
                <a:spcPts val="0"/>
              </a:spcAft>
              <a:buSzPts val="2800"/>
              <a:buChar char="•"/>
            </a:pPr>
            <a:r>
              <a:rPr lang="en-AU" sz="2000"/>
              <a:t>Increases computational demand and network latency due to packet encapsulation &amp; fragmentation.</a:t>
            </a:r>
            <a:endParaRPr/>
          </a:p>
          <a:p>
            <a:pPr indent="-457200" lvl="0" marL="635000" rtl="0" algn="l">
              <a:lnSpc>
                <a:spcPct val="90000"/>
              </a:lnSpc>
              <a:spcBef>
                <a:spcPts val="600"/>
              </a:spcBef>
              <a:spcAft>
                <a:spcPts val="0"/>
              </a:spcAft>
              <a:buSzPts val="2800"/>
              <a:buChar char="•"/>
            </a:pPr>
            <a:r>
              <a:rPr lang="en-AU" sz="2000"/>
              <a:t>Provides a method of securely bridging LAN networks across the WAN, allowing for the sharing of network resources.</a:t>
            </a:r>
            <a:endParaRPr/>
          </a:p>
          <a:p>
            <a:pPr indent="-457200" lvl="0" marL="635000" rtl="0" algn="l">
              <a:lnSpc>
                <a:spcPct val="90000"/>
              </a:lnSpc>
              <a:spcBef>
                <a:spcPts val="600"/>
              </a:spcBef>
              <a:spcAft>
                <a:spcPts val="0"/>
              </a:spcAft>
              <a:buSzPts val="2800"/>
              <a:buChar char="•"/>
            </a:pPr>
            <a:r>
              <a:rPr lang="en-AU" sz="2000"/>
              <a:t>Allows external Endpoint devices access to Internal resources, particularly in WFH environments.</a:t>
            </a:r>
            <a:endParaRPr/>
          </a:p>
          <a:p>
            <a:pPr indent="-457200" lvl="0" marL="635000" rtl="0" algn="l">
              <a:lnSpc>
                <a:spcPct val="90000"/>
              </a:lnSpc>
              <a:spcBef>
                <a:spcPts val="600"/>
              </a:spcBef>
              <a:spcAft>
                <a:spcPts val="0"/>
              </a:spcAft>
              <a:buSzPts val="2800"/>
              <a:buChar char="•"/>
            </a:pPr>
            <a:r>
              <a:rPr lang="en-AU" sz="2000"/>
              <a:t>WFH endpoint devices can become an attack vector if not properly controlled. </a:t>
            </a:r>
            <a:endParaRPr/>
          </a:p>
          <a:p>
            <a:pPr indent="-457200" lvl="0" marL="635000" rtl="0" algn="l">
              <a:lnSpc>
                <a:spcPct val="90000"/>
              </a:lnSpc>
              <a:spcBef>
                <a:spcPts val="600"/>
              </a:spcBef>
              <a:spcAft>
                <a:spcPts val="0"/>
              </a:spcAft>
              <a:buSzPts val="2800"/>
              <a:buChar char="•"/>
            </a:pPr>
            <a:r>
              <a:rPr lang="en-AU" sz="2000"/>
              <a:t>VPN usage allows the endpoint device to communicate to the WAN through the Host gateway, using the Host Public IP.</a:t>
            </a:r>
            <a:endParaRPr/>
          </a:p>
          <a:p>
            <a:pPr indent="-279400" lvl="0" marL="635000" rtl="0" algn="l">
              <a:lnSpc>
                <a:spcPct val="90000"/>
              </a:lnSpc>
              <a:spcBef>
                <a:spcPts val="600"/>
              </a:spcBef>
              <a:spcAft>
                <a:spcPts val="600"/>
              </a:spcAft>
              <a:buSzPts val="2800"/>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2023-07-21T04:12:51Z</dcterms:created>
  <dc:creator>Mat Gallehawk</dc:creator>
</cp:coreProperties>
</file>