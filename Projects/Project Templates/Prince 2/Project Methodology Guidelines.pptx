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54" r:id="rId5"/>
    <p:sldMasterId id="2147483674" r:id="rId6"/>
    <p:sldMasterId id="2147483656" r:id="rId7"/>
    <p:sldMasterId id="2147483661" r:id="rId8"/>
    <p:sldMasterId id="2147483666" r:id="rId9"/>
  </p:sldMasterIdLst>
  <p:sldIdLst>
    <p:sldId id="257" r:id="rId10"/>
    <p:sldId id="268" r:id="rId11"/>
    <p:sldId id="266" r:id="rId12"/>
    <p:sldId id="267" r:id="rId13"/>
    <p:sldId id="269" r:id="rId14"/>
    <p:sldId id="270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6">
          <p15:clr>
            <a:srgbClr val="A4A3A4"/>
          </p15:clr>
        </p15:guide>
        <p15:guide id="2" orient="horz" pos="429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5325">
          <p15:clr>
            <a:srgbClr val="A4A3A4"/>
          </p15:clr>
        </p15:guide>
        <p15:guide id="5" pos="435">
          <p15:clr>
            <a:srgbClr val="A4A3A4"/>
          </p15:clr>
        </p15:guide>
        <p15:guide id="6" pos="2916">
          <p15:clr>
            <a:srgbClr val="A4A3A4"/>
          </p15:clr>
        </p15:guide>
        <p15:guide id="7" orient="horz" pos="2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A09C"/>
    <a:srgbClr val="F8981D"/>
    <a:srgbClr val="6C7076"/>
    <a:srgbClr val="F48717"/>
    <a:srgbClr val="13948C"/>
    <a:srgbClr val="585B65"/>
    <a:srgbClr val="009999"/>
    <a:srgbClr val="22848D"/>
    <a:srgbClr val="17847A"/>
    <a:srgbClr val="575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714" y="126"/>
      </p:cViewPr>
      <p:guideLst>
        <p:guide orient="horz" pos="2906"/>
        <p:guide orient="horz" pos="429"/>
        <p:guide orient="horz" pos="1614"/>
        <p:guide pos="5325"/>
        <p:guide pos="435"/>
        <p:guide pos="2916"/>
        <p:guide orient="horz" pos="28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Daly" userId="819567e7-b13d-426c-99fa-035b2637d784" providerId="ADAL" clId="{FBBA60F2-59C3-4761-92CB-ACF8CCD6B363}"/>
    <pc:docChg chg="modSld">
      <pc:chgData name="Darren Daly" userId="819567e7-b13d-426c-99fa-035b2637d784" providerId="ADAL" clId="{FBBA60F2-59C3-4761-92CB-ACF8CCD6B363}" dt="2023-03-29T01:59:25.836" v="0" actId="20577"/>
      <pc:docMkLst>
        <pc:docMk/>
      </pc:docMkLst>
      <pc:sldChg chg="modSp mod">
        <pc:chgData name="Darren Daly" userId="819567e7-b13d-426c-99fa-035b2637d784" providerId="ADAL" clId="{FBBA60F2-59C3-4761-92CB-ACF8CCD6B363}" dt="2023-03-29T01:59:25.836" v="0" actId="20577"/>
        <pc:sldMkLst>
          <pc:docMk/>
          <pc:sldMk cId="3058300111" sldId="257"/>
        </pc:sldMkLst>
        <pc:spChg chg="mod">
          <ac:chgData name="Darren Daly" userId="819567e7-b13d-426c-99fa-035b2637d784" providerId="ADAL" clId="{FBBA60F2-59C3-4761-92CB-ACF8CCD6B363}" dt="2023-03-29T01:59:25.836" v="0" actId="20577"/>
          <ac:spMkLst>
            <pc:docMk/>
            <pc:sldMk cId="3058300111" sldId="25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491" y="2210552"/>
            <a:ext cx="4340225" cy="55456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PPT Title 2016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0483" y="2732258"/>
            <a:ext cx="4340225" cy="55456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Prepared by [Insert name]</a:t>
            </a:r>
            <a:endParaRPr lang="en-US" dirty="0"/>
          </a:p>
        </p:txBody>
      </p:sp>
      <p:pic>
        <p:nvPicPr>
          <p:cNvPr id="5" name="Picture 4" descr="EWON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5" y="681234"/>
            <a:ext cx="2639655" cy="7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3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62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585B65"/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884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6064183" cy="80402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1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  <p:pic>
        <p:nvPicPr>
          <p:cNvPr id="1027" name="Picture 3" descr="A:\EWON branding\Logos\EWON\Logo - no tagline\EWON-colour-no-tagline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029" y="156983"/>
            <a:ext cx="1909290" cy="58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37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1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2857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8981D"/>
              </a:buClr>
              <a:buSzTx/>
              <a:buFont typeface="Arial"/>
              <a:buChar char="•"/>
              <a:tabLst/>
              <a:defRPr sz="1600" b="0" baseline="0">
                <a:solidFill>
                  <a:srgbClr val="6C7076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AU" dirty="0"/>
              <a:t>Bullet style template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75874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5" y="1990531"/>
            <a:ext cx="3970022" cy="245923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809846" y="1548845"/>
            <a:ext cx="3645179" cy="290091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pic>
        <p:nvPicPr>
          <p:cNvPr id="12" name="Picture 11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1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3608163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pic>
        <p:nvPicPr>
          <p:cNvPr id="4" name="Picture 3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68393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5" y="2125622"/>
            <a:ext cx="3970022" cy="232890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baseline="0">
                <a:solidFill>
                  <a:srgbClr val="585B65"/>
                </a:solidFill>
                <a:latin typeface="+mn-lt"/>
                <a:cs typeface="Arial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806950" y="-1"/>
            <a:ext cx="4337050" cy="514350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3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7" name="Picture 6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3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9" name="Picture 8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96754" y="1990531"/>
            <a:ext cx="7855095" cy="2459231"/>
          </a:xfrm>
          <a:prstGeom prst="rect">
            <a:avLst/>
          </a:prstGeom>
        </p:spPr>
        <p:txBody>
          <a:bodyPr vert="horz" numCol="2" spcCol="36000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0" baseline="0">
                <a:solidFill>
                  <a:srgbClr val="6C7076"/>
                </a:solidFill>
                <a:latin typeface="+mn-lt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487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796334" y="1170896"/>
            <a:ext cx="3657103" cy="2796641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WON-Emphasis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3" y="1832195"/>
            <a:ext cx="417073" cy="359146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95984" y="1942378"/>
            <a:ext cx="3646404" cy="15303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Click to add text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98164" y="1811134"/>
            <a:ext cx="3053442" cy="151616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6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17957" y="594830"/>
            <a:ext cx="7537068" cy="55354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rgbClr val="00A09C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Heading one title placeholder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01978" y="1548845"/>
            <a:ext cx="3970022" cy="42366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1" baseline="0">
                <a:solidFill>
                  <a:srgbClr val="F8981D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Sub heading placeholder</a:t>
            </a:r>
          </a:p>
        </p:txBody>
      </p:sp>
      <p:pic>
        <p:nvPicPr>
          <p:cNvPr id="5" name="Picture 4" descr="EWON-H1-motif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3" y="681038"/>
            <a:ext cx="222391" cy="32773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90927418"/>
              </p:ext>
            </p:extLst>
          </p:nvPr>
        </p:nvGraphicFramePr>
        <p:xfrm>
          <a:off x="690561" y="2075425"/>
          <a:ext cx="7762876" cy="237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82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  <a:cs typeface="Arial"/>
                        </a:rPr>
                        <a:t>Column title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8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6C7076"/>
                          </a:solidFill>
                          <a:latin typeface="+mn-lt"/>
                          <a:cs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C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622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WON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5" y="681234"/>
            <a:ext cx="2639655" cy="795901"/>
          </a:xfrm>
          <a:prstGeom prst="rect">
            <a:avLst/>
          </a:prstGeom>
        </p:spPr>
      </p:pic>
      <p:pic>
        <p:nvPicPr>
          <p:cNvPr id="4" name="Picture 3" descr="EWON-facebook-ico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2607710"/>
            <a:ext cx="375645" cy="375645"/>
          </a:xfrm>
          <a:prstGeom prst="rect">
            <a:avLst/>
          </a:prstGeom>
        </p:spPr>
      </p:pic>
      <p:pic>
        <p:nvPicPr>
          <p:cNvPr id="5" name="Picture 4" descr="EWON-linkedin-icon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3956638"/>
            <a:ext cx="375645" cy="375645"/>
          </a:xfrm>
          <a:prstGeom prst="rect">
            <a:avLst/>
          </a:prstGeom>
        </p:spPr>
      </p:pic>
      <p:pic>
        <p:nvPicPr>
          <p:cNvPr id="6" name="Picture 5" descr="EWON-twitter-icon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222" y="3281690"/>
            <a:ext cx="375645" cy="375645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4990" y="2128605"/>
            <a:ext cx="2628599" cy="51942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6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Contact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95980" y="2704331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Free call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95982" y="3099922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Email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95980" y="3500843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Web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95980" y="3900933"/>
            <a:ext cx="1241489" cy="358014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1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Free post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063421" y="2745809"/>
            <a:ext cx="1674558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1800 246 545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63421" y="3141400"/>
            <a:ext cx="2246526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omb@ewon.com.au</a:t>
            </a:r>
            <a:endParaRPr lang="en-AU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2063421" y="3542321"/>
            <a:ext cx="2246526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ewon.com.au</a:t>
            </a:r>
            <a:endParaRPr lang="en-AU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071710" y="3945590"/>
            <a:ext cx="2246526" cy="719982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Reply Paid 86550 Sydney</a:t>
            </a:r>
          </a:p>
          <a:p>
            <a:pPr lvl="0"/>
            <a:r>
              <a:rPr lang="en-AU" dirty="0"/>
              <a:t>South NSW 1234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51966" y="2623277"/>
            <a:ext cx="2148169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ewonsw</a:t>
            </a:r>
            <a:endParaRPr lang="en-AU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151966" y="3295253"/>
            <a:ext cx="2148169" cy="316536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 err="1"/>
              <a:t>ewonsw</a:t>
            </a:r>
            <a:endParaRPr lang="en-AU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151966" y="3976826"/>
            <a:ext cx="2148169" cy="557812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baseline="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AU" dirty="0"/>
              <a:t>Energy &amp; Water Ombudsman NSW</a:t>
            </a:r>
          </a:p>
        </p:txBody>
      </p:sp>
    </p:spTree>
    <p:extLst>
      <p:ext uri="{BB962C8B-B14F-4D97-AF65-F5344CB8AC3E}">
        <p14:creationId xmlns:p14="http://schemas.microsoft.com/office/powerpoint/2010/main" val="1958341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78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A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termark_logo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644" y="681038"/>
            <a:ext cx="341735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5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23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8" r:id="rId2"/>
    <p:sldLayoutId id="2147483676" r:id="rId3"/>
    <p:sldLayoutId id="2147483655" r:id="rId4"/>
    <p:sldLayoutId id="2147483658" r:id="rId5"/>
    <p:sldLayoutId id="214748366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8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52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82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A0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62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09491" y="2210552"/>
            <a:ext cx="5864952" cy="5545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Project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05830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Purpose of this Presentation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16917" y="1282615"/>
            <a:ext cx="733810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Presentation will:</a:t>
            </a:r>
          </a:p>
          <a:p>
            <a:r>
              <a:rPr lang="en-A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Outline all of the requirements needed to complete a project.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Tailor to suit </a:t>
            </a:r>
            <a:r>
              <a:rPr lang="en-AU" sz="800" dirty="0"/>
              <a:t>@prince2</a:t>
            </a:r>
            <a:endParaRPr lang="en-AU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dirty="0"/>
              <a:t>Learn from experience </a:t>
            </a:r>
            <a:r>
              <a:rPr lang="en-AU" sz="800" dirty="0"/>
              <a:t>@prince2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AU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Define Gates that will need to be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Understand expectation of each stage.</a:t>
            </a:r>
          </a:p>
        </p:txBody>
      </p:sp>
    </p:spTree>
    <p:extLst>
      <p:ext uri="{BB962C8B-B14F-4D97-AF65-F5344CB8AC3E}">
        <p14:creationId xmlns:p14="http://schemas.microsoft.com/office/powerpoint/2010/main" val="109530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Project by Definition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6754" y="1227383"/>
            <a:ext cx="7540791" cy="324642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A </a:t>
            </a:r>
            <a:r>
              <a:rPr lang="en-AU" b="1" dirty="0"/>
              <a:t>project</a:t>
            </a:r>
            <a:r>
              <a:rPr lang="en-AU" dirty="0"/>
              <a:t> can be </a:t>
            </a:r>
            <a:r>
              <a:rPr lang="en-AU" b="1" dirty="0"/>
              <a:t>defined</a:t>
            </a:r>
            <a:r>
              <a:rPr lang="en-AU" dirty="0"/>
              <a:t> as a temporary endeavour undertaken to create a unique product or service. </a:t>
            </a:r>
            <a:r>
              <a:rPr lang="en-AU" b="1" dirty="0"/>
              <a:t>Projects</a:t>
            </a:r>
            <a:r>
              <a:rPr lang="en-AU" dirty="0"/>
              <a:t> are different from other ongoing operations in an organisation, because unlike operations, </a:t>
            </a:r>
            <a:r>
              <a:rPr lang="en-AU" b="1" dirty="0"/>
              <a:t>projects</a:t>
            </a:r>
            <a:r>
              <a:rPr lang="en-AU" dirty="0"/>
              <a:t> have a definite beginning and an end - they have a limited duration.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900" dirty="0"/>
              <a:t>Source: Project Management Institute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46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Stages and Gates by Definition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1686" y="1080097"/>
            <a:ext cx="68058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Stage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 Stage is the Processes and Documents required between each gate.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The scope of each stage will be determined by the project needs.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Templates are available for each stage as required.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 Gate will be deemed as a completed stage with approval  to advance on to the next stage.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Each Gate must be signed off by Project Manager and Project Sponsor to be deemed complete.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Multiple Gates may run in parallel however refer to the above points.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121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Project Gate Details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6302" y="1091590"/>
            <a:ext cx="797746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Initiate</a:t>
            </a:r>
            <a:r>
              <a:rPr lang="en-AU" sz="14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AU" sz="1400" dirty="0"/>
              <a:t>Project Charter with approval to proceed to project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Launch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AU" sz="1400" dirty="0"/>
              <a:t>Business Case, Budgets, Team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Requirements </a:t>
            </a:r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AU" sz="1400" dirty="0"/>
              <a:t>Requirements, Workflows, Auditing, Plans, Risks,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Engagement </a:t>
            </a:r>
          </a:p>
          <a:p>
            <a:pPr marL="2114550" lvl="4" indent="-285750">
              <a:buFont typeface="Wingdings" panose="05000000000000000000" pitchFamily="2" charset="2"/>
              <a:buChar char="§"/>
            </a:pPr>
            <a:r>
              <a:rPr lang="en-AU" sz="1400" dirty="0"/>
              <a:t>External Parties </a:t>
            </a:r>
          </a:p>
          <a:p>
            <a:pPr marL="2114550" lvl="4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Design </a:t>
            </a:r>
          </a:p>
          <a:p>
            <a:pPr marL="2571750" lvl="5" indent="-285750">
              <a:buFont typeface="Wingdings" panose="05000000000000000000" pitchFamily="2" charset="2"/>
              <a:buChar char="§"/>
            </a:pPr>
            <a:r>
              <a:rPr lang="en-AU" sz="1400" dirty="0"/>
              <a:t>The Look, The Feel, The Change, The Support</a:t>
            </a:r>
          </a:p>
          <a:p>
            <a:pPr marL="2571750" lvl="5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Build </a:t>
            </a:r>
          </a:p>
          <a:p>
            <a:pPr marL="3028950" lvl="6" indent="-285750">
              <a:buFont typeface="Wingdings" panose="05000000000000000000" pitchFamily="2" charset="2"/>
              <a:buChar char="§"/>
            </a:pPr>
            <a:r>
              <a:rPr lang="en-AU" sz="1400" dirty="0"/>
              <a:t>Work Packages – Review- Change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Deploy </a:t>
            </a:r>
          </a:p>
          <a:p>
            <a:pPr marL="3486150" lvl="7" indent="-285750">
              <a:buFont typeface="Wingdings" panose="05000000000000000000" pitchFamily="2" charset="2"/>
              <a:buChar char="§"/>
            </a:pPr>
            <a:r>
              <a:rPr lang="en-AU" sz="1400" dirty="0"/>
              <a:t>Plan,  Manage Change, Roll Back Plans</a:t>
            </a:r>
          </a:p>
          <a:p>
            <a:pPr marL="3486150" lvl="7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rgbClr val="FF0000"/>
                </a:solidFill>
              </a:rPr>
              <a:t>Support </a:t>
            </a:r>
          </a:p>
          <a:p>
            <a:pPr marL="3943350" lvl="8" indent="-285750">
              <a:buFont typeface="Wingdings" panose="05000000000000000000" pitchFamily="2" charset="2"/>
              <a:buChar char="§"/>
            </a:pPr>
            <a:r>
              <a:rPr lang="en-AU" sz="1400" dirty="0"/>
              <a:t>Continual Service Improvement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11953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Documents – </a:t>
            </a:r>
            <a:r>
              <a:rPr lang="en-AU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These are currently located in the IT folder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2591" y="1233519"/>
            <a:ext cx="7726373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solidFill>
                  <a:srgbClr val="FF0000"/>
                </a:solidFill>
              </a:rPr>
              <a:t>Gate 1- Initiate</a:t>
            </a:r>
          </a:p>
          <a:p>
            <a:pPr lvl="1"/>
            <a:r>
              <a:rPr lang="en-AU" sz="900" dirty="0"/>
              <a:t>Project Charter</a:t>
            </a:r>
          </a:p>
          <a:p>
            <a:pPr lvl="1"/>
            <a:r>
              <a:rPr lang="en-AU" sz="900" dirty="0"/>
              <a:t>End of Stage Report – 1 for each completion stage 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2- Launch</a:t>
            </a:r>
          </a:p>
          <a:p>
            <a:pPr lvl="1"/>
            <a:r>
              <a:rPr lang="en-AU" sz="900" dirty="0"/>
              <a:t>Business Case</a:t>
            </a:r>
          </a:p>
          <a:p>
            <a:pPr lvl="1"/>
            <a:r>
              <a:rPr lang="en-AU" sz="900" dirty="0"/>
              <a:t>Communications Management Plan</a:t>
            </a:r>
          </a:p>
          <a:p>
            <a:pPr lvl="1"/>
            <a:r>
              <a:rPr lang="en-AU" sz="900" dirty="0"/>
              <a:t>Risk Register</a:t>
            </a:r>
          </a:p>
          <a:p>
            <a:pPr lvl="1"/>
            <a:r>
              <a:rPr lang="en-AU" sz="900" dirty="0"/>
              <a:t>Exception Report</a:t>
            </a:r>
          </a:p>
          <a:p>
            <a:pPr lvl="1"/>
            <a:r>
              <a:rPr lang="en-AU" sz="900" i="1" dirty="0"/>
              <a:t>Quality Management Plan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3-Requirements</a:t>
            </a:r>
          </a:p>
          <a:p>
            <a:pPr lvl="1"/>
            <a:r>
              <a:rPr lang="en-AU" sz="900" dirty="0"/>
              <a:t>External Vendor Selection Process</a:t>
            </a:r>
          </a:p>
          <a:p>
            <a:pPr lvl="1"/>
            <a:r>
              <a:rPr lang="en-AU" sz="900" dirty="0"/>
              <a:t>Requirements Document</a:t>
            </a:r>
          </a:p>
          <a:p>
            <a:pPr lvl="1"/>
            <a:r>
              <a:rPr lang="en-AU" sz="900" dirty="0"/>
              <a:t>Workflow Document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4- Design</a:t>
            </a:r>
          </a:p>
          <a:p>
            <a:pPr lvl="1"/>
            <a:r>
              <a:rPr lang="en-AU" sz="900" dirty="0"/>
              <a:t>Develop a Project Plan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5- Build</a:t>
            </a:r>
          </a:p>
          <a:p>
            <a:pPr lvl="1"/>
            <a:r>
              <a:rPr lang="en-AU" sz="900" dirty="0"/>
              <a:t>Work Packages</a:t>
            </a:r>
          </a:p>
          <a:p>
            <a:pPr lvl="1"/>
            <a:r>
              <a:rPr lang="en-AU" sz="900" dirty="0"/>
              <a:t>Issues Report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6- Deploy</a:t>
            </a:r>
          </a:p>
          <a:p>
            <a:pPr lvl="1"/>
            <a:r>
              <a:rPr lang="en-AU" sz="900" dirty="0"/>
              <a:t>Change Management Document</a:t>
            </a:r>
          </a:p>
          <a:p>
            <a:r>
              <a:rPr lang="en-AU" sz="900" dirty="0">
                <a:solidFill>
                  <a:srgbClr val="FF0000"/>
                </a:solidFill>
              </a:rPr>
              <a:t>Gate 7- Support</a:t>
            </a:r>
          </a:p>
          <a:p>
            <a:pPr lvl="1"/>
            <a:r>
              <a:rPr lang="en-AU" sz="900" dirty="0"/>
              <a:t>Lessons Learnt</a:t>
            </a:r>
          </a:p>
          <a:p>
            <a:pPr lvl="1"/>
            <a:r>
              <a:rPr lang="en-AU" sz="900" dirty="0"/>
              <a:t>IT Support </a:t>
            </a:r>
          </a:p>
          <a:p>
            <a:pPr lvl="1"/>
            <a:r>
              <a:rPr lang="en-AU" sz="900" dirty="0"/>
              <a:t>Business Support Agreements </a:t>
            </a:r>
          </a:p>
          <a:p>
            <a:pPr lvl="1"/>
            <a:r>
              <a:rPr lang="en-AU" sz="900" dirty="0"/>
              <a:t>End of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211953103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Waterma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Qu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Contact EDI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BCF752-CD98-4144-B5C8-C87809241F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4C6A6A-564A-40CD-8687-73F4F9B06722}">
  <ds:schemaRefs>
    <ds:schemaRef ds:uri="de16b368-e3dc-43a8-ae80-80082a5e08a5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614AFC4-BF75-4E9C-829B-2338358215B9}"/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342</Words>
  <Application>Microsoft Office PowerPoint</Application>
  <PresentationFormat>On-screen Show (16:9)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Wingdings</vt:lpstr>
      <vt:lpstr>Title</vt:lpstr>
      <vt:lpstr>Layout</vt:lpstr>
      <vt:lpstr>Watermark</vt:lpstr>
      <vt:lpstr>Quote</vt:lpstr>
      <vt:lpstr>Table</vt:lpstr>
      <vt:lpstr>Contact EDITABLE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Butterfly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Ch'an Armstrong</dc:creator>
  <cp:lastModifiedBy>Darren Daly</cp:lastModifiedBy>
  <cp:revision>84</cp:revision>
  <dcterms:created xsi:type="dcterms:W3CDTF">2016-09-29T04:31:03Z</dcterms:created>
  <dcterms:modified xsi:type="dcterms:W3CDTF">2023-03-29T01:59:34Z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_dlc_DocIdItemGuid">
    <vt:lpwstr>860905d7-6ea8-4109-9f0e-ecac6e439902</vt:lpwstr>
  </property>
  <property fmtid="{D5CDD505-2E9C-101B-9397-08002B2CF9AE}" pid="4" name="CMS_Keywords">
    <vt:lpwstr/>
  </property>
</Properties>
</file>